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07442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350" b="1">
                <a:solidFill>
                  <a:srgbClr val="182A41"/>
                </a:solidFill>
                <a:latin typeface="Malgun Gothic"/>
              </a:rPr>
              <a:t>감속기 베어링 압입 해석 — 목적 및 해석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6527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10" b="0">
                <a:solidFill>
                  <a:srgbClr val="5C6C7C"/>
                </a:solidFill>
                <a:latin typeface="Malgun Gothic"/>
              </a:rPr>
              <a:t>MISUMI 조립 예시를 기준으로 외륜–하우징 압입의 필요성과 해석 조건을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40233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>
                <a:solidFill>
                  <a:srgbClr val="2D69A0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11247120" cy="3200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078992"/>
            <a:ext cx="3182112" cy="4535424"/>
          </a:xfrm>
          <a:prstGeom prst="roundRect">
            <a:avLst/>
          </a:prstGeom>
          <a:solidFill>
            <a:srgbClr val="EBF4FB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52728"/>
            <a:ext cx="274320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50" b="1">
                <a:solidFill>
                  <a:srgbClr val="182A41"/>
                </a:solidFill>
                <a:latin typeface="Malgun Gothic"/>
              </a:rPr>
              <a:t>왜 이 해석을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6974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10">
                <a:solidFill>
                  <a:srgbClr val="20252A"/>
                </a:solidFill>
                <a:latin typeface="Malgun Gothic"/>
              </a:defRPr>
            </a:pPr>
            <a:r>
              <a:t>• 감속기 베어링 외륜을 하우징에 억지끼워맞춤하여 회전 중 위치 이탈과 미끄럼을 방지함.</a:t>
            </a:r>
          </a:p>
          <a:p>
            <a:pPr>
              <a:spcAft>
                <a:spcPts val="500"/>
              </a:spcAft>
              <a:defRPr sz="1010">
                <a:solidFill>
                  <a:srgbClr val="20252A"/>
                </a:solidFill>
                <a:latin typeface="Malgun Gothic"/>
              </a:defRPr>
            </a:pPr>
            <a:r>
              <a:t>• 간섭량이 부족하면 고정력이 떨어지고, 과도하면 접촉압력과 구조응력이 증가할 수 있음.</a:t>
            </a:r>
          </a:p>
          <a:p>
            <a:pPr>
              <a:spcAft>
                <a:spcPts val="500"/>
              </a:spcAft>
              <a:defRPr sz="1010">
                <a:solidFill>
                  <a:srgbClr val="20252A"/>
                </a:solidFill>
                <a:latin typeface="Malgun Gothic"/>
              </a:defRPr>
            </a:pPr>
            <a:r>
              <a:t>• 압입 과정의 실제 반력을 확인해야 서보프레스 용량과 조립조건을 정할 수 있음.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86200"/>
            <a:ext cx="27432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2D69A0"/>
                </a:solidFill>
                <a:latin typeface="Malgun Gothic"/>
              </a:rPr>
              <a:t>MISUMI 지침과 본 해석의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78808"/>
            <a:ext cx="2697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0252A"/>
                </a:solidFill>
                <a:latin typeface="Malgun Gothic"/>
              </a:defRPr>
            </a:pPr>
            <a:r>
              <a:t>• 외륜을 하우징에 압입할 때 외륜을 직접 누르는 방식 사용.</a:t>
            </a:r>
          </a:p>
          <a:p>
            <a:pPr>
              <a:spcAft>
                <a:spcPts val="500"/>
              </a:spcAft>
              <a:defRPr sz="919">
                <a:solidFill>
                  <a:srgbClr val="20252A"/>
                </a:solidFill>
                <a:latin typeface="Malgun Gothic"/>
              </a:defRPr>
            </a:pPr>
            <a:r>
              <a:t>• 전동체(볼)를 통해 압입력이 전달되면 궤도면 손상 및 수명 저하 가능.</a:t>
            </a:r>
          </a:p>
          <a:p>
            <a:pPr>
              <a:spcAft>
                <a:spcPts val="500"/>
              </a:spcAft>
              <a:defRPr sz="919">
                <a:solidFill>
                  <a:srgbClr val="20252A"/>
                </a:solidFill>
                <a:latin typeface="Malgun Gothic"/>
              </a:defRPr>
            </a:pPr>
            <a:r>
              <a:t>• 따라서 본 해석은 외륜–하우징 접촉부를 대상으로 수행.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078992"/>
            <a:ext cx="4315968" cy="45354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1216152"/>
            <a:ext cx="391363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182A41"/>
                </a:solidFill>
                <a:latin typeface="Malgun Gothic"/>
              </a:rPr>
              <a:t>MISUMI 베어링 외경 압입 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4590288"/>
            <a:ext cx="385876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40" b="1">
                <a:solidFill>
                  <a:srgbClr val="2D69A0"/>
                </a:solidFill>
                <a:latin typeface="Malgun Gothic"/>
              </a:rPr>
              <a:t>외륜을 직접 누르는 지그로 하우징 압입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078992"/>
            <a:ext cx="3520440" cy="21305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243584"/>
            <a:ext cx="31089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80" b="1">
                <a:solidFill>
                  <a:srgbClr val="182A41"/>
                </a:solidFill>
                <a:latin typeface="Malgun Gothic"/>
              </a:rPr>
              <a:t>재료 물성치(핵심)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618488"/>
            <a:ext cx="128016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80" b="1">
                <a:solidFill>
                  <a:srgbClr val="2D69A0"/>
                </a:solidFill>
                <a:latin typeface="Malgun Gothic"/>
              </a:rPr>
              <a:t>베어링 SUJ2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856231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19" b="0">
                <a:solidFill>
                  <a:srgbClr val="20252A"/>
                </a:solidFill>
                <a:latin typeface="Malgun Gothic"/>
              </a:rPr>
              <a:t>E 200 GPa | ν 0.30
소성 시작 응력 1,650 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23160"/>
            <a:ext cx="169164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80" b="1">
                <a:solidFill>
                  <a:srgbClr val="247C5B"/>
                </a:solidFill>
                <a:latin typeface="Malgun Gothic"/>
              </a:rPr>
              <a:t>하우징 Al 6061-T6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660904"/>
            <a:ext cx="2880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19" b="0">
                <a:solidFill>
                  <a:srgbClr val="20252A"/>
                </a:solidFill>
                <a:latin typeface="Malgun Gothic"/>
              </a:rPr>
              <a:t>E 68.9 GPa | ν 0.33
항복강도 276 MPa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401568"/>
            <a:ext cx="3520440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566160"/>
            <a:ext cx="31089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80" b="1">
                <a:solidFill>
                  <a:srgbClr val="182A41"/>
                </a:solidFill>
                <a:latin typeface="Malgun Gothic"/>
              </a:rPr>
              <a:t>해석 조건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3977639"/>
            <a:ext cx="290779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252A"/>
                </a:solidFill>
                <a:latin typeface="Malgun Gothic"/>
              </a:rPr>
              <a:t>C-E6709  |  ID 45 / OD 55 / 폭 6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389120"/>
            <a:ext cx="960120" cy="2103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90" b="1">
                <a:solidFill>
                  <a:srgbClr val="5C6C7C"/>
                </a:solidFill>
                <a:latin typeface="Malgun Gothic"/>
              </a:rPr>
              <a:t>직경 간섭량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352544"/>
            <a:ext cx="17830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0252A"/>
                </a:solidFill>
                <a:latin typeface="Malgun Gothic"/>
              </a:rPr>
              <a:t>0.014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4709160"/>
            <a:ext cx="960120" cy="2103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90" b="1">
                <a:solidFill>
                  <a:srgbClr val="5C6C7C"/>
                </a:solidFill>
                <a:latin typeface="Malgun Gothic"/>
              </a:rPr>
              <a:t>마찰계수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672584"/>
            <a:ext cx="17830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0252A"/>
                </a:solidFill>
                <a:latin typeface="Malgun Gothic"/>
              </a:rPr>
              <a:t>μ = 0.15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5029200"/>
            <a:ext cx="960120" cy="2103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90" b="1">
                <a:solidFill>
                  <a:srgbClr val="5C6C7C"/>
                </a:solidFill>
                <a:latin typeface="Malgun Gothic"/>
              </a:rPr>
              <a:t>압입변위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992624"/>
            <a:ext cx="17830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0252A"/>
                </a:solidFill>
                <a:latin typeface="Malgun Gothic"/>
              </a:rPr>
              <a:t>Y = 2.67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5321808"/>
            <a:ext cx="294436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40" b="0">
                <a:solidFill>
                  <a:srgbClr val="5C6C7C"/>
                </a:solidFill>
                <a:latin typeface="Malgun Gothic"/>
              </a:rPr>
              <a:t>Static nonlinear / Surface-to-Surface Contact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6492240"/>
            <a:ext cx="1115568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30" b="0">
                <a:solidFill>
                  <a:srgbClr val="5C6C7C"/>
                </a:solidFill>
                <a:latin typeface="Malgun Gothic"/>
              </a:rPr>
              <a:t>그림 출처: MISUMI 기술정보 「볼 베어링 조립(실패 사례와 베어링 활용법)」 — 하우징에 베어링 외경을 압입하는 예시.</a:t>
            </a:r>
          </a:p>
        </p:txBody>
      </p:sp>
      <p:pic>
        <p:nvPicPr>
          <p:cNvPr id="32" name="Picture 31" descr="misumi_pressfit_cropped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627632"/>
            <a:ext cx="4023360" cy="2842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07442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350" b="1">
                <a:solidFill>
                  <a:srgbClr val="182A41"/>
                </a:solidFill>
                <a:latin typeface="Malgun Gothic"/>
              </a:rPr>
              <a:t>압입 해석 결과 — 응력·접촉압력·소성변형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6527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10" b="0">
                <a:solidFill>
                  <a:srgbClr val="5C6C7C"/>
                </a:solidFill>
                <a:latin typeface="Malgun Gothic"/>
              </a:rPr>
              <a:t>하우징 항복 여부와 접촉상태, 영구변형 발생 여부를 중심으로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40233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>
                <a:solidFill>
                  <a:srgbClr val="2D69A0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11247120" cy="3200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078992"/>
            <a:ext cx="3685032" cy="3236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346557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82A41"/>
                </a:solidFill>
                <a:latin typeface="Malgun Gothic"/>
              </a:rPr>
              <a:t>Von Mises Stress</a:t>
            </a:r>
          </a:p>
        </p:txBody>
      </p:sp>
      <p:pic>
        <p:nvPicPr>
          <p:cNvPr id="8" name="Picture 7" descr="image(20261012-1658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3" y="1918519"/>
            <a:ext cx="3538728" cy="17956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078992"/>
            <a:ext cx="3685032" cy="3236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115568"/>
            <a:ext cx="346557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82A41"/>
                </a:solidFill>
                <a:latin typeface="Malgun Gothic"/>
              </a:rPr>
              <a:t>Contact Pressure (CPRESS)</a:t>
            </a:r>
          </a:p>
        </p:txBody>
      </p:sp>
      <p:pic>
        <p:nvPicPr>
          <p:cNvPr id="11" name="Picture 10" descr="image(20261012-17035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828885"/>
            <a:ext cx="3538728" cy="19749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65008" y="1078992"/>
            <a:ext cx="3685032" cy="3236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115568"/>
            <a:ext cx="346557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82A41"/>
                </a:solidFill>
                <a:latin typeface="Malgun Gothic"/>
              </a:rPr>
              <a:t>Plastic Strain — Frame 9</a:t>
            </a:r>
          </a:p>
        </p:txBody>
      </p:sp>
      <p:pic>
        <p:nvPicPr>
          <p:cNvPr id="14" name="Picture 13" descr="image(20261012-171037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06667"/>
            <a:ext cx="3538728" cy="26193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38912" y="4498848"/>
            <a:ext cx="2093976" cy="11155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4498848"/>
            <a:ext cx="50292" cy="1115568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4535424"/>
            <a:ext cx="1892807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5C6C7C"/>
                </a:solidFill>
                <a:latin typeface="Malgun Gothic"/>
              </a:rPr>
              <a:t>전체 과정 최대 Von Mises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709160"/>
            <a:ext cx="18928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82A41"/>
                </a:solidFill>
                <a:latin typeface="Malgun Gothic"/>
              </a:rPr>
              <a:t>225 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5010912"/>
            <a:ext cx="189280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750" b="0">
                <a:solidFill>
                  <a:srgbClr val="5C6C7C"/>
                </a:solidFill>
                <a:latin typeface="Malgun Gothic"/>
              </a:rPr>
              <a:t>Al6061-T6 항복강도 276 MPa 이하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60904" y="4498848"/>
            <a:ext cx="1847088" cy="11155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0904" y="4498848"/>
            <a:ext cx="50292" cy="1115568"/>
          </a:xfrm>
          <a:prstGeom prst="rect">
            <a:avLst/>
          </a:prstGeom>
          <a:solidFill>
            <a:srgbClr val="247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4535424"/>
            <a:ext cx="164592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5C6C7C"/>
                </a:solidFill>
                <a:latin typeface="Malgun Gothic"/>
              </a:rPr>
              <a:t>최소 안전계수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4709160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82A41"/>
                </a:solidFill>
                <a:latin typeface="Malgun Gothic"/>
              </a:rPr>
              <a:t>1.23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5010912"/>
            <a:ext cx="16459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750" b="0">
                <a:solidFill>
                  <a:srgbClr val="5C6C7C"/>
                </a:solidFill>
                <a:latin typeface="Malgun Gothic"/>
              </a:rPr>
              <a:t>276 / 225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6008" y="4498848"/>
            <a:ext cx="2093976" cy="11155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36008" y="4498848"/>
            <a:ext cx="50292" cy="1115568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535424"/>
            <a:ext cx="1892807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5C6C7C"/>
                </a:solidFill>
                <a:latin typeface="Malgun Gothic"/>
              </a:rPr>
              <a:t>평균 CPRESS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4709160"/>
            <a:ext cx="18928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82A41"/>
                </a:solidFill>
                <a:latin typeface="Malgun Gothic"/>
              </a:rPr>
              <a:t>3.628 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5010912"/>
            <a:ext cx="189280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750" b="0">
                <a:solidFill>
                  <a:srgbClr val="5C6C7C"/>
                </a:solidFill>
                <a:latin typeface="Malgun Gothic"/>
              </a:rPr>
              <a:t>이론 평균 압력 약 3.53 MPa와 근접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498848"/>
            <a:ext cx="2011680" cy="11155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4498848"/>
            <a:ext cx="50292" cy="1115568"/>
          </a:xfrm>
          <a:prstGeom prst="rect">
            <a:avLst/>
          </a:prstGeom>
          <a:solidFill>
            <a:srgbClr val="C37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4535424"/>
            <a:ext cx="1810512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5C6C7C"/>
                </a:solidFill>
                <a:latin typeface="Malgun Gothic"/>
              </a:rPr>
              <a:t>최대 국부 CPRESS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709160"/>
            <a:ext cx="181051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82A41"/>
                </a:solidFill>
                <a:latin typeface="Malgun Gothic"/>
              </a:rPr>
              <a:t>181.6 MPa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5010912"/>
            <a:ext cx="1810512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750" b="0">
                <a:solidFill>
                  <a:srgbClr val="5C6C7C"/>
                </a:solidFill>
                <a:latin typeface="Malgun Gothic"/>
              </a:rPr>
              <a:t>접촉 경계/형상에 의한 국부 집중값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4498848"/>
            <a:ext cx="2752344" cy="11155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97696" y="4498848"/>
            <a:ext cx="50292" cy="1115568"/>
          </a:xfrm>
          <a:prstGeom prst="rect">
            <a:avLst/>
          </a:prstGeom>
          <a:solidFill>
            <a:srgbClr val="247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535424"/>
            <a:ext cx="2551175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5C6C7C"/>
                </a:solidFill>
                <a:latin typeface="Malgun Gothic"/>
              </a:rPr>
              <a:t>Plastic Strain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709160"/>
            <a:ext cx="255117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82A41"/>
                </a:solidFill>
                <a:latin typeface="Malgun Gothic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010912"/>
            <a:ext cx="2551175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750" b="0">
                <a:solidFill>
                  <a:srgbClr val="5C6C7C"/>
                </a:solidFill>
                <a:latin typeface="Malgun Gothic"/>
              </a:rPr>
              <a:t>최종 Frame에서 영구 소성변형 없음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5760720"/>
            <a:ext cx="11311128" cy="621792"/>
          </a:xfrm>
          <a:prstGeom prst="roundRect">
            <a:avLst/>
          </a:prstGeom>
          <a:solidFill>
            <a:srgbClr val="EBF4FB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5861304"/>
            <a:ext cx="10954512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19" b="1">
                <a:solidFill>
                  <a:srgbClr val="182A41"/>
                </a:solidFill>
                <a:latin typeface="Malgun Gothic"/>
              </a:rPr>
              <a:t>판정  |  최대 응력은 항복강도 이하이고 Plastic Strain이 0이며, 평균 접촉압력도 이론값과 유사 → 설정한 간섭량에서 구조적으로 탄성 범위 유지.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07442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350" b="1">
                <a:solidFill>
                  <a:srgbClr val="182A41"/>
                </a:solidFill>
                <a:latin typeface="Malgun Gothic"/>
              </a:rPr>
              <a:t>압입 반력·이론 검증 및 서보프레스 선정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06527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10" b="0">
                <a:solidFill>
                  <a:srgbClr val="5C6C7C"/>
                </a:solidFill>
                <a:latin typeface="Malgun Gothic"/>
              </a:rPr>
              <a:t>RF2 Sum으로 실제 압입력을 평가하고 이론 계산 및 CPRESS 결과와 상호검증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40233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>
                <a:solidFill>
                  <a:srgbClr val="2D69A0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11247120" cy="3200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078992"/>
            <a:ext cx="4617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43982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82A41"/>
                </a:solidFill>
                <a:latin typeface="Malgun Gothic"/>
              </a:rPr>
              <a:t>Reaction Force — RF2 Sum 원본</a:t>
            </a:r>
          </a:p>
        </p:txBody>
      </p:sp>
      <p:pic>
        <p:nvPicPr>
          <p:cNvPr id="8" name="Picture 7" descr="image(20261012-17154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84" y="1380744"/>
            <a:ext cx="3183774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193792" y="1078992"/>
            <a:ext cx="6556248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8384" y="1161288"/>
            <a:ext cx="19202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82A41"/>
                </a:solidFill>
                <a:latin typeface="Malgun Gothic"/>
              </a:rPr>
              <a:t>압입 반력 추이</a:t>
            </a:r>
          </a:p>
        </p:txBody>
      </p:sp>
      <p:pic>
        <p:nvPicPr>
          <p:cNvPr id="11" name="Picture 10" descr="rf_graph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71" y="1444752"/>
            <a:ext cx="4023257" cy="1920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8912" y="3703320"/>
            <a:ext cx="7360920" cy="2249424"/>
          </a:xfrm>
          <a:prstGeom prst="roundRect">
            <a:avLst/>
          </a:prstGeom>
          <a:solidFill>
            <a:srgbClr val="EBF4FB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22191"/>
            <a:ext cx="41605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30" b="1">
                <a:solidFill>
                  <a:srgbClr val="182A41"/>
                </a:solidFill>
                <a:latin typeface="Malgun Gothic"/>
              </a:rPr>
              <a:t>이론 계산 및 FEA 결과 상호검증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70248"/>
            <a:ext cx="11430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D69A0"/>
                </a:solidFill>
                <a:latin typeface="Malgun Gothic"/>
              </a:rPr>
              <a:t>이론 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4233672"/>
            <a:ext cx="544982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10" b="1">
                <a:solidFill>
                  <a:srgbClr val="20252A"/>
                </a:solidFill>
                <a:latin typeface="Malgun Gothic"/>
              </a:rPr>
              <a:t>p ≈ 3.53 MPa  →  F = μ·p·π·D·L ≈ 548.9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45152"/>
            <a:ext cx="11430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47C5B"/>
                </a:solidFill>
                <a:latin typeface="Malgun Gothic"/>
              </a:rPr>
              <a:t>FEA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608576"/>
            <a:ext cx="544982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10" b="1">
                <a:solidFill>
                  <a:srgbClr val="20252A"/>
                </a:solidFill>
                <a:latin typeface="Malgun Gothic"/>
              </a:rPr>
              <a:t>평균 CPRESS = 3.628 MPa  /  최대 RF2 Sum = 581.366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20056"/>
            <a:ext cx="11430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C3701E"/>
                </a:solidFill>
                <a:latin typeface="Malgun Gothic"/>
              </a:rPr>
              <a:t>상호검증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983480"/>
            <a:ext cx="544982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10" b="1">
                <a:solidFill>
                  <a:srgbClr val="20252A"/>
                </a:solidFill>
                <a:latin typeface="Malgun Gothic"/>
              </a:rPr>
              <a:t>CPRESS→F = 564.2 N  /  RF2→p = 3.738 MPa  →  차이 약 3~6%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413248"/>
            <a:ext cx="69037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60" b="1">
                <a:solidFill>
                  <a:srgbClr val="182A41"/>
                </a:solidFill>
                <a:latin typeface="Malgun Gothic"/>
              </a:rPr>
              <a:t>→ 이론값, 접촉압력, 실제 반력 결과가 유사한 수준으로 나타나 해석 결과의 일관성을 확인.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3703320"/>
            <a:ext cx="3776472" cy="22494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840480"/>
            <a:ext cx="3337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20" b="1">
                <a:solidFill>
                  <a:srgbClr val="182A41"/>
                </a:solidFill>
                <a:latin typeface="Malgun Gothic"/>
              </a:rPr>
              <a:t>서보프레스 권장 사양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261104"/>
            <a:ext cx="132588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19" b="1">
                <a:solidFill>
                  <a:srgbClr val="5C6C7C"/>
                </a:solidFill>
                <a:latin typeface="Malgun Gothic"/>
              </a:rPr>
              <a:t>해석 최대 반력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4224528"/>
            <a:ext cx="175564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40" b="1">
                <a:solidFill>
                  <a:srgbClr val="20252A"/>
                </a:solidFill>
                <a:latin typeface="Malgun Gothic"/>
              </a:rPr>
              <a:t>581.366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617720"/>
            <a:ext cx="141732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19" b="1">
                <a:solidFill>
                  <a:srgbClr val="5C6C7C"/>
                </a:solidFill>
                <a:latin typeface="Malgun Gothic"/>
              </a:rPr>
              <a:t>설계 여유 2.0 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4581144"/>
            <a:ext cx="175564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40" b="1">
                <a:solidFill>
                  <a:srgbClr val="20252A"/>
                </a:solidFill>
                <a:latin typeface="Malgun Gothic"/>
              </a:rPr>
              <a:t>약 1.16 kN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974336"/>
            <a:ext cx="132588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19" b="1">
                <a:solidFill>
                  <a:srgbClr val="5C6C7C"/>
                </a:solidFill>
                <a:latin typeface="Malgun Gothic"/>
              </a:rPr>
              <a:t>권장 용량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4919472"/>
            <a:ext cx="175564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2D69A0"/>
                </a:solidFill>
                <a:latin typeface="Malgun Gothic"/>
              </a:rPr>
              <a:t>2 kN급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340096"/>
            <a:ext cx="32004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80" b="0">
                <a:solidFill>
                  <a:srgbClr val="5C6C7C"/>
                </a:solidFill>
                <a:latin typeface="Malgun Gothic"/>
              </a:rPr>
              <a:t>변위제어 + 하중 모니터링(Load Cell)
정렬오차·마찰계수·공차 변동 고려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6108192"/>
            <a:ext cx="11311128" cy="34747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6126480"/>
            <a:ext cx="1095451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69" b="1">
                <a:solidFill>
                  <a:srgbClr val="182A41"/>
                </a:solidFill>
                <a:latin typeface="Malgun Gothic"/>
              </a:rPr>
              <a:t>최종 결론  |  구조응력·소성변형·접촉압력·압입반력 모두 일관된 결과를 보였으며, 본 조건의 감속기 베어링 압입공정에는 2 kN급 서보프레스가 적정함.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