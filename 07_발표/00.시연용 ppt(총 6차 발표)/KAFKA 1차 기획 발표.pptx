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Team KAFKA입니다. 저희는 로봇 관절 액추에이터의 핵심 부품인 감속기의 조립·검사 공정을 자동화 라인 가상공장으로 구현합니다. 발표의 핵심 한 줄은 "변동을 먼저 잡는 가상공장"입니다.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KAFKA는 다섯 단어의 첫 글자입니다. 로봇의 움직임(Kinetic), 자동화(Automation), 가상공장(Factory), 제조공정 지식(Knowledge), 그리고 이 모두를 하나로 묶는 설계(Architecture)입니다.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6명이 다섯 역할을 나눴습니다. 문서와 DATA는 두 명이 나눠 맡습니다. (각자 담당 산출물 문구는 본인 확인 후 수정)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액추에이터는 로봇의 근육입니다. 휴머노이드 원가의 30~50%를 차지하고, 국내외 업체가 2027~2028년 양산을 목표로 생산 라인을 짓고 있습니다. 정부의 제조AI 전략, 첨단제조로봇 실증사업과도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제품은 로봇 관절 액추에이터의 핵심 부품인 사이클로이드 감속기, 본시스템즈 BSR080입니다. 이번 1차 프로젝트에서는 감속기 단품의 조립과 검사까지를 다룹니다. 외형과 장착부는 제조사가 공개한 STEP 그대로이고, 내부는 조립 영상을 보고 재구성했습니다. 외치기어가 두 장이고 서로 반대 방향으로 편심되어 있는 것이 이전 모델과 달라진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감속기 3D 모델 R6입니다. 부품 50개가 여덟 묶음으로 나뉩니다. 노란색과 주황색이 외치기어 두 장, 보라색이 편심 저널이 두 개 있는 입력축입니다. 출력핀과 부시가 각각 여덟 개, 볼트는 앞뒤로 열 개씩입니다.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모델의 어디까지가 확인된 값인지 구분해 두었습니다. 외형과 볼트는 제조사 공개 CAD 그대로이고, 기어 두 장과 출력핀·부시 구성은 조립 영상으로 확인했습니다. 치형, 베어링 규격, 실은 검토용으로 재구성한 값이라, 해석 결과는 절대값이 아니라 조건 간 비교로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업계는 공정의 대부분을 자동화하려 하지만, 마지막에 남는 구간은 변동과 판단의 영역입니다. 같은 토크, 같은 압입력이어도 조건이 조금 달라지면 합격과 불합격이 갈립니다. 저희는 이 변동을 해석과 시뮬레이션으로 미리 잡는 가상공장을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 업체는 휴머노이드 액추에이터 생산이 아직 수작업에 가깝다고 봅니다. 중국 업체도 원래는 엔지니어가 손으로 조립하고 디버깅했고, 올해 들어서야 조립부터 캘리브레이션, 시험까지 묶은 자동 라인이 나왔습니다. 이 전환점이 저희 주제의 배경입니다. 오른쪽 사진은 국내 감속기 업체의 조립 영상인데, 부품 조립도, 시험 지그 체결도 사람 손으로 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수작업 조립에서는 정렬, 압입 깊이, 체결 상태, 불량 처리를 사람이 판단합니다. 자동화에서는 이 판단을 과정 곡선으로 바꿉니다. 압입은 힘과 변위, 체결은 토크와 각도를 함께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M3 볼트를 같은 조건으로 조여도 마찰계수가 0.15에서 0.25로 바뀌면 응력이 387에서 497 MPa로 올라 내력 450을 넘습니다. 압입도 간섭이 10마이크로미터 차이 나면 접촉압과 미끄럼 저항이 달라집니다. 아직 해석 결과가 아니라 입력 준비 단계의 계산입니다.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관심 공정은 조립입니다. 부품 가공은 범위에서 빼고 입고품으로 받습니다. 감속기 조립 안에서도 압입, 삽입, 체결, 검사 네 가지가 변동이 품질을 정하는 구간입니다. 특히 외치기어 두 장을 반대 위상으로 넣는 삽입이 이 제품만의 어려운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자동화를 먼저 두기 때문에 감속기 조립과 검사를 컨베이어 라인 하나로 구현합니다. 팔레트가 9단계를 순서대로 지나가며 입력측, 내부, 출력측 순서로 조립되고 마지막에 검사합니다. 메인 라인은 모두 자동이고, 사람은 라인 옆에서 외치기어 두 장을 맞추는 서브조립과 예외 처리를 맡습니다. AMR은 라인 옆에서 부품을 공급하고, 불량품과 완성품을 실어 나릅니다. 부품 입고와 출하는 범위 밖입니다.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셀 방식도 검토했지만, 이번 프로젝트는 자동화가 먼저라 컨베이어 라인을 택했습니다. 스테이션마다 전용 설비를 두면 로봇 동작이 고정되고, 택트가 일정해 병목이 바로 보이며, 압입과 체결 곡선 판정을 라인 안에서 바로 할 수 있습니다. 라인이 한 곳에서 멈추면 전체가 서는 약점은 불량 배출 포트와 우회 레인으로 보완합니다.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입고부터 출고까지 한 장에 그렸고, 저희가 구현하는 것은 가운데 파란 테두리 묶음입니다. 라인 옆에서 입력 커버와 편심축·기어 두 서브조립품을 만들어 공급합니다. 메인 라인은 입력측 조립에서 하우징에 입력 커버를 볼트로 잠그고 뒤집은 뒤, 내부 조립에서 편심축과 외치기어, 부시와 그리스, 출력 플랜지를 넣습니다. 출력측 조립에서 주베어링을 압입하고 커버를 잠근 뒤 검사 결과에 따라 출하, 재작업, 격리로 나눕니다. 파란 세 단계가 과정 곡선으로 판정하는 곳입니다.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본시스템즈가 공개한 BSR 080 감속기 조립 영상이고, 저희 R6 모델은 이 영상의 구성과 순서를 기준으로 재구성했습니다. 커버에 베어링을 넣고, 편심축에 외치기어를 끼워 내치기어에 맞물린 뒤, 그리스를 바르고, 프레스로 주베어링을 압입하고, 커버 볼트를 체결합니다. 사진 아래 번호는 저희 라인의 스테이션입니다. 설비를 쓰는 곳은 프레스 하나뿐이라 나머지가 모두 저희 라인에서 자동화할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단계마다 합격을 가르는 방법과, 제조사 조립 영상에서 해당하는 구간을 함께 적었습니다. 메인 라인 아홉 단계는 모두 자동이고, 외치기어 두 장을 반대 위상으로 맞추는 서브조립만 작업자가 지그를 써서 하는 반자동으로 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레이아웃 개념도입니다. 하우징을 올린 팔레트가 컨베이어를 따라 9개 스테이션을 지나고, 라인 끝에서 검사 결과에 따라 나뉩니다. 입력 커버 서브조립은 02번 옆에서 자동으로, 편심축·외치기어 서브조립은 04번 옆에서 작업자가 만들어 바로 넣습니다. AMR은 위쪽 공급 동선으로 부품과 소모품을 채우고, 아래쪽에서 불량품을 재작업 구역으로, 합격품을 출하로 옮깁니다. 실제 배치는 레이아웃 담당의 스케치로 바꿀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현행 수작업 공정은 사람이 조립과 판단을 대부분 맡습니다. 저희 라인은 스테이션마다 로봇을 두고 AMR이 라인 밖 물류를 맡으며, 작업자는 외치기어 정렬 서브조립과 예외 처리를 맡습니다. 산업용과 협동로봇을 어디에 둘지는 참조 로봇을 정하면서 확정합니다.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라인 스테이션에 넣을 로봇은 실제 참조 로봇을 정해 역설계하고, 부품을 잡는 EOAT는 직접 설계합니다. 흡착 패드 시험안을 계산해 보니 수직 자세에서는 파지력이 모자라서, 그리퍼 형태를 다시 검토하고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 사이 이송은 컨베이어가 맡고, AMR은 라인 밖 물류를 맡습니다. 스테이션 옆에 부품을 미리 채워 라인이 서지 않게 하고, 투입할 때 제품 ID를 확인해 잘못된 투입을 막고, 라인 끝 배출 포트에서 검사 결과에 따라 불량품과 합격품을 서로 다른 곳으로 옮깁니다. 이 중 ③ 분기는 시뮬레이션에서 실제로 보여드릴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메인 라인은 전부 로봇이 맡습니다. 사람이 들어가는 곳은 라인 옆 서브조립 한 곳으로, 편심축에 외치기어 두 장을 반대 위상으로 맞추는 작업입니다. 위상이 틀리면 내치기어에 들어가지 않거나 돌지 않기 때문에, 정렬 지그와 비전 확인을 붙인 반자동으로 잡았습니다. 곡선 판정에서 NG가 나거나 검사가 보류되면 라인에서 빼내고, AMR이 재작업 구역으로 옮겨 작업자가 원인을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해석은 전부 하지 않고 고른 곳만 합니다. 기준은 힘이 큰 곳, 정밀도가 품질을 정하는 곳, 사고 피해가 큰 곳입니다. 9월 28일 강사님 자문에서 가능 판정을 받은 압입·삽입과 지그 변형을 필수로, EOAT는 추가 검토로 두었습니다. 볼트는 토크 해석 대신 체결 조건의 근거를 찾는 방향으로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필수 해석은 압입입니다. 07번 스테이션의 출력 주베어링이 기울어져 들어가거나 덜 들어가면 불량이 됩니다. 간섭량을 바꿔가며 압입력과 접촉압을 보고, 정상과 불량을 가르는 기준을 얻습니다. 이 기준이 실제 설비의 힘–변위 감시 창이 되고, 시뮬레이션에서는 창을 벗어나면 NG로 분기합니다. 모델의 베어링은 단순 링이라 절대값보다 조건 간 비교로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필수 해석은 지그입니다. 압입할 때 지그가 휘면 기준면이 틀어져 부품이 기울어 들어갑니다. 두께 세 가지를 비교해 기준축 변위 20마이크로미터 이내를 만족하는 최소 두께를 찾습니다. 기준값은 팀 제안값이고, 제조사 권장 공차를 확인한 뒤 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볼트는 토크 해석 대신 체결 조건의 근거를 찾습니다. 예압을 항복강도의 70% 이하로 두고 알루미늄 커버가 먼저 변형되지 않는지 봅니다. EOAT는 추가 검토 항목인데, 예제값으로 계산해 보니 급정지 때 파지 저항비가 기준에 못 미쳐서 해석으로 대책을 정할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감속기는 R6 모델로 부품 50개, 조립 순서까지 보이는 수준입니다. 지그와 EOAT는 해석에 필요한 형상까지, 서브조립 지그와 반전 유닛은 위치결정 기준이 보이는 수준으로 그립니다. 프레스와 체결 스핀들은 외형과 스트로크 수준으로 표현합니다.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시뮬레이션은 네 단계로 나눠 범위를 미리 선언합니다. 동작과 간섭 확인, 그리고 검사 결과에 따른 분기까지는 반드시 완료합니다. 라인 택트와 병목 확인은 공정 시간 근거가 생기면 진행하고, 가상 시운전은 이번 범위에 넣지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파일을 열고 고치는 일은 3DEXPERIENCE 플랫폼에서 하고, 보관은 git lfs 저장소에 합니다. 파일 이름 규칙, 폴더 구조, 규격 부품 라이브러리, 자주 쓰는 설정을 네 가지로 나눠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기획 발표부터 12월 18일 최종 발표까지 일곱 번의 발표가 있습니다. 세부 태스크는 노션 간트에서 담당자와 산출물로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매주 간트에서 점검합니다. 회의는 녹음해서 회의록으로 정리하고, 결정 사항을 바로 할 일로 옮깁니다. 일정이 밀리면 필수 항목은 지키고 조건부 항목부터 미룹니다.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 쓴 정책, 기사, 업계 사례의 출처입니다.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공정과 해석에 쓴 기술자료와 영상의 출처입니다. 재질 물성치는 중간 발표 전에 규격과 논문 출처로 보강합니다.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질문과 답변 방향. ① 허용기준 20 μm, 저항비 2.0의 근거? → 팀 제안값이며 제조사 권장 공차·로봇 사양 확인 후 조정. ② 해석 결과는 언제? → 조건 정의 10월 말, 결과는 2차 중간 발표(12/3). ③ 왜 두 건만 필수? → 힘·정밀도·사고 피해 기준과 강사 자문 판정. ④ 볼트 해석은 비추천 아니었나? → 토크 해석이 아니라 체결 조건(예압 70%) 근거로 바꿨음. ⑤ 액추에이터(모터·엔코더)는 왜 빠졌나? → 1차는 감속기 라인을 먼저 완성하고, 모터 결합은 확장 단계에서 다룸. ⑥ 외치기어 정렬은 왜 사람이? → 역위상 정렬 실패 시 회전 불가, 1차는 지그+비전 반자동, 자동화는 확장 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233D"/>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0233D"/>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233D"/>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0233D"/>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image" Target="../media/image-16-6.jpeg"/><Relationship Id="rId7" Type="http://schemas.openxmlformats.org/officeDocument/2006/relationships/image" Target="../media/image-16-7.jpeg"/><Relationship Id="rId8" Type="http://schemas.openxmlformats.org/officeDocument/2006/relationships/image" Target="../media/image-16-8.jpe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newspim.com/news/view/20260629001224" TargetMode="External"/><Relationship Id="rId2" Type="http://schemas.openxmlformats.org/officeDocument/2006/relationships/hyperlink" Target="https://www.irobotnews.com/news/articleView.html?idxno=45407" TargetMode="External"/><Relationship Id="rId3" Type="http://schemas.openxmlformats.org/officeDocument/2006/relationships/hyperlink" Target="https://www.koreajoongangdaily.com/business/actuators-become-new-battleground-in-humanoid-robot-race/12288658" TargetMode="External"/><Relationship Id="rId4" Type="http://schemas.openxmlformats.org/officeDocument/2006/relationships/hyperlink" Target="https://www.fnnews.com/news/202605191034186316" TargetMode="External"/><Relationship Id="rId5" Type="http://schemas.openxmlformats.org/officeDocument/2006/relationships/hyperlink" Target="https://www.ddaily.co.kr/page/view/2026070818231689447" TargetMode="External"/><Relationship Id="rId6" Type="http://schemas.openxmlformats.org/officeDocument/2006/relationships/hyperlink" Target="https://english.pudong.gov.cn/2026-01/29/c_1157935.htm" TargetMode="External"/><Relationship Id="rId7" Type="http://schemas.openxmlformats.org/officeDocument/2006/relationships/hyperlink" Target="https://mobile.chinadaily.com.cn/html5/2026-04/07/content_013_69d40791ed50be540e72de7e.htm" TargetMode="External"/><Relationship Id="rId8" Type="http://schemas.openxmlformats.org/officeDocument/2006/relationships/hyperlink" Target="https://www.hyundaimotorgroup.com/ko/story/CONT0000000000123963" TargetMode="External"/><Relationship Id="rId9" Type="http://schemas.openxmlformats.org/officeDocument/2006/relationships/slideLayout" Target="../slideLayouts/slideLayout2.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kr.misumi-ec.com/tech-info/categories/machine_design/md05/g0041.html" TargetMode="External"/><Relationship Id="rId2" Type="http://schemas.openxmlformats.org/officeDocument/2006/relationships/hyperlink" Target="https://kr.misumi-ec.com/tech-info/categories/technical_data/td01/a0198.html" TargetMode="External"/><Relationship Id="rId3" Type="http://schemas.openxmlformats.org/officeDocument/2006/relationships/hyperlink" Target="https://www.controleng.com/high-resolution-monitoring-speeds-bearing-press-fitting" TargetMode="External"/><Relationship Id="rId4" Type="http://schemas.openxmlformats.org/officeDocument/2006/relationships/hyperlink" Target="https://en.nabtesco.de/fileadmin/05_downloads/01_betriebsanleitungen/RV-E_C_Original_series_Operation_Manual.pdf" TargetMode="External"/><Relationship Id="rId5" Type="http://schemas.openxmlformats.org/officeDocument/2006/relationships/hyperlink" Target="https://www.globaloring.com/oil-seal-installation-guide/" TargetMode="External"/><Relationship Id="rId6" Type="http://schemas.openxmlformats.org/officeDocument/2006/relationships/hyperlink" Target="https://youtu.be/VtlmBDTg52Y" TargetMode="External"/><Relationship Id="rId7" Type="http://schemas.openxmlformats.org/officeDocument/2006/relationships/hyperlink" Target="https://www.youtube.com/watch?v=oL0mSa4wGnI" TargetMode="External"/><Relationship Id="rId8" Type="http://schemas.openxmlformats.org/officeDocument/2006/relationships/hyperlink" Target="https://en.bonsystems.com/product/reducer/cycloidal-reducer-bsr-series/" TargetMode="External"/><Relationship Id="rId9" Type="http://schemas.openxmlformats.org/officeDocument/2006/relationships/hyperlink" Target="https://www.chinesestandard.net/PDF-EN/GBT43200-2023EN-P08P-H6686H-281170.pdf" TargetMode="External"/><Relationship Id="rId10" Type="http://schemas.openxmlformats.org/officeDocument/2006/relationships/slideLayout" Target="../slideLayouts/slideLayout2.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B5EE"/>
                </a:solidFill>
                <a:latin typeface="IBM Plex Sans KR" pitchFamily="34" charset="0"/>
                <a:ea typeface="IBM Plex Sans KR" pitchFamily="34" charset="-122"/>
                <a:cs typeface="IBM Plex Sans KR" pitchFamily="34" charset="-120"/>
              </a:rPr>
              <a:t>1차 프로젝트 기획 발표 · 2026.10.16</a:t>
            </a:r>
            <a:endParaRPr lang="en-US" sz="1200" dirty="0"/>
          </a:p>
        </p:txBody>
      </p:sp>
      <p:sp>
        <p:nvSpPr>
          <p:cNvPr id="3" name="Text 1"/>
          <p:cNvSpPr/>
          <p:nvPr>
            <p:ph type="title"/>
          </p:nvPr>
        </p:nvSpPr>
        <p:spPr>
          <a:xfrm>
            <a:off x="812800" y="2258087"/>
            <a:ext cx="10883392"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8FB"/>
                </a:solidFill>
                <a:latin typeface="IBM Plex Sans KR" pitchFamily="34" charset="0"/>
                <a:ea typeface="IBM Plex Sans KR" pitchFamily="34" charset="-122"/>
                <a:cs typeface="IBM Plex Sans KR" pitchFamily="34" charset="-120"/>
              </a:rPr>
              <a:t>변동을 먼저 잡는</a:t>
            </a:r>
            <a:endParaRPr lang="en-US" sz="6000" dirty="0"/>
          </a:p>
          <a:p>
            <a:pPr algn="l" indent="0" marL="0">
              <a:lnSpc>
                <a:spcPts val="6600"/>
              </a:lnSpc>
              <a:buNone/>
            </a:pPr>
            <a:r>
              <a:rPr lang="en-US" sz="6000" b="1" i="0" dirty="0">
                <a:solidFill>
                  <a:srgbClr val="F6F8FB"/>
                </a:solidFill>
                <a:latin typeface="IBM Plex Sans KR" pitchFamily="34" charset="0"/>
                <a:ea typeface="IBM Plex Sans KR" pitchFamily="34" charset="-122"/>
                <a:cs typeface="IBM Plex Sans KR" pitchFamily="34" charset="-120"/>
              </a:rPr>
              <a:t>가상공장</a:t>
            </a:r>
            <a:endParaRPr lang="en-US" sz="6000" dirty="0"/>
          </a:p>
        </p:txBody>
      </p:sp>
      <p:sp>
        <p:nvSpPr>
          <p:cNvPr id="4" name="Text 2"/>
          <p:cNvSpPr/>
          <p:nvPr/>
        </p:nvSpPr>
        <p:spPr>
          <a:xfrm>
            <a:off x="812800" y="4137687"/>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FD0E3"/>
                </a:solidFill>
                <a:latin typeface="IBM Plex Sans KR" pitchFamily="34" charset="0"/>
                <a:ea typeface="IBM Plex Sans KR" pitchFamily="34" charset="-122"/>
                <a:cs typeface="IBM Plex Sans KR" pitchFamily="34" charset="-120"/>
              </a:rPr>
              <a:t>로봇 관절 감속기 조립·검사 자동화 라인</a:t>
            </a:r>
            <a:endParaRPr lang="en-US" sz="2200" dirty="0"/>
          </a:p>
        </p:txBody>
      </p:sp>
      <p:sp>
        <p:nvSpPr>
          <p:cNvPr id="5" name="Text 3"/>
          <p:cNvSpPr/>
          <p:nvPr/>
        </p:nvSpPr>
        <p:spPr>
          <a:xfrm>
            <a:off x="812800" y="576077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8FB"/>
                </a:solidFill>
                <a:latin typeface="IBM Plex Sans KR" pitchFamily="34" charset="0"/>
                <a:ea typeface="IBM Plex Sans KR" pitchFamily="34" charset="-122"/>
                <a:cs typeface="IBM Plex Sans KR" pitchFamily="34" charset="-120"/>
              </a:rPr>
              <a:t>Team KAFKA</a:t>
            </a:r>
            <a:endParaRPr lang="en-US" sz="1600" dirty="0"/>
          </a:p>
        </p:txBody>
      </p:sp>
      <p:sp>
        <p:nvSpPr>
          <p:cNvPr id="6" name="Text 4"/>
          <p:cNvSpPr/>
          <p:nvPr/>
        </p:nvSpPr>
        <p:spPr>
          <a:xfrm>
            <a:off x="7716520" y="4673600"/>
            <a:ext cx="3662680" cy="1447800"/>
          </a:xfrm>
          <a:prstGeom prst="rect">
            <a:avLst/>
          </a:prstGeom>
          <a:noFill/>
          <a:ln/>
        </p:spPr>
        <p:txBody>
          <a:bodyPr wrap="square" lIns="0" tIns="0" rIns="0" bIns="0" rtlCol="0" anchor="t">
            <a:normAutofit/>
          </a:bodyPr>
          <a:lstStyle/>
          <a:p>
            <a:pPr algn="r" indent="0" marL="0">
              <a:lnSpc>
                <a:spcPts val="11200"/>
              </a:lnSpc>
              <a:buNone/>
            </a:pPr>
            <a:r>
              <a:rPr lang="en-US" sz="8000" b="1" i="1" dirty="0">
                <a:solidFill>
                  <a:srgbClr val="24456E"/>
                </a:solidFill>
                <a:latin typeface="IBM Plex Sans KR" pitchFamily="34" charset="0"/>
                <a:ea typeface="IBM Plex Sans KR" pitchFamily="34" charset="-122"/>
                <a:cs typeface="IBM Plex Sans KR" pitchFamily="34" charset="-120"/>
              </a:rPr>
              <a:t>KFKA</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01 · 팀 소개</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팀명 KAFKA의 의미</a:t>
            </a:r>
            <a:endParaRPr lang="en-US" sz="3200" dirty="0"/>
          </a:p>
        </p:txBody>
      </p:sp>
      <p:sp>
        <p:nvSpPr>
          <p:cNvPr id="4" name="Shape 2"/>
          <p:cNvSpPr/>
          <p:nvPr/>
        </p:nvSpPr>
        <p:spPr>
          <a:xfrm>
            <a:off x="815975" y="1953816"/>
            <a:ext cx="1984970" cy="1871530"/>
          </a:xfrm>
          <a:prstGeom prst="roundRect">
            <a:avLst>
              <a:gd name="adj" fmla="val 5259"/>
            </a:avLst>
          </a:prstGeom>
          <a:solidFill>
            <a:srgbClr val="FCFDFE"/>
          </a:solidFill>
          <a:ln w="6350">
            <a:solidFill>
              <a:srgbClr val="D5DEE9"/>
            </a:solidFill>
            <a:prstDash val="solid"/>
          </a:ln>
        </p:spPr>
      </p:sp>
      <p:sp>
        <p:nvSpPr>
          <p:cNvPr id="5" name="Text 3"/>
          <p:cNvSpPr/>
          <p:nvPr/>
        </p:nvSpPr>
        <p:spPr>
          <a:xfrm>
            <a:off x="1020233" y="2158074"/>
            <a:ext cx="162725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976D2"/>
                </a:solidFill>
                <a:latin typeface="IBM Plex Sans KR" pitchFamily="34" charset="0"/>
                <a:ea typeface="IBM Plex Sans KR" pitchFamily="34" charset="-122"/>
                <a:cs typeface="IBM Plex Sans KR" pitchFamily="34" charset="-120"/>
              </a:rPr>
              <a:t>K</a:t>
            </a:r>
            <a:endParaRPr lang="en-US" sz="4800" dirty="0"/>
          </a:p>
        </p:txBody>
      </p:sp>
      <p:sp>
        <p:nvSpPr>
          <p:cNvPr id="6" name="Text 4"/>
          <p:cNvSpPr/>
          <p:nvPr/>
        </p:nvSpPr>
        <p:spPr>
          <a:xfrm>
            <a:off x="1020233" y="2843874"/>
            <a:ext cx="16272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Kinetic</a:t>
            </a:r>
            <a:endParaRPr lang="en-US" sz="1600" dirty="0"/>
          </a:p>
        </p:txBody>
      </p:sp>
      <p:sp>
        <p:nvSpPr>
          <p:cNvPr id="7" name="Text 5"/>
          <p:cNvSpPr/>
          <p:nvPr/>
        </p:nvSpPr>
        <p:spPr>
          <a:xfrm>
            <a:off x="1020233" y="3163888"/>
            <a:ext cx="162725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로봇의 움직임과 공정의 동작</a:t>
            </a:r>
            <a:endParaRPr lang="en-US" sz="1200" dirty="0"/>
          </a:p>
        </p:txBody>
      </p:sp>
      <p:sp>
        <p:nvSpPr>
          <p:cNvPr id="8" name="Shape 6"/>
          <p:cNvSpPr/>
          <p:nvPr/>
        </p:nvSpPr>
        <p:spPr>
          <a:xfrm>
            <a:off x="2959695" y="1953816"/>
            <a:ext cx="1985037" cy="1871530"/>
          </a:xfrm>
          <a:prstGeom prst="roundRect">
            <a:avLst>
              <a:gd name="adj" fmla="val 5259"/>
            </a:avLst>
          </a:prstGeom>
          <a:solidFill>
            <a:srgbClr val="FCFDFE"/>
          </a:solidFill>
          <a:ln w="6350">
            <a:solidFill>
              <a:srgbClr val="D5DEE9"/>
            </a:solidFill>
            <a:prstDash val="solid"/>
          </a:ln>
        </p:spPr>
      </p:sp>
      <p:sp>
        <p:nvSpPr>
          <p:cNvPr id="9" name="Text 7"/>
          <p:cNvSpPr/>
          <p:nvPr/>
        </p:nvSpPr>
        <p:spPr>
          <a:xfrm>
            <a:off x="3163954" y="2158074"/>
            <a:ext cx="162732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976D2"/>
                </a:solidFill>
                <a:latin typeface="IBM Plex Sans KR" pitchFamily="34" charset="0"/>
                <a:ea typeface="IBM Plex Sans KR" pitchFamily="34" charset="-122"/>
                <a:cs typeface="IBM Plex Sans KR" pitchFamily="34" charset="-120"/>
              </a:rPr>
              <a:t>A</a:t>
            </a:r>
            <a:endParaRPr lang="en-US" sz="4800" dirty="0"/>
          </a:p>
        </p:txBody>
      </p:sp>
      <p:sp>
        <p:nvSpPr>
          <p:cNvPr id="10" name="Text 8"/>
          <p:cNvSpPr/>
          <p:nvPr/>
        </p:nvSpPr>
        <p:spPr>
          <a:xfrm>
            <a:off x="3163954" y="2843874"/>
            <a:ext cx="16273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Automation</a:t>
            </a:r>
            <a:endParaRPr lang="en-US" sz="1600" dirty="0"/>
          </a:p>
        </p:txBody>
      </p:sp>
      <p:sp>
        <p:nvSpPr>
          <p:cNvPr id="11" name="Text 9"/>
          <p:cNvSpPr/>
          <p:nvPr/>
        </p:nvSpPr>
        <p:spPr>
          <a:xfrm>
            <a:off x="3163954" y="3163888"/>
            <a:ext cx="162732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로봇을 활용한 생산 자동화</a:t>
            </a:r>
            <a:endParaRPr lang="en-US" sz="1200" dirty="0"/>
          </a:p>
        </p:txBody>
      </p:sp>
      <p:sp>
        <p:nvSpPr>
          <p:cNvPr id="12" name="Shape 10"/>
          <p:cNvSpPr/>
          <p:nvPr/>
        </p:nvSpPr>
        <p:spPr>
          <a:xfrm>
            <a:off x="5103482" y="1953816"/>
            <a:ext cx="1984970" cy="1871530"/>
          </a:xfrm>
          <a:prstGeom prst="roundRect">
            <a:avLst>
              <a:gd name="adj" fmla="val 5259"/>
            </a:avLst>
          </a:prstGeom>
          <a:solidFill>
            <a:srgbClr val="FCFDFE"/>
          </a:solidFill>
          <a:ln w="6350">
            <a:solidFill>
              <a:srgbClr val="D5DEE9"/>
            </a:solidFill>
            <a:prstDash val="solid"/>
          </a:ln>
        </p:spPr>
      </p:sp>
      <p:sp>
        <p:nvSpPr>
          <p:cNvPr id="13" name="Text 11"/>
          <p:cNvSpPr/>
          <p:nvPr/>
        </p:nvSpPr>
        <p:spPr>
          <a:xfrm>
            <a:off x="5307740" y="2158074"/>
            <a:ext cx="162725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976D2"/>
                </a:solidFill>
                <a:latin typeface="IBM Plex Sans KR" pitchFamily="34" charset="0"/>
                <a:ea typeface="IBM Plex Sans KR" pitchFamily="34" charset="-122"/>
                <a:cs typeface="IBM Plex Sans KR" pitchFamily="34" charset="-120"/>
              </a:rPr>
              <a:t>F</a:t>
            </a:r>
            <a:endParaRPr lang="en-US" sz="4800" dirty="0"/>
          </a:p>
        </p:txBody>
      </p:sp>
      <p:sp>
        <p:nvSpPr>
          <p:cNvPr id="14" name="Text 12"/>
          <p:cNvSpPr/>
          <p:nvPr/>
        </p:nvSpPr>
        <p:spPr>
          <a:xfrm>
            <a:off x="5307740" y="2843874"/>
            <a:ext cx="16272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Factory</a:t>
            </a:r>
            <a:endParaRPr lang="en-US" sz="1600" dirty="0"/>
          </a:p>
        </p:txBody>
      </p:sp>
      <p:sp>
        <p:nvSpPr>
          <p:cNvPr id="15" name="Text 13"/>
          <p:cNvSpPr/>
          <p:nvPr/>
        </p:nvSpPr>
        <p:spPr>
          <a:xfrm>
            <a:off x="5307740" y="3163888"/>
            <a:ext cx="162725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가상공장 및 생산 시스템</a:t>
            </a:r>
            <a:endParaRPr lang="en-US" sz="1200" dirty="0"/>
          </a:p>
        </p:txBody>
      </p:sp>
      <p:sp>
        <p:nvSpPr>
          <p:cNvPr id="16" name="Shape 14"/>
          <p:cNvSpPr/>
          <p:nvPr/>
        </p:nvSpPr>
        <p:spPr>
          <a:xfrm>
            <a:off x="7247203" y="1953816"/>
            <a:ext cx="1985037" cy="1871530"/>
          </a:xfrm>
          <a:prstGeom prst="roundRect">
            <a:avLst>
              <a:gd name="adj" fmla="val 5259"/>
            </a:avLst>
          </a:prstGeom>
          <a:solidFill>
            <a:srgbClr val="FCFDFE"/>
          </a:solidFill>
          <a:ln w="6350">
            <a:solidFill>
              <a:srgbClr val="D5DEE9"/>
            </a:solidFill>
            <a:prstDash val="solid"/>
          </a:ln>
        </p:spPr>
      </p:sp>
      <p:sp>
        <p:nvSpPr>
          <p:cNvPr id="17" name="Text 15"/>
          <p:cNvSpPr/>
          <p:nvPr/>
        </p:nvSpPr>
        <p:spPr>
          <a:xfrm>
            <a:off x="7451461" y="2158074"/>
            <a:ext cx="162732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976D2"/>
                </a:solidFill>
                <a:latin typeface="IBM Plex Sans KR" pitchFamily="34" charset="0"/>
                <a:ea typeface="IBM Plex Sans KR" pitchFamily="34" charset="-122"/>
                <a:cs typeface="IBM Plex Sans KR" pitchFamily="34" charset="-120"/>
              </a:rPr>
              <a:t>K</a:t>
            </a:r>
            <a:endParaRPr lang="en-US" sz="4800" dirty="0"/>
          </a:p>
        </p:txBody>
      </p:sp>
      <p:sp>
        <p:nvSpPr>
          <p:cNvPr id="18" name="Text 16"/>
          <p:cNvSpPr/>
          <p:nvPr/>
        </p:nvSpPr>
        <p:spPr>
          <a:xfrm>
            <a:off x="7451461" y="2843874"/>
            <a:ext cx="16273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Knowledge</a:t>
            </a:r>
            <a:endParaRPr lang="en-US" sz="1600" dirty="0"/>
          </a:p>
        </p:txBody>
      </p:sp>
      <p:sp>
        <p:nvSpPr>
          <p:cNvPr id="19" name="Text 17"/>
          <p:cNvSpPr/>
          <p:nvPr/>
        </p:nvSpPr>
        <p:spPr>
          <a:xfrm>
            <a:off x="7451461" y="3163888"/>
            <a:ext cx="162732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제조공정에 대한 지식과 이해</a:t>
            </a:r>
            <a:endParaRPr lang="en-US" sz="1200" dirty="0"/>
          </a:p>
        </p:txBody>
      </p:sp>
      <p:sp>
        <p:nvSpPr>
          <p:cNvPr id="20" name="Shape 18"/>
          <p:cNvSpPr/>
          <p:nvPr/>
        </p:nvSpPr>
        <p:spPr>
          <a:xfrm>
            <a:off x="9390989" y="1953816"/>
            <a:ext cx="1985037" cy="1871530"/>
          </a:xfrm>
          <a:prstGeom prst="roundRect">
            <a:avLst>
              <a:gd name="adj" fmla="val 5259"/>
            </a:avLst>
          </a:prstGeom>
          <a:solidFill>
            <a:srgbClr val="FCFDFE"/>
          </a:solidFill>
          <a:ln w="6350">
            <a:solidFill>
              <a:srgbClr val="D5DEE9"/>
            </a:solidFill>
            <a:prstDash val="solid"/>
          </a:ln>
        </p:spPr>
      </p:sp>
      <p:sp>
        <p:nvSpPr>
          <p:cNvPr id="21" name="Text 19"/>
          <p:cNvSpPr/>
          <p:nvPr/>
        </p:nvSpPr>
        <p:spPr>
          <a:xfrm>
            <a:off x="9595247" y="2158074"/>
            <a:ext cx="162732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976D2"/>
                </a:solidFill>
                <a:latin typeface="IBM Plex Sans KR" pitchFamily="34" charset="0"/>
                <a:ea typeface="IBM Plex Sans KR" pitchFamily="34" charset="-122"/>
                <a:cs typeface="IBM Plex Sans KR" pitchFamily="34" charset="-120"/>
              </a:rPr>
              <a:t>A</a:t>
            </a:r>
            <a:endParaRPr lang="en-US" sz="4800" dirty="0"/>
          </a:p>
        </p:txBody>
      </p:sp>
      <p:sp>
        <p:nvSpPr>
          <p:cNvPr id="22" name="Text 20"/>
          <p:cNvSpPr/>
          <p:nvPr/>
        </p:nvSpPr>
        <p:spPr>
          <a:xfrm>
            <a:off x="9595247" y="2843874"/>
            <a:ext cx="16273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Architecture</a:t>
            </a:r>
            <a:endParaRPr lang="en-US" sz="1600" dirty="0"/>
          </a:p>
        </p:txBody>
      </p:sp>
      <p:sp>
        <p:nvSpPr>
          <p:cNvPr id="23" name="Text 21"/>
          <p:cNvSpPr/>
          <p:nvPr/>
        </p:nvSpPr>
        <p:spPr>
          <a:xfrm>
            <a:off x="9595247" y="3163888"/>
            <a:ext cx="162732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공정·설비·로봇을 하나로 구성하는 설계</a:t>
            </a:r>
            <a:endParaRPr lang="en-US" sz="1200" dirty="0"/>
          </a:p>
        </p:txBody>
      </p:sp>
      <p:sp>
        <p:nvSpPr>
          <p:cNvPr id="24" name="Shape 22"/>
          <p:cNvSpPr/>
          <p:nvPr/>
        </p:nvSpPr>
        <p:spPr>
          <a:xfrm>
            <a:off x="831850" y="4184121"/>
            <a:ext cx="0" cy="711200"/>
          </a:xfrm>
          <a:prstGeom prst="line">
            <a:avLst/>
          </a:prstGeom>
          <a:noFill/>
          <a:ln w="38100">
            <a:solidFill>
              <a:srgbClr val="1976D2"/>
            </a:solidFill>
            <a:prstDash val="solid"/>
          </a:ln>
        </p:spPr>
      </p:sp>
      <p:sp>
        <p:nvSpPr>
          <p:cNvPr id="25" name="Text 23"/>
          <p:cNvSpPr/>
          <p:nvPr/>
        </p:nvSpPr>
        <p:spPr>
          <a:xfrm>
            <a:off x="1054100" y="4234921"/>
            <a:ext cx="10634853"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0233D"/>
                </a:solidFill>
                <a:latin typeface="IBM Plex Sans KR" pitchFamily="34" charset="0"/>
                <a:ea typeface="IBM Plex Sans KR" pitchFamily="34" charset="-122"/>
                <a:cs typeface="IBM Plex Sans KR" pitchFamily="34" charset="-120"/>
              </a:rPr>
              <a:t>"제조공정에 대한 지식을 바탕으로 로봇과 자동화를 연결하여</a:t>
            </a:r>
            <a:endParaRPr lang="en-US" sz="1600" dirty="0"/>
          </a:p>
          <a:p>
            <a:pPr algn="l" indent="0" marL="0">
              <a:lnSpc>
                <a:spcPts val="2400"/>
              </a:lnSpc>
              <a:buNone/>
            </a:pPr>
            <a:r>
              <a:rPr lang="en-US" sz="1600" dirty="0">
                <a:solidFill>
                  <a:srgbClr val="10233D"/>
                </a:solidFill>
                <a:latin typeface="IBM Plex Sans KR" pitchFamily="34" charset="0"/>
                <a:ea typeface="IBM Plex Sans KR" pitchFamily="34" charset="-122"/>
                <a:cs typeface="IBM Plex Sans KR" pitchFamily="34" charset="-120"/>
              </a:rPr>
              <a:t>하나의 가상공장으로 구현하는 사람들"</a:t>
            </a:r>
            <a:endParaRPr lang="en-US" sz="16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1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01 · 팀 소개</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팀 구성과 담당 역할</a:t>
            </a:r>
            <a:endParaRPr lang="en-US" sz="3200" dirty="0"/>
          </a:p>
        </p:txBody>
      </p:sp>
      <p:sp>
        <p:nvSpPr>
          <p:cNvPr id="4" name="Shape 2"/>
          <p:cNvSpPr/>
          <p:nvPr/>
        </p:nvSpPr>
        <p:spPr>
          <a:xfrm>
            <a:off x="815975" y="1953816"/>
            <a:ext cx="3414183" cy="1338064"/>
          </a:xfrm>
          <a:prstGeom prst="roundRect">
            <a:avLst>
              <a:gd name="adj" fmla="val 7356"/>
            </a:avLst>
          </a:prstGeom>
          <a:solidFill>
            <a:srgbClr val="FCFDFE"/>
          </a:solidFill>
          <a:ln w="6350">
            <a:solidFill>
              <a:srgbClr val="D5DEE9"/>
            </a:solidFill>
            <a:prstDash val="solid"/>
          </a:ln>
        </p:spPr>
      </p:sp>
      <p:sp>
        <p:nvSpPr>
          <p:cNvPr id="5" name="Text 3"/>
          <p:cNvSpPr/>
          <p:nvPr/>
        </p:nvSpPr>
        <p:spPr>
          <a:xfrm>
            <a:off x="1020233" y="2158074"/>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팀장 · 총괄</a:t>
            </a:r>
            <a:endParaRPr lang="en-US" sz="1200" dirty="0"/>
          </a:p>
        </p:txBody>
      </p:sp>
      <p:sp>
        <p:nvSpPr>
          <p:cNvPr id="6" name="Text 4"/>
          <p:cNvSpPr/>
          <p:nvPr/>
        </p:nvSpPr>
        <p:spPr>
          <a:xfrm>
            <a:off x="1020233" y="2447595"/>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위상경</a:t>
            </a:r>
            <a:endParaRPr lang="en-US" sz="2200" dirty="0"/>
          </a:p>
        </p:txBody>
      </p:sp>
      <p:sp>
        <p:nvSpPr>
          <p:cNvPr id="7" name="Text 5"/>
          <p:cNvSpPr/>
          <p:nvPr/>
        </p:nvSpPr>
        <p:spPr>
          <a:xfrm>
            <a:off x="1020233" y="2859022"/>
            <a:ext cx="30958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일정·방향 총괄, 볼트 체결 해석 시나리오</a:t>
            </a:r>
            <a:endParaRPr lang="en-US" sz="1200" dirty="0"/>
          </a:p>
        </p:txBody>
      </p:sp>
      <p:sp>
        <p:nvSpPr>
          <p:cNvPr id="8" name="Shape 6"/>
          <p:cNvSpPr/>
          <p:nvPr/>
        </p:nvSpPr>
        <p:spPr>
          <a:xfrm>
            <a:off x="4388908" y="1953816"/>
            <a:ext cx="3414183" cy="1338064"/>
          </a:xfrm>
          <a:prstGeom prst="roundRect">
            <a:avLst>
              <a:gd name="adj" fmla="val 7356"/>
            </a:avLst>
          </a:prstGeom>
          <a:solidFill>
            <a:srgbClr val="FCFDFE"/>
          </a:solidFill>
          <a:ln w="6350">
            <a:solidFill>
              <a:srgbClr val="D5DEE9"/>
            </a:solidFill>
            <a:prstDash val="solid"/>
          </a:ln>
        </p:spPr>
      </p:sp>
      <p:sp>
        <p:nvSpPr>
          <p:cNvPr id="9" name="Text 7"/>
          <p:cNvSpPr/>
          <p:nvPr/>
        </p:nvSpPr>
        <p:spPr>
          <a:xfrm>
            <a:off x="4593167" y="2158074"/>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모델링</a:t>
            </a:r>
            <a:endParaRPr lang="en-US" sz="1200" dirty="0"/>
          </a:p>
        </p:txBody>
      </p:sp>
      <p:sp>
        <p:nvSpPr>
          <p:cNvPr id="10" name="Text 8"/>
          <p:cNvSpPr/>
          <p:nvPr/>
        </p:nvSpPr>
        <p:spPr>
          <a:xfrm>
            <a:off x="4593167" y="2447595"/>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이경준</a:t>
            </a:r>
            <a:endParaRPr lang="en-US" sz="2200" dirty="0"/>
          </a:p>
        </p:txBody>
      </p:sp>
      <p:sp>
        <p:nvSpPr>
          <p:cNvPr id="11" name="Text 9"/>
          <p:cNvSpPr/>
          <p:nvPr/>
        </p:nvSpPr>
        <p:spPr>
          <a:xfrm>
            <a:off x="4593167" y="2859022"/>
            <a:ext cx="30958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하우징·감속기·케이스 부품 모델링</a:t>
            </a:r>
            <a:endParaRPr lang="en-US" sz="1200" dirty="0"/>
          </a:p>
        </p:txBody>
      </p:sp>
      <p:sp>
        <p:nvSpPr>
          <p:cNvPr id="12" name="Shape 10"/>
          <p:cNvSpPr/>
          <p:nvPr/>
        </p:nvSpPr>
        <p:spPr>
          <a:xfrm>
            <a:off x="7961842" y="1953816"/>
            <a:ext cx="3414183" cy="1338064"/>
          </a:xfrm>
          <a:prstGeom prst="roundRect">
            <a:avLst>
              <a:gd name="adj" fmla="val 7356"/>
            </a:avLst>
          </a:prstGeom>
          <a:solidFill>
            <a:srgbClr val="FCFDFE"/>
          </a:solidFill>
          <a:ln w="6350">
            <a:solidFill>
              <a:srgbClr val="D5DEE9"/>
            </a:solidFill>
            <a:prstDash val="solid"/>
          </a:ln>
        </p:spPr>
      </p:sp>
      <p:sp>
        <p:nvSpPr>
          <p:cNvPr id="13" name="Text 11"/>
          <p:cNvSpPr/>
          <p:nvPr/>
        </p:nvSpPr>
        <p:spPr>
          <a:xfrm>
            <a:off x="8166100" y="2158074"/>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레이아웃</a:t>
            </a:r>
            <a:endParaRPr lang="en-US" sz="1200" dirty="0"/>
          </a:p>
        </p:txBody>
      </p:sp>
      <p:sp>
        <p:nvSpPr>
          <p:cNvPr id="14" name="Text 12"/>
          <p:cNvSpPr/>
          <p:nvPr/>
        </p:nvSpPr>
        <p:spPr>
          <a:xfrm>
            <a:off x="8166100" y="2447595"/>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박정호</a:t>
            </a:r>
            <a:endParaRPr lang="en-US" sz="2200" dirty="0"/>
          </a:p>
        </p:txBody>
      </p:sp>
      <p:sp>
        <p:nvSpPr>
          <p:cNvPr id="15" name="Text 13"/>
          <p:cNvSpPr/>
          <p:nvPr/>
        </p:nvSpPr>
        <p:spPr>
          <a:xfrm>
            <a:off x="8166100" y="2859022"/>
            <a:ext cx="30958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컨베이어 라인 배치, 공정·설비 레이아웃</a:t>
            </a:r>
            <a:endParaRPr lang="en-US" sz="1200" dirty="0"/>
          </a:p>
        </p:txBody>
      </p:sp>
      <p:sp>
        <p:nvSpPr>
          <p:cNvPr id="16" name="Shape 14"/>
          <p:cNvSpPr/>
          <p:nvPr/>
        </p:nvSpPr>
        <p:spPr>
          <a:xfrm>
            <a:off x="815975" y="3450630"/>
            <a:ext cx="3414183" cy="1566664"/>
          </a:xfrm>
          <a:prstGeom prst="roundRect">
            <a:avLst>
              <a:gd name="adj" fmla="val 6282"/>
            </a:avLst>
          </a:prstGeom>
          <a:solidFill>
            <a:srgbClr val="FCFDFE"/>
          </a:solidFill>
          <a:ln w="6350">
            <a:solidFill>
              <a:srgbClr val="D5DEE9"/>
            </a:solidFill>
            <a:prstDash val="solid"/>
          </a:ln>
        </p:spPr>
      </p:sp>
      <p:sp>
        <p:nvSpPr>
          <p:cNvPr id="17" name="Text 15"/>
          <p:cNvSpPr/>
          <p:nvPr/>
        </p:nvSpPr>
        <p:spPr>
          <a:xfrm>
            <a:off x="1020233" y="3654889"/>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시뮬레이션</a:t>
            </a:r>
            <a:endParaRPr lang="en-US" sz="1200" dirty="0"/>
          </a:p>
        </p:txBody>
      </p:sp>
      <p:sp>
        <p:nvSpPr>
          <p:cNvPr id="18" name="Text 16"/>
          <p:cNvSpPr/>
          <p:nvPr/>
        </p:nvSpPr>
        <p:spPr>
          <a:xfrm>
            <a:off x="1020233" y="3944409"/>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김민서</a:t>
            </a:r>
            <a:endParaRPr lang="en-US" sz="2200" dirty="0"/>
          </a:p>
        </p:txBody>
      </p:sp>
      <p:sp>
        <p:nvSpPr>
          <p:cNvPr id="19" name="Text 17"/>
          <p:cNvSpPr/>
          <p:nvPr/>
        </p:nvSpPr>
        <p:spPr>
          <a:xfrm>
            <a:off x="1020233" y="4355836"/>
            <a:ext cx="3095837"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해석 기획(SIMULIA), 공정 시뮬레이션(DELMIA)</a:t>
            </a:r>
            <a:endParaRPr lang="en-US" sz="1200" dirty="0"/>
          </a:p>
        </p:txBody>
      </p:sp>
      <p:sp>
        <p:nvSpPr>
          <p:cNvPr id="20" name="Shape 18"/>
          <p:cNvSpPr/>
          <p:nvPr/>
        </p:nvSpPr>
        <p:spPr>
          <a:xfrm>
            <a:off x="4388908" y="3450630"/>
            <a:ext cx="3414183" cy="1566664"/>
          </a:xfrm>
          <a:prstGeom prst="roundRect">
            <a:avLst>
              <a:gd name="adj" fmla="val 6282"/>
            </a:avLst>
          </a:prstGeom>
          <a:solidFill>
            <a:srgbClr val="FCFDFE"/>
          </a:solidFill>
          <a:ln w="6350">
            <a:solidFill>
              <a:srgbClr val="D5DEE9"/>
            </a:solidFill>
            <a:prstDash val="solid"/>
          </a:ln>
        </p:spPr>
      </p:sp>
      <p:sp>
        <p:nvSpPr>
          <p:cNvPr id="21" name="Text 19"/>
          <p:cNvSpPr/>
          <p:nvPr/>
        </p:nvSpPr>
        <p:spPr>
          <a:xfrm>
            <a:off x="4593167" y="3654889"/>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문서</a:t>
            </a:r>
            <a:endParaRPr lang="en-US" sz="1200" dirty="0"/>
          </a:p>
        </p:txBody>
      </p:sp>
      <p:sp>
        <p:nvSpPr>
          <p:cNvPr id="22" name="Text 20"/>
          <p:cNvSpPr/>
          <p:nvPr/>
        </p:nvSpPr>
        <p:spPr>
          <a:xfrm>
            <a:off x="4593167" y="3944409"/>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김석현</a:t>
            </a:r>
            <a:endParaRPr lang="en-US" sz="2200" dirty="0"/>
          </a:p>
        </p:txBody>
      </p:sp>
      <p:sp>
        <p:nvSpPr>
          <p:cNvPr id="23" name="Text 21"/>
          <p:cNvSpPr/>
          <p:nvPr/>
        </p:nvSpPr>
        <p:spPr>
          <a:xfrm>
            <a:off x="4593167" y="4355836"/>
            <a:ext cx="30958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회의록, 발표 자료 통합</a:t>
            </a:r>
            <a:endParaRPr lang="en-US" sz="1200" dirty="0"/>
          </a:p>
        </p:txBody>
      </p:sp>
      <p:sp>
        <p:nvSpPr>
          <p:cNvPr id="24" name="Shape 22"/>
          <p:cNvSpPr/>
          <p:nvPr/>
        </p:nvSpPr>
        <p:spPr>
          <a:xfrm>
            <a:off x="7961842" y="3450630"/>
            <a:ext cx="3414183" cy="1566664"/>
          </a:xfrm>
          <a:prstGeom prst="roundRect">
            <a:avLst>
              <a:gd name="adj" fmla="val 6282"/>
            </a:avLst>
          </a:prstGeom>
          <a:solidFill>
            <a:srgbClr val="FCFDFE"/>
          </a:solidFill>
          <a:ln w="6350">
            <a:solidFill>
              <a:srgbClr val="D5DEE9"/>
            </a:solidFill>
            <a:prstDash val="solid"/>
          </a:ln>
        </p:spPr>
      </p:sp>
      <p:sp>
        <p:nvSpPr>
          <p:cNvPr id="25" name="Text 23"/>
          <p:cNvSpPr/>
          <p:nvPr/>
        </p:nvSpPr>
        <p:spPr>
          <a:xfrm>
            <a:off x="8166100" y="3654889"/>
            <a:ext cx="3095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DATA</a:t>
            </a:r>
            <a:endParaRPr lang="en-US" sz="1200" dirty="0"/>
          </a:p>
        </p:txBody>
      </p:sp>
      <p:sp>
        <p:nvSpPr>
          <p:cNvPr id="26" name="Text 24"/>
          <p:cNvSpPr/>
          <p:nvPr/>
        </p:nvSpPr>
        <p:spPr>
          <a:xfrm>
            <a:off x="8166100" y="3944409"/>
            <a:ext cx="309583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원정빈</a:t>
            </a:r>
            <a:endParaRPr lang="en-US" sz="2200" dirty="0"/>
          </a:p>
        </p:txBody>
      </p:sp>
      <p:sp>
        <p:nvSpPr>
          <p:cNvPr id="27" name="Text 25"/>
          <p:cNvSpPr/>
          <p:nvPr/>
        </p:nvSpPr>
        <p:spPr>
          <a:xfrm>
            <a:off x="8166100" y="4355836"/>
            <a:ext cx="309583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자료조사, 클라우드 데이터 관리</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2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02 · 주제 선정 · 산업군: 로봇</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왜 로봇 관절 액추에이터인가</a:t>
            </a:r>
            <a:endParaRPr lang="en-US" sz="3200" dirty="0"/>
          </a:p>
        </p:txBody>
      </p:sp>
      <p:sp>
        <p:nvSpPr>
          <p:cNvPr id="4" name="Shape 2"/>
          <p:cNvSpPr/>
          <p:nvPr/>
        </p:nvSpPr>
        <p:spPr>
          <a:xfrm>
            <a:off x="815975" y="1953816"/>
            <a:ext cx="3380317" cy="2100130"/>
          </a:xfrm>
          <a:prstGeom prst="roundRect">
            <a:avLst>
              <a:gd name="adj" fmla="val 4687"/>
            </a:avLst>
          </a:prstGeom>
          <a:solidFill>
            <a:srgbClr val="FCFDFE"/>
          </a:solidFill>
          <a:ln w="6350">
            <a:solidFill>
              <a:srgbClr val="D5DEE9"/>
            </a:solidFill>
            <a:prstDash val="solid"/>
          </a:ln>
        </p:spPr>
      </p:sp>
      <p:sp>
        <p:nvSpPr>
          <p:cNvPr id="5" name="Text 3"/>
          <p:cNvSpPr/>
          <p:nvPr/>
        </p:nvSpPr>
        <p:spPr>
          <a:xfrm>
            <a:off x="1071033" y="2208874"/>
            <a:ext cx="295630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976D2"/>
                </a:solidFill>
                <a:latin typeface="IBM Plex Sans KR" pitchFamily="34" charset="0"/>
                <a:ea typeface="IBM Plex Sans KR" pitchFamily="34" charset="-122"/>
                <a:cs typeface="IBM Plex Sans KR" pitchFamily="34" charset="-120"/>
              </a:rPr>
              <a:t>30~50%</a:t>
            </a:r>
            <a:endParaRPr lang="en-US" sz="3600" dirty="0"/>
          </a:p>
        </p:txBody>
      </p:sp>
      <p:sp>
        <p:nvSpPr>
          <p:cNvPr id="6" name="Text 4"/>
          <p:cNvSpPr/>
          <p:nvPr/>
        </p:nvSpPr>
        <p:spPr>
          <a:xfrm>
            <a:off x="1071033" y="2767674"/>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휴머노이드의 핵심 부품</a:t>
            </a:r>
            <a:endParaRPr lang="en-US" sz="1600" dirty="0"/>
          </a:p>
        </p:txBody>
      </p:sp>
      <p:sp>
        <p:nvSpPr>
          <p:cNvPr id="7" name="Text 5"/>
          <p:cNvSpPr/>
          <p:nvPr/>
        </p:nvSpPr>
        <p:spPr>
          <a:xfrm>
            <a:off x="1071033" y="3113088"/>
            <a:ext cx="29563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모터·감속기·제어기·센서를 묶은 관절. 휴머노이드 제조 원가의 30~50%를 차지</a:t>
            </a:r>
            <a:endParaRPr lang="en-US" sz="1200" dirty="0"/>
          </a:p>
        </p:txBody>
      </p:sp>
      <p:sp>
        <p:nvSpPr>
          <p:cNvPr id="8" name="Shape 6"/>
          <p:cNvSpPr/>
          <p:nvPr/>
        </p:nvSpPr>
        <p:spPr>
          <a:xfrm>
            <a:off x="4405842" y="1953816"/>
            <a:ext cx="3380317" cy="2100130"/>
          </a:xfrm>
          <a:prstGeom prst="roundRect">
            <a:avLst>
              <a:gd name="adj" fmla="val 4687"/>
            </a:avLst>
          </a:prstGeom>
          <a:solidFill>
            <a:srgbClr val="FCFDFE"/>
          </a:solidFill>
          <a:ln w="6350">
            <a:solidFill>
              <a:srgbClr val="D5DEE9"/>
            </a:solidFill>
            <a:prstDash val="solid"/>
          </a:ln>
        </p:spPr>
      </p:sp>
      <p:sp>
        <p:nvSpPr>
          <p:cNvPr id="9" name="Text 7"/>
          <p:cNvSpPr/>
          <p:nvPr/>
        </p:nvSpPr>
        <p:spPr>
          <a:xfrm>
            <a:off x="4660900" y="2208874"/>
            <a:ext cx="295630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976D2"/>
                </a:solidFill>
                <a:latin typeface="IBM Plex Sans KR" pitchFamily="34" charset="0"/>
                <a:ea typeface="IBM Plex Sans KR" pitchFamily="34" charset="-122"/>
                <a:cs typeface="IBM Plex Sans KR" pitchFamily="34" charset="-120"/>
              </a:rPr>
              <a:t>2027~28</a:t>
            </a:r>
            <a:endParaRPr lang="en-US" sz="3600" dirty="0"/>
          </a:p>
        </p:txBody>
      </p:sp>
      <p:sp>
        <p:nvSpPr>
          <p:cNvPr id="10" name="Text 8"/>
          <p:cNvSpPr/>
          <p:nvPr/>
        </p:nvSpPr>
        <p:spPr>
          <a:xfrm>
            <a:off x="4660900" y="2767674"/>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양산으로 넘어가는 시점</a:t>
            </a:r>
            <a:endParaRPr lang="en-US" sz="1600" dirty="0"/>
          </a:p>
        </p:txBody>
      </p:sp>
      <p:sp>
        <p:nvSpPr>
          <p:cNvPr id="11" name="Text 9"/>
          <p:cNvSpPr/>
          <p:nvPr/>
        </p:nvSpPr>
        <p:spPr>
          <a:xfrm>
            <a:off x="4660900" y="3113088"/>
            <a:ext cx="295630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삼현 창원 2공장 액추에이터 생산체계 구축(목표 2027.4), 현대차그룹 미국 액추에이터 연 35만 개 생산 계획(2028)</a:t>
            </a:r>
            <a:endParaRPr lang="en-US" sz="1200" dirty="0"/>
          </a:p>
        </p:txBody>
      </p:sp>
      <p:sp>
        <p:nvSpPr>
          <p:cNvPr id="12" name="Shape 10"/>
          <p:cNvSpPr/>
          <p:nvPr/>
        </p:nvSpPr>
        <p:spPr>
          <a:xfrm>
            <a:off x="7995709" y="1953816"/>
            <a:ext cx="3380317" cy="2100130"/>
          </a:xfrm>
          <a:prstGeom prst="roundRect">
            <a:avLst>
              <a:gd name="adj" fmla="val 4687"/>
            </a:avLst>
          </a:prstGeom>
          <a:solidFill>
            <a:srgbClr val="FCFDFE"/>
          </a:solidFill>
          <a:ln w="6350">
            <a:solidFill>
              <a:srgbClr val="D5DEE9"/>
            </a:solidFill>
            <a:prstDash val="solid"/>
          </a:ln>
        </p:spPr>
      </p:sp>
      <p:sp>
        <p:nvSpPr>
          <p:cNvPr id="13" name="Text 11"/>
          <p:cNvSpPr/>
          <p:nvPr/>
        </p:nvSpPr>
        <p:spPr>
          <a:xfrm>
            <a:off x="8250767" y="2208874"/>
            <a:ext cx="295630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976D2"/>
                </a:solidFill>
                <a:latin typeface="IBM Plex Sans KR" pitchFamily="34" charset="0"/>
                <a:ea typeface="IBM Plex Sans KR" pitchFamily="34" charset="-122"/>
                <a:cs typeface="IBM Plex Sans KR" pitchFamily="34" charset="-120"/>
              </a:rPr>
              <a:t>정책</a:t>
            </a:r>
            <a:endParaRPr lang="en-US" sz="3600" dirty="0"/>
          </a:p>
        </p:txBody>
      </p:sp>
      <p:sp>
        <p:nvSpPr>
          <p:cNvPr id="14" name="Text 12"/>
          <p:cNvSpPr/>
          <p:nvPr/>
        </p:nvSpPr>
        <p:spPr>
          <a:xfrm>
            <a:off x="8250767" y="2767674"/>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국가 사업과 맞닿음</a:t>
            </a:r>
            <a:endParaRPr lang="en-US" sz="1600" dirty="0"/>
          </a:p>
        </p:txBody>
      </p:sp>
      <p:sp>
        <p:nvSpPr>
          <p:cNvPr id="15" name="Text 13"/>
          <p:cNvSpPr/>
          <p:nvPr/>
        </p:nvSpPr>
        <p:spPr>
          <a:xfrm>
            <a:off x="8250767" y="3113088"/>
            <a:ext cx="29563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제조AI 2030 전략(휴머노이드 현장 실증), 첨단제조로봇 실증사업의 '로봇공정모델'</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출처: Korea JoongAng Daily · 디지털데일리(2026.7.8) · 뉴시스(2026.5.19) · 뉴스핌(2026.6.29) · 로봇신문 · 필수 3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02 · 제조 아이템 · 액추에이터의 핵심 부품</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제품 정의 — BSR080 사이클로이드 감속기</a:t>
            </a:r>
            <a:endParaRPr lang="en-US" sz="3200" dirty="0"/>
          </a:p>
        </p:txBody>
      </p:sp>
      <p:sp>
        <p:nvSpPr>
          <p:cNvPr id="4" name="Shape 2"/>
          <p:cNvSpPr/>
          <p:nvPr/>
        </p:nvSpPr>
        <p:spPr>
          <a:xfrm>
            <a:off x="812800" y="1950641"/>
            <a:ext cx="4064000" cy="3891359"/>
          </a:xfrm>
          <a:prstGeom prst="roundRect">
            <a:avLst>
              <a:gd name="adj" fmla="val 2611"/>
            </a:avLst>
          </a:prstGeom>
          <a:solidFill>
            <a:srgbClr val="101B29"/>
          </a:solidFill>
          <a:ln/>
        </p:spPr>
      </p:sp>
      <p:pic>
        <p:nvPicPr>
          <p:cNvPr id="5" name="Image 0" descr="BSR080 R6 감속기 전체 조립 3D 모델">    </p:cNvPr>
          <p:cNvPicPr>
            <a:picLocks noChangeAspect="1"/>
          </p:cNvPicPr>
          <p:nvPr/>
        </p:nvPicPr>
        <p:blipFill>
          <a:blip r:embed="rId1"/>
          <a:srcRect l="-5" r="-5" t="0" b="0"/>
          <a:stretch/>
        </p:blipFill>
        <p:spPr>
          <a:xfrm>
            <a:off x="1066800" y="2322779"/>
            <a:ext cx="3556000" cy="2857500"/>
          </a:xfrm>
          <a:prstGeom prst="rect">
            <a:avLst/>
          </a:prstGeom>
        </p:spPr>
      </p:pic>
      <p:sp>
        <p:nvSpPr>
          <p:cNvPr id="6" name="Text 3"/>
          <p:cNvSpPr/>
          <p:nvPr/>
        </p:nvSpPr>
        <p:spPr>
          <a:xfrm>
            <a:off x="1953028" y="5256479"/>
            <a:ext cx="178347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3C8"/>
                </a:solidFill>
                <a:latin typeface="IBM Plex Sans KR" pitchFamily="34" charset="0"/>
                <a:ea typeface="IBM Plex Sans KR" pitchFamily="34" charset="-122"/>
                <a:cs typeface="IBM Plex Sans KR" pitchFamily="34" charset="-120"/>
              </a:rPr>
              <a:t>BSR080 R6 · 조립 완료</a:t>
            </a:r>
            <a:endParaRPr lang="en-US" sz="1200" dirty="0"/>
          </a:p>
        </p:txBody>
      </p:sp>
      <p:sp>
        <p:nvSpPr>
          <p:cNvPr id="7" name="Shape 4"/>
          <p:cNvSpPr/>
          <p:nvPr/>
        </p:nvSpPr>
        <p:spPr>
          <a:xfrm>
            <a:off x="5181600" y="2627246"/>
            <a:ext cx="6197600" cy="0"/>
          </a:xfrm>
          <a:prstGeom prst="line">
            <a:avLst/>
          </a:prstGeom>
          <a:noFill/>
          <a:ln w="6350">
            <a:solidFill>
              <a:srgbClr val="D5DEE9"/>
            </a:solidFill>
            <a:prstDash val="solid"/>
          </a:ln>
        </p:spPr>
      </p:sp>
      <p:sp>
        <p:nvSpPr>
          <p:cNvPr id="8" name="Text 5"/>
          <p:cNvSpPr/>
          <p:nvPr/>
        </p:nvSpPr>
        <p:spPr>
          <a:xfrm>
            <a:off x="5181600" y="1950641"/>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대상</a:t>
            </a:r>
            <a:endParaRPr lang="en-US" sz="1200" dirty="0"/>
          </a:p>
        </p:txBody>
      </p:sp>
      <p:sp>
        <p:nvSpPr>
          <p:cNvPr id="9" name="Text 6"/>
          <p:cNvSpPr/>
          <p:nvPr/>
        </p:nvSpPr>
        <p:spPr>
          <a:xfrm>
            <a:off x="5181600" y="2214761"/>
            <a:ext cx="638352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233D"/>
                </a:solidFill>
                <a:latin typeface="IBM Plex Sans KR" pitchFamily="34" charset="0"/>
                <a:ea typeface="IBM Plex Sans KR" pitchFamily="34" charset="-122"/>
                <a:cs typeface="IBM Plex Sans KR" pitchFamily="34" charset="-120"/>
              </a:rPr>
              <a:t>관절 감속기 단품 (조립·검사까지)</a:t>
            </a:r>
            <a:endParaRPr lang="en-US" sz="1600" dirty="0"/>
          </a:p>
        </p:txBody>
      </p:sp>
      <p:sp>
        <p:nvSpPr>
          <p:cNvPr id="10" name="Shape 7"/>
          <p:cNvSpPr/>
          <p:nvPr/>
        </p:nvSpPr>
        <p:spPr>
          <a:xfrm>
            <a:off x="5181600" y="3459428"/>
            <a:ext cx="6197600" cy="0"/>
          </a:xfrm>
          <a:prstGeom prst="line">
            <a:avLst/>
          </a:prstGeom>
          <a:noFill/>
          <a:ln w="6350">
            <a:solidFill>
              <a:srgbClr val="D5DEE9"/>
            </a:solidFill>
            <a:prstDash val="solid"/>
          </a:ln>
        </p:spPr>
      </p:sp>
      <p:sp>
        <p:nvSpPr>
          <p:cNvPr id="11" name="Text 8"/>
          <p:cNvSpPr/>
          <p:nvPr/>
        </p:nvSpPr>
        <p:spPr>
          <a:xfrm>
            <a:off x="5181600" y="2782822"/>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모델 (R6)</a:t>
            </a:r>
            <a:endParaRPr lang="en-US" sz="1200" dirty="0"/>
          </a:p>
        </p:txBody>
      </p:sp>
      <p:sp>
        <p:nvSpPr>
          <p:cNvPr id="12" name="Text 9"/>
          <p:cNvSpPr/>
          <p:nvPr/>
        </p:nvSpPr>
        <p:spPr>
          <a:xfrm>
            <a:off x="5181600" y="3046943"/>
            <a:ext cx="638352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233D"/>
                </a:solidFill>
                <a:latin typeface="IBM Plex Sans KR" pitchFamily="34" charset="0"/>
                <a:ea typeface="IBM Plex Sans KR" pitchFamily="34" charset="-122"/>
                <a:cs typeface="IBM Plex Sans KR" pitchFamily="34" charset="-120"/>
              </a:rPr>
              <a:t>외형 Ø82 × 36.5 mm · 50부품 · 50솔리드</a:t>
            </a:r>
            <a:endParaRPr lang="en-US" sz="1600" dirty="0"/>
          </a:p>
        </p:txBody>
      </p:sp>
      <p:sp>
        <p:nvSpPr>
          <p:cNvPr id="13" name="Shape 10"/>
          <p:cNvSpPr/>
          <p:nvPr/>
        </p:nvSpPr>
        <p:spPr>
          <a:xfrm>
            <a:off x="5181600" y="4291610"/>
            <a:ext cx="6197600" cy="0"/>
          </a:xfrm>
          <a:prstGeom prst="line">
            <a:avLst/>
          </a:prstGeom>
          <a:noFill/>
          <a:ln w="6350">
            <a:solidFill>
              <a:srgbClr val="D5DEE9"/>
            </a:solidFill>
            <a:prstDash val="solid"/>
          </a:ln>
        </p:spPr>
      </p:sp>
      <p:sp>
        <p:nvSpPr>
          <p:cNvPr id="14" name="Text 11"/>
          <p:cNvSpPr/>
          <p:nvPr/>
        </p:nvSpPr>
        <p:spPr>
          <a:xfrm>
            <a:off x="5181600" y="3615004"/>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구성</a:t>
            </a:r>
            <a:endParaRPr lang="en-US" sz="1200" dirty="0"/>
          </a:p>
        </p:txBody>
      </p:sp>
      <p:sp>
        <p:nvSpPr>
          <p:cNvPr id="15" name="Text 12"/>
          <p:cNvSpPr/>
          <p:nvPr/>
        </p:nvSpPr>
        <p:spPr>
          <a:xfrm>
            <a:off x="5181600" y="3879124"/>
            <a:ext cx="638352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233D"/>
                </a:solidFill>
                <a:latin typeface="IBM Plex Sans KR" pitchFamily="34" charset="0"/>
                <a:ea typeface="IBM Plex Sans KR" pitchFamily="34" charset="-122"/>
                <a:cs typeface="IBM Plex Sans KR" pitchFamily="34" charset="-120"/>
              </a:rPr>
              <a:t>외치기어 2장(역위상) · 출력핀·부시 각 8개 · 볼트 20개</a:t>
            </a:r>
            <a:endParaRPr lang="en-US" sz="1600" dirty="0"/>
          </a:p>
        </p:txBody>
      </p:sp>
      <p:sp>
        <p:nvSpPr>
          <p:cNvPr id="16" name="Text 13"/>
          <p:cNvSpPr/>
          <p:nvPr/>
        </p:nvSpPr>
        <p:spPr>
          <a:xfrm>
            <a:off x="5181600" y="4447183"/>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감속비</a:t>
            </a:r>
            <a:endParaRPr lang="en-US" sz="1200" dirty="0"/>
          </a:p>
        </p:txBody>
      </p:sp>
      <p:sp>
        <p:nvSpPr>
          <p:cNvPr id="17" name="Text 14"/>
          <p:cNvSpPr/>
          <p:nvPr/>
        </p:nvSpPr>
        <p:spPr>
          <a:xfrm>
            <a:off x="5181600" y="4711303"/>
            <a:ext cx="638352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0233D"/>
                </a:solidFill>
                <a:latin typeface="IBM Plex Sans KR" pitchFamily="34" charset="0"/>
                <a:ea typeface="IBM Plex Sans KR" pitchFamily="34" charset="-122"/>
                <a:cs typeface="IBM Plex Sans KR" pitchFamily="34" charset="-120"/>
              </a:rPr>
              <a:t>50 : 1 가정 (외치 50 / 내치 51)</a:t>
            </a:r>
            <a:endParaRPr lang="en-US" sz="16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외형·장착부 = 제조사 공개 STEP · 내부 치수·치형 = 검토용 재구성 · 감속비는 영상에서 미확인 · 필수 3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02 · 감속기 3D 모델</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감속기 50개 부품, 여덟 묶음</a:t>
            </a:r>
            <a:endParaRPr lang="en-US" sz="3200" dirty="0"/>
          </a:p>
        </p:txBody>
      </p:sp>
      <p:sp>
        <p:nvSpPr>
          <p:cNvPr id="4" name="Shape 2"/>
          <p:cNvSpPr/>
          <p:nvPr/>
        </p:nvSpPr>
        <p:spPr>
          <a:xfrm>
            <a:off x="812800" y="1899841"/>
            <a:ext cx="5207000" cy="3942159"/>
          </a:xfrm>
          <a:prstGeom prst="roundRect">
            <a:avLst>
              <a:gd name="adj" fmla="val 2577"/>
            </a:avLst>
          </a:prstGeom>
          <a:solidFill>
            <a:srgbClr val="101B29"/>
          </a:solidFill>
          <a:ln/>
        </p:spPr>
      </p:sp>
      <p:pic>
        <p:nvPicPr>
          <p:cNvPr id="5" name="Image 0" descr="BSR080 R6 감속기 전체 분해도, 외치기어 A는 노란색, B는 주황색, 입력축은 보라색, 출력핀은 회색, 부시는 초록색">    </p:cNvPr>
          <p:cNvPicPr>
            <a:picLocks noChangeAspect="1"/>
          </p:cNvPicPr>
          <p:nvPr/>
        </p:nvPicPr>
        <p:blipFill>
          <a:blip r:embed="rId1"/>
          <a:srcRect l="-2441" r="-2441" t="0" b="0"/>
          <a:stretch/>
        </p:blipFill>
        <p:spPr>
          <a:xfrm>
            <a:off x="1701800" y="2052241"/>
            <a:ext cx="3429000" cy="3175000"/>
          </a:xfrm>
          <a:prstGeom prst="rect">
            <a:avLst/>
          </a:prstGeom>
        </p:spPr>
      </p:pic>
      <p:sp>
        <p:nvSpPr>
          <p:cNvPr id="6" name="Text 3"/>
          <p:cNvSpPr/>
          <p:nvPr/>
        </p:nvSpPr>
        <p:spPr>
          <a:xfrm>
            <a:off x="1494473" y="5303441"/>
            <a:ext cx="384365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3C8"/>
                </a:solidFill>
                <a:latin typeface="IBM Plex Sans KR" pitchFamily="34" charset="0"/>
                <a:ea typeface="IBM Plex Sans KR" pitchFamily="34" charset="-122"/>
                <a:cs typeface="IBM Plex Sans KR" pitchFamily="34" charset="-120"/>
              </a:rPr>
              <a:t>전체 분해 · 노랑·주황 = 외치기어 A·B, 보라 = 입력축</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6500" y="1912541"/>
          <a:ext cx="5092700" cy="2993827"/>
        </p:xfrm>
        <a:graphic>
          <a:graphicData uri="http://schemas.openxmlformats.org/drawingml/2006/table">
            <a:tbl>
              <a:tblPr/>
              <a:tblGrid>
                <a:gridCol w="3870452"/>
                <a:gridCol w="1222248"/>
              </a:tblGrid>
              <a:tr h="332647">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부품 묶음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algn="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개수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입력·출력 커버, 일체형 내치기어 하우징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3</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외치기어 A · B</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입력축 (역위상 편심 저널 2개)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1</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 플랜지 · 출력핀</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9</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 부시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베어링 (단순 링)</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오일실 (추정)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커버 볼트 (앞·뒤 각 10)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algn="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8" name="Text 4"/>
          <p:cNvSpPr/>
          <p:nvPr/>
        </p:nvSpPr>
        <p:spPr>
          <a:xfrm>
            <a:off x="6273800" y="5033367"/>
            <a:ext cx="525856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이 모델이 9단계 공정과 해석 ①(베어링 압입)의 입력입니다.</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팀 R6 3D 뷰어(BSR080_Video_Assembly_R6_50_Parts.step) 캡처 · 분해 간격은 식별용 · 필수 3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02 · 제품 구조</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무엇이 확인된 값이고, 무엇이 추정인가</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874433"/>
        </p:xfrm>
        <a:graphic>
          <a:graphicData uri="http://schemas.openxmlformats.org/drawingml/2006/table">
            <a:tbl>
              <a:tblPr/>
              <a:tblGrid>
                <a:gridCol w="2743962"/>
                <a:gridCol w="4221480"/>
                <a:gridCol w="3588258"/>
              </a:tblGrid>
              <a:tr h="359304">
                <a:tc>
                  <a:txBody>
                    <a:bodyPr/>
                    <a:lstStyle/>
                    <a:p>
                      <a:pPr indent="0" marL="0">
                        <a:lnSpc>
                          <a:spcPts val="1820"/>
                        </a:lnSpc>
                        <a:buNone/>
                      </a:pPr>
                      <a:r>
                        <a:rPr lang="en-US" sz="1300" b="1" dirty="0">
                          <a:solidFill>
                            <a:srgbClr val="10233D"/>
                          </a:solidFill>
                          <a:latin typeface="IBM Plex Sans KR" pitchFamily="34" charset="0"/>
                          <a:ea typeface="IBM Plex Sans KR" pitchFamily="34" charset="-122"/>
                          <a:cs typeface="IBM Plex Sans KR" pitchFamily="34" charset="-120"/>
                        </a:rPr>
                        <a:t>부품</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820"/>
                        </a:lnSpc>
                        <a:buNone/>
                      </a:pPr>
                      <a:r>
                        <a:rPr lang="en-US" sz="1300" b="1" dirty="0">
                          <a:solidFill>
                            <a:srgbClr val="10233D"/>
                          </a:solidFill>
                          <a:latin typeface="IBM Plex Sans KR" pitchFamily="34" charset="0"/>
                          <a:ea typeface="IBM Plex Sans KR" pitchFamily="34" charset="-122"/>
                          <a:cs typeface="IBM Plex Sans KR" pitchFamily="34" charset="-120"/>
                        </a:rPr>
                        <a:t>역할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820"/>
                        </a:lnSpc>
                        <a:buNone/>
                      </a:pPr>
                      <a:r>
                        <a:rPr lang="en-US" sz="1300" b="1" dirty="0">
                          <a:solidFill>
                            <a:srgbClr val="10233D"/>
                          </a:solidFill>
                          <a:latin typeface="IBM Plex Sans KR" pitchFamily="34" charset="0"/>
                          <a:ea typeface="IBM Plex Sans KR" pitchFamily="34" charset="-122"/>
                          <a:cs typeface="IBM Plex Sans KR" pitchFamily="34" charset="-120"/>
                        </a:rPr>
                        <a:t>근거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커버 · 하우징 외형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장착면, 볼트 위치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제조사 공개 STEP</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일체형 내치기어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핀 없는 하우징 겸 내치기어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51치 가정 (치형 재구성)</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외치기어 A · B</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역위상으로 맞물려 하중 상쇄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영상 확인 · 치형 50치 가정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입력축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편심 0.4 mm 저널 2개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키 보어 원본 · 저널 가정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출력 플랜지 · 핀 · 부시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기어 회전을 출력으로 전달</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영상 확인 · 치수 추정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베어링 5 · 오일실 2</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축 지지, 윤활 밀봉</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위치 추정 · 단순 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볼트 20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입력·출력 커버 체결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제조사 공개 STEP</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이 모델만으로 실제 제품의 강도·수명·접촉압은 검증할 수 없음 · 해석은 경향 비교용 · 필수 3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65C0"/>
        </a:solidFill>
      </p:bgPr>
    </p:bg>
    <p:spTree>
      <p:nvGrpSpPr>
        <p:cNvPr id="1" name=""/>
        <p:cNvGrpSpPr/>
        <p:nvPr/>
      </p:nvGrpSpPr>
      <p:grpSpPr>
        <a:xfrm>
          <a:off x="0" y="0"/>
          <a:ext cx="0" cy="0"/>
          <a:chOff x="0" y="0"/>
          <a:chExt cx="0" cy="0"/>
        </a:xfrm>
      </p:grpSpPr>
      <p:sp>
        <p:nvSpPr>
          <p:cNvPr id="2" name="Text 0"/>
          <p:cNvSpPr/>
          <p:nvPr/>
        </p:nvSpPr>
        <p:spPr>
          <a:xfrm>
            <a:off x="812800" y="192537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7E9FB"/>
                </a:solidFill>
                <a:latin typeface="IBM Plex Sans KR" pitchFamily="34" charset="0"/>
                <a:ea typeface="IBM Plex Sans KR" pitchFamily="34" charset="-122"/>
                <a:cs typeface="IBM Plex Sans KR" pitchFamily="34" charset="-120"/>
              </a:rPr>
              <a:t>핵심 메시지</a:t>
            </a:r>
            <a:endParaRPr lang="en-US" sz="1200" dirty="0"/>
          </a:p>
        </p:txBody>
      </p:sp>
      <p:sp>
        <p:nvSpPr>
          <p:cNvPr id="3" name="Text 1"/>
          <p:cNvSpPr/>
          <p:nvPr>
            <p:ph type="title"/>
          </p:nvPr>
        </p:nvSpPr>
        <p:spPr>
          <a:xfrm>
            <a:off x="812800" y="2443494"/>
            <a:ext cx="10883392" cy="1427427"/>
          </a:xfrm>
          <a:prstGeom prst="rect">
            <a:avLst/>
          </a:prstGeom>
          <a:noFill/>
          <a:ln/>
        </p:spPr>
        <p:txBody>
          <a:bodyPr wrap="square" lIns="0" tIns="0" rIns="0" bIns="0" rtlCol="0" anchor="t">
            <a:normAutofit/>
          </a:bodyPr>
          <a:lstStyle/>
          <a:p>
            <a:pPr algn="l" indent="0" marL="0">
              <a:lnSpc>
                <a:spcPts val="5520"/>
              </a:lnSpc>
              <a:buNone/>
            </a:pPr>
            <a:r>
              <a:rPr lang="en-US" sz="4800" b="1" i="0" dirty="0">
                <a:solidFill>
                  <a:srgbClr val="F6F8FB"/>
                </a:solidFill>
                <a:latin typeface="IBM Plex Sans KR" pitchFamily="34" charset="0"/>
                <a:ea typeface="IBM Plex Sans KR" pitchFamily="34" charset="-122"/>
                <a:cs typeface="IBM Plex Sans KR" pitchFamily="34" charset="-120"/>
              </a:rPr>
              <a:t>자동화가 막히는 곳은</a:t>
            </a:r>
            <a:endParaRPr lang="en-US" sz="4800" dirty="0"/>
          </a:p>
          <a:p>
            <a:pPr algn="l" indent="0" marL="0">
              <a:lnSpc>
                <a:spcPts val="5520"/>
              </a:lnSpc>
              <a:buNone/>
            </a:pPr>
            <a:r>
              <a:rPr lang="en-US" sz="4800" b="1" i="0" dirty="0">
                <a:solidFill>
                  <a:srgbClr val="F6F8FB"/>
                </a:solidFill>
                <a:latin typeface="IBM Plex Sans KR" pitchFamily="34" charset="0"/>
                <a:ea typeface="IBM Plex Sans KR" pitchFamily="34" charset="-122"/>
                <a:cs typeface="IBM Plex Sans KR" pitchFamily="34" charset="-120"/>
              </a:rPr>
              <a:t>'변동'이다</a:t>
            </a:r>
            <a:endParaRPr lang="en-US" sz="4800" dirty="0"/>
          </a:p>
        </p:txBody>
      </p:sp>
      <p:sp>
        <p:nvSpPr>
          <p:cNvPr id="4" name="Text 2"/>
          <p:cNvSpPr/>
          <p:nvPr/>
        </p:nvSpPr>
        <p:spPr>
          <a:xfrm>
            <a:off x="812800" y="4150320"/>
            <a:ext cx="915670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E3EEFA"/>
                </a:solidFill>
                <a:latin typeface="IBM Plex Sans KR" pitchFamily="34" charset="0"/>
                <a:ea typeface="IBM Plex Sans KR" pitchFamily="34" charset="-122"/>
                <a:cs typeface="IBM Plex Sans KR" pitchFamily="34" charset="-120"/>
              </a:rPr>
              <a:t>공차·마찰·정렬이 조금만 달라져도 결과가 갈린다.</a:t>
            </a:r>
            <a:endParaRPr lang="en-US" sz="2200" dirty="0"/>
          </a:p>
          <a:p>
            <a:pPr algn="l" indent="0" marL="0">
              <a:lnSpc>
                <a:spcPts val="3080"/>
              </a:lnSpc>
              <a:buNone/>
            </a:pPr>
            <a:r>
              <a:rPr lang="en-US" sz="2200" dirty="0">
                <a:solidFill>
                  <a:srgbClr val="E3EEFA"/>
                </a:solidFill>
                <a:latin typeface="IBM Plex Sans KR" pitchFamily="34" charset="0"/>
                <a:ea typeface="IBM Plex Sans KR" pitchFamily="34" charset="-122"/>
                <a:cs typeface="IBM Plex Sans KR" pitchFamily="34" charset="-120"/>
              </a:rPr>
              <a:t>우리는 그 변동을 가상공장에서 먼저 잡는다.</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03 · 현재 제작 방식</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지금은 수작업, 자동 라인은 올해 등장</a:t>
            </a:r>
            <a:endParaRPr lang="en-US" sz="3200" dirty="0"/>
          </a:p>
        </p:txBody>
      </p:sp>
      <p:sp>
        <p:nvSpPr>
          <p:cNvPr id="4" name="Shape 2"/>
          <p:cNvSpPr/>
          <p:nvPr/>
        </p:nvSpPr>
        <p:spPr>
          <a:xfrm>
            <a:off x="815975" y="1903016"/>
            <a:ext cx="7004050" cy="880930"/>
          </a:xfrm>
          <a:prstGeom prst="roundRect">
            <a:avLst>
              <a:gd name="adj" fmla="val 11173"/>
            </a:avLst>
          </a:prstGeom>
          <a:solidFill>
            <a:srgbClr val="FCFDFE"/>
          </a:solidFill>
          <a:ln w="6350">
            <a:solidFill>
              <a:srgbClr val="D5DEE9"/>
            </a:solidFill>
            <a:prstDash val="solid"/>
          </a:ln>
        </p:spPr>
      </p:sp>
      <p:sp>
        <p:nvSpPr>
          <p:cNvPr id="5" name="Text 3"/>
          <p:cNvSpPr/>
          <p:nvPr/>
        </p:nvSpPr>
        <p:spPr>
          <a:xfrm>
            <a:off x="1020233" y="2081876"/>
            <a:ext cx="67934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삼현 (창원, 2026.7)</a:t>
            </a:r>
            <a:endParaRPr lang="en-US" sz="1600" dirty="0"/>
          </a:p>
        </p:txBody>
      </p:sp>
      <p:sp>
        <p:nvSpPr>
          <p:cNvPr id="6" name="Text 4"/>
          <p:cNvSpPr/>
          <p:nvPr/>
        </p:nvSpPr>
        <p:spPr>
          <a:xfrm>
            <a:off x="1020233" y="2376488"/>
            <a:ext cx="67966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휴머노이드 액추에이터 시장은 아직 소량 수작업에 가깝다고 진단. 자동차 부품의 자동화 생산을 적용할 계획</a:t>
            </a:r>
            <a:endParaRPr lang="en-US" sz="1200" dirty="0"/>
          </a:p>
        </p:txBody>
      </p:sp>
      <p:sp>
        <p:nvSpPr>
          <p:cNvPr id="7" name="Shape 5"/>
          <p:cNvSpPr/>
          <p:nvPr/>
        </p:nvSpPr>
        <p:spPr>
          <a:xfrm>
            <a:off x="815975" y="2917298"/>
            <a:ext cx="7004050" cy="1109530"/>
          </a:xfrm>
          <a:prstGeom prst="roundRect">
            <a:avLst>
              <a:gd name="adj" fmla="val 8871"/>
            </a:avLst>
          </a:prstGeom>
          <a:solidFill>
            <a:srgbClr val="FCFDFE"/>
          </a:solidFill>
          <a:ln w="6350">
            <a:solidFill>
              <a:srgbClr val="D5DEE9"/>
            </a:solidFill>
            <a:prstDash val="solid"/>
          </a:ln>
        </p:spPr>
      </p:sp>
      <p:sp>
        <p:nvSpPr>
          <p:cNvPr id="8" name="Text 6"/>
          <p:cNvSpPr/>
          <p:nvPr/>
        </p:nvSpPr>
        <p:spPr>
          <a:xfrm>
            <a:off x="1020233" y="3096158"/>
            <a:ext cx="67934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Eyou (상하이, 2026.1)</a:t>
            </a:r>
            <a:endParaRPr lang="en-US" sz="1600" dirty="0"/>
          </a:p>
        </p:txBody>
      </p:sp>
      <p:sp>
        <p:nvSpPr>
          <p:cNvPr id="9" name="Text 7"/>
          <p:cNvSpPr/>
          <p:nvPr/>
        </p:nvSpPr>
        <p:spPr>
          <a:xfrm>
            <a:off x="1020233" y="3390770"/>
            <a:ext cx="67934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과거 엔지니어 수작업 조립·디버깅 → 조립·캘리브레이션·시험 통합 자동 라인. 70초당 1개, 불량 목표 100 PPM</a:t>
            </a:r>
            <a:endParaRPr lang="en-US" sz="1200" dirty="0"/>
          </a:p>
        </p:txBody>
      </p:sp>
      <p:sp>
        <p:nvSpPr>
          <p:cNvPr id="10" name="Shape 8"/>
          <p:cNvSpPr/>
          <p:nvPr/>
        </p:nvSpPr>
        <p:spPr>
          <a:xfrm>
            <a:off x="815975" y="4160180"/>
            <a:ext cx="7004050" cy="880930"/>
          </a:xfrm>
          <a:prstGeom prst="roundRect">
            <a:avLst>
              <a:gd name="adj" fmla="val 11173"/>
            </a:avLst>
          </a:prstGeom>
          <a:solidFill>
            <a:srgbClr val="FCFDFE"/>
          </a:solidFill>
          <a:ln w="6350">
            <a:solidFill>
              <a:srgbClr val="D5DEE9"/>
            </a:solidFill>
            <a:prstDash val="solid"/>
          </a:ln>
        </p:spPr>
      </p:sp>
      <p:sp>
        <p:nvSpPr>
          <p:cNvPr id="11" name="Text 9"/>
          <p:cNvSpPr/>
          <p:nvPr/>
        </p:nvSpPr>
        <p:spPr>
          <a:xfrm>
            <a:off x="1020233" y="4339034"/>
            <a:ext cx="67934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포산 휴머노이드 라인 (2026.4)</a:t>
            </a:r>
            <a:endParaRPr lang="en-US" sz="1600" dirty="0"/>
          </a:p>
        </p:txBody>
      </p:sp>
      <p:sp>
        <p:nvSpPr>
          <p:cNvPr id="12" name="Text 10"/>
          <p:cNvSpPr/>
          <p:nvPr/>
        </p:nvSpPr>
        <p:spPr>
          <a:xfrm>
            <a:off x="1020233" y="4633652"/>
            <a:ext cx="67934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핵심 공정 92% 자동화. 비전 가이드·힘 제어 조립, 정밀 전동 부품 조립 오차 0.02 mm 이내</a:t>
            </a:r>
            <a:endParaRPr lang="en-US" sz="1200" dirty="0"/>
          </a:p>
        </p:txBody>
      </p:sp>
      <p:pic>
        <p:nvPicPr>
          <p:cNvPr id="13" name="Image 0" descr="작업자가 장갑 낀 손으로 감속기 내부 부품을 직접 조립하는 장면">    </p:cNvPr>
          <p:cNvPicPr>
            <a:picLocks noChangeAspect="1"/>
          </p:cNvPicPr>
          <p:nvPr/>
        </p:nvPicPr>
        <p:blipFill>
          <a:blip r:embed="rId1"/>
          <a:srcRect l="0" r="0" t="2137" b="2137"/>
          <a:stretch/>
        </p:blipFill>
        <p:spPr>
          <a:xfrm>
            <a:off x="8077200" y="1899841"/>
            <a:ext cx="3302000" cy="1778000"/>
          </a:xfrm>
          <a:prstGeom prst="roundRect">
            <a:avLst>
              <a:gd name="adj" fmla="val 4286"/>
            </a:avLst>
          </a:prstGeom>
        </p:spPr>
      </p:pic>
      <p:pic>
        <p:nvPicPr>
          <p:cNvPr id="14" name="Image 1" descr="작업자가 감속기를 시험 지그에 올리고 전동 드릴로 체결하는 장면">    </p:cNvPr>
          <p:cNvPicPr>
            <a:picLocks noChangeAspect="1"/>
          </p:cNvPicPr>
          <p:nvPr/>
        </p:nvPicPr>
        <p:blipFill>
          <a:blip r:embed="rId2"/>
          <a:srcRect l="0" r="0" t="2137" b="2137"/>
          <a:stretch/>
        </p:blipFill>
        <p:spPr>
          <a:xfrm>
            <a:off x="8077200" y="3754041"/>
            <a:ext cx="3302000" cy="1778000"/>
          </a:xfrm>
          <a:prstGeom prst="roundRect">
            <a:avLst>
              <a:gd name="adj" fmla="val 4286"/>
            </a:avLst>
          </a:prstGeom>
        </p:spPr>
      </p:pic>
      <p:sp>
        <p:nvSpPr>
          <p:cNvPr id="15" name="Text 11"/>
          <p:cNvSpPr/>
          <p:nvPr/>
        </p:nvSpPr>
        <p:spPr>
          <a:xfrm>
            <a:off x="8077200" y="560824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위: 손 조립 · 아래: 시험 지그 체결 (본시스템즈 영상)</a:t>
            </a:r>
            <a:endParaRPr lang="en-US" sz="1200"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출처: 디지털데일리 · 푸둥신구 · Gasgoo · China Daily · 사진: 본시스템즈 유튜브 영상 캡처 · 필수 4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03 · 현행 공정의 한계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수작업 조립에서는 판단이 사람에게 남는다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1929805"/>
        </p:xfrm>
        <a:graphic>
          <a:graphicData uri="http://schemas.openxmlformats.org/drawingml/2006/table">
            <a:tbl>
              <a:tblPr/>
              <a:tblGrid>
                <a:gridCol w="1899666"/>
                <a:gridCol w="4010406"/>
                <a:gridCol w="4643628"/>
              </a:tblGrid>
              <a:tr h="385961">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구간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사람이 판단하는 것</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놓치기 쉬운 불량</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정렬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부품이 곧게 놓였는지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기울어진 채 삽입 → 압입 불량</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압입</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끝까지 들어갔는지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덜 들어감 · 지나치게 들어감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체결</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토크가 찼는지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볼트 들뜸 · 나사산 손상</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예외</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불량을 어디로 보낼지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정의되지 않은 흐름 → 다음 공정으로 넘어감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Shape 2"/>
          <p:cNvSpPr/>
          <p:nvPr/>
        </p:nvSpPr>
        <p:spPr>
          <a:xfrm>
            <a:off x="831850" y="4248745"/>
            <a:ext cx="0" cy="406400"/>
          </a:xfrm>
          <a:prstGeom prst="line">
            <a:avLst/>
          </a:prstGeom>
          <a:noFill/>
          <a:ln w="38100">
            <a:solidFill>
              <a:srgbClr val="1976D2"/>
            </a:solidFill>
            <a:prstDash val="solid"/>
          </a:ln>
        </p:spPr>
      </p:sp>
      <p:sp>
        <p:nvSpPr>
          <p:cNvPr id="6" name="Text 3"/>
          <p:cNvSpPr/>
          <p:nvPr/>
        </p:nvSpPr>
        <p:spPr>
          <a:xfrm>
            <a:off x="1054100" y="4299545"/>
            <a:ext cx="10634853"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0233D"/>
                </a:solidFill>
                <a:latin typeface="IBM Plex Sans KR" pitchFamily="34" charset="0"/>
                <a:ea typeface="IBM Plex Sans KR" pitchFamily="34" charset="-122"/>
                <a:cs typeface="IBM Plex Sans KR" pitchFamily="34" charset="-120"/>
              </a:rPr>
              <a:t>자동화의 핵심은 결과 한 점이 아니라 </a:t>
            </a:r>
            <a:r>
              <a:rPr lang="en-US" sz="1600" b="1" dirty="0">
                <a:solidFill>
                  <a:srgbClr val="10233D"/>
                </a:solidFill>
                <a:latin typeface="IBM Plex Sans KR" pitchFamily="34" charset="0"/>
                <a:ea typeface="IBM Plex Sans KR" pitchFamily="34" charset="-122"/>
                <a:cs typeface="IBM Plex Sans KR" pitchFamily="34" charset="-120"/>
              </a:rPr>
              <a:t>과정 전체를 곡선으로 판정</a:t>
            </a:r>
            <a:r>
              <a:rPr lang="en-US" sz="1600" dirty="0">
                <a:solidFill>
                  <a:srgbClr val="10233D"/>
                </a:solidFill>
                <a:latin typeface="IBM Plex Sans KR" pitchFamily="34" charset="0"/>
                <a:ea typeface="IBM Plex Sans KR" pitchFamily="34" charset="-122"/>
                <a:cs typeface="IBM Plex Sans KR" pitchFamily="34" charset="-120"/>
              </a:rPr>
              <a:t>하는 것</a:t>
            </a:r>
            <a:endParaRPr lang="en-US" sz="16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팀 공정 자료 정리(10/7) 기준 · 필수 4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3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B5EE"/>
                </a:solidFill>
                <a:latin typeface="IBM Plex Sans KR" pitchFamily="34" charset="0"/>
                <a:ea typeface="IBM Plex Sans KR" pitchFamily="34" charset="-122"/>
                <a:cs typeface="IBM Plex Sans KR" pitchFamily="34" charset="-120"/>
              </a:rPr>
              <a:t>03 · 변동의 크기</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8FB"/>
                </a:solidFill>
                <a:latin typeface="IBM Plex Sans KR" pitchFamily="34" charset="0"/>
                <a:ea typeface="IBM Plex Sans KR" pitchFamily="34" charset="-122"/>
                <a:cs typeface="IBM Plex Sans KR" pitchFamily="34" charset="-120"/>
              </a:rPr>
              <a:t>작은 변동이 합격과 불합격을 가른다</a:t>
            </a:r>
            <a:endParaRPr lang="en-US" sz="3200" dirty="0"/>
          </a:p>
        </p:txBody>
      </p:sp>
      <p:sp>
        <p:nvSpPr>
          <p:cNvPr id="4" name="Shape 2"/>
          <p:cNvSpPr/>
          <p:nvPr/>
        </p:nvSpPr>
        <p:spPr>
          <a:xfrm>
            <a:off x="812800" y="1950641"/>
            <a:ext cx="5156200" cy="2118254"/>
          </a:xfrm>
          <a:prstGeom prst="roundRect">
            <a:avLst>
              <a:gd name="adj" fmla="val 4796"/>
            </a:avLst>
          </a:prstGeom>
          <a:solidFill>
            <a:srgbClr val="1A3352"/>
          </a:solidFill>
          <a:ln/>
        </p:spPr>
      </p:sp>
      <p:sp>
        <p:nvSpPr>
          <p:cNvPr id="5" name="Text 3"/>
          <p:cNvSpPr/>
          <p:nvPr/>
        </p:nvSpPr>
        <p:spPr>
          <a:xfrm>
            <a:off x="1117600" y="2255441"/>
            <a:ext cx="46829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FD0E3"/>
                </a:solidFill>
                <a:latin typeface="IBM Plex Sans KR" pitchFamily="34" charset="0"/>
                <a:ea typeface="IBM Plex Sans KR" pitchFamily="34" charset="-122"/>
                <a:cs typeface="IBM Plex Sans KR" pitchFamily="34" charset="-120"/>
              </a:rPr>
              <a:t>M3 볼트 · 같은 체결 조건</a:t>
            </a:r>
            <a:endParaRPr lang="en-US" sz="1600" dirty="0"/>
          </a:p>
        </p:txBody>
      </p:sp>
      <p:sp>
        <p:nvSpPr>
          <p:cNvPr id="6" name="Text 4"/>
          <p:cNvSpPr/>
          <p:nvPr/>
        </p:nvSpPr>
        <p:spPr>
          <a:xfrm>
            <a:off x="1117600" y="2626258"/>
            <a:ext cx="1148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마찰계수 0.15</a:t>
            </a:r>
            <a:endParaRPr lang="en-US" sz="1200" dirty="0"/>
          </a:p>
        </p:txBody>
      </p:sp>
      <p:sp>
        <p:nvSpPr>
          <p:cNvPr id="7" name="Text 5"/>
          <p:cNvSpPr/>
          <p:nvPr/>
        </p:nvSpPr>
        <p:spPr>
          <a:xfrm>
            <a:off x="1117600" y="2890379"/>
            <a:ext cx="131675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F8FB"/>
                </a:solidFill>
                <a:latin typeface="IBM Plex Sans KR" pitchFamily="34" charset="0"/>
                <a:ea typeface="IBM Plex Sans KR" pitchFamily="34" charset="-122"/>
                <a:cs typeface="IBM Plex Sans KR" pitchFamily="34" charset="-120"/>
              </a:rPr>
              <a:t>387</a:t>
            </a:r>
            <a:endParaRPr lang="en-US" sz="4800" dirty="0"/>
          </a:p>
        </p:txBody>
      </p:sp>
      <p:sp>
        <p:nvSpPr>
          <p:cNvPr id="8" name="Text 6"/>
          <p:cNvSpPr/>
          <p:nvPr/>
        </p:nvSpPr>
        <p:spPr>
          <a:xfrm>
            <a:off x="1117600" y="3550779"/>
            <a:ext cx="1148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MPa · 합격</a:t>
            </a:r>
            <a:endParaRPr lang="en-US" sz="1200" dirty="0"/>
          </a:p>
        </p:txBody>
      </p:sp>
      <p:sp>
        <p:nvSpPr>
          <p:cNvPr id="9" name="Text 7"/>
          <p:cNvSpPr/>
          <p:nvPr/>
        </p:nvSpPr>
        <p:spPr>
          <a:xfrm>
            <a:off x="2519693" y="2626258"/>
            <a:ext cx="1358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마찰계수 0.25</a:t>
            </a:r>
            <a:endParaRPr lang="en-US" sz="1200" dirty="0"/>
          </a:p>
        </p:txBody>
      </p:sp>
      <p:sp>
        <p:nvSpPr>
          <p:cNvPr id="10" name="Text 8"/>
          <p:cNvSpPr/>
          <p:nvPr/>
        </p:nvSpPr>
        <p:spPr>
          <a:xfrm>
            <a:off x="2519693" y="2890379"/>
            <a:ext cx="135843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4A261"/>
                </a:solidFill>
                <a:latin typeface="IBM Plex Sans KR" pitchFamily="34" charset="0"/>
                <a:ea typeface="IBM Plex Sans KR" pitchFamily="34" charset="-122"/>
                <a:cs typeface="IBM Plex Sans KR" pitchFamily="34" charset="-120"/>
              </a:rPr>
              <a:t>497</a:t>
            </a:r>
            <a:endParaRPr lang="en-US" sz="4800" dirty="0"/>
          </a:p>
        </p:txBody>
      </p:sp>
      <p:sp>
        <p:nvSpPr>
          <p:cNvPr id="11" name="Text 9"/>
          <p:cNvSpPr/>
          <p:nvPr/>
        </p:nvSpPr>
        <p:spPr>
          <a:xfrm>
            <a:off x="2519693" y="3550779"/>
            <a:ext cx="15691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A261"/>
                </a:solidFill>
                <a:latin typeface="IBM Plex Sans KR" pitchFamily="34" charset="0"/>
                <a:ea typeface="IBM Plex Sans KR" pitchFamily="34" charset="-122"/>
                <a:cs typeface="IBM Plex Sans KR" pitchFamily="34" charset="-120"/>
              </a:rPr>
              <a:t>MPa · 내력 450 초과</a:t>
            </a:r>
            <a:endParaRPr lang="en-US" sz="1200" dirty="0"/>
          </a:p>
        </p:txBody>
      </p:sp>
      <p:sp>
        <p:nvSpPr>
          <p:cNvPr id="12" name="Shape 10"/>
          <p:cNvSpPr/>
          <p:nvPr/>
        </p:nvSpPr>
        <p:spPr>
          <a:xfrm>
            <a:off x="6223000" y="1950641"/>
            <a:ext cx="5156200" cy="2118254"/>
          </a:xfrm>
          <a:prstGeom prst="roundRect">
            <a:avLst>
              <a:gd name="adj" fmla="val 4796"/>
            </a:avLst>
          </a:prstGeom>
          <a:solidFill>
            <a:srgbClr val="1A3352"/>
          </a:solidFill>
          <a:ln/>
        </p:spPr>
      </p:sp>
      <p:sp>
        <p:nvSpPr>
          <p:cNvPr id="13" name="Text 11"/>
          <p:cNvSpPr/>
          <p:nvPr/>
        </p:nvSpPr>
        <p:spPr>
          <a:xfrm>
            <a:off x="6527800" y="2255441"/>
            <a:ext cx="46829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FD0E3"/>
                </a:solidFill>
                <a:latin typeface="IBM Plex Sans KR" pitchFamily="34" charset="0"/>
                <a:ea typeface="IBM Plex Sans KR" pitchFamily="34" charset="-122"/>
                <a:cs typeface="IBM Plex Sans KR" pitchFamily="34" charset="-120"/>
              </a:rPr>
              <a:t>베어링 압입 · 간섭 10 μm</a:t>
            </a:r>
            <a:endParaRPr lang="en-US" sz="1600" dirty="0"/>
          </a:p>
        </p:txBody>
      </p:sp>
      <p:sp>
        <p:nvSpPr>
          <p:cNvPr id="14" name="Text 12"/>
          <p:cNvSpPr/>
          <p:nvPr/>
        </p:nvSpPr>
        <p:spPr>
          <a:xfrm>
            <a:off x="6527800" y="2626258"/>
            <a:ext cx="9713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접촉압</a:t>
            </a:r>
            <a:endParaRPr lang="en-US" sz="1200" dirty="0"/>
          </a:p>
        </p:txBody>
      </p:sp>
      <p:sp>
        <p:nvSpPr>
          <p:cNvPr id="15" name="Text 13"/>
          <p:cNvSpPr/>
          <p:nvPr/>
        </p:nvSpPr>
        <p:spPr>
          <a:xfrm>
            <a:off x="6527800" y="2890379"/>
            <a:ext cx="11046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F8FB"/>
                </a:solidFill>
                <a:latin typeface="IBM Plex Sans KR" pitchFamily="34" charset="0"/>
                <a:ea typeface="IBM Plex Sans KR" pitchFamily="34" charset="-122"/>
                <a:cs typeface="IBM Plex Sans KR" pitchFamily="34" charset="-120"/>
              </a:rPr>
              <a:t>8.5</a:t>
            </a:r>
            <a:endParaRPr lang="en-US" sz="4800" dirty="0"/>
          </a:p>
        </p:txBody>
      </p:sp>
      <p:sp>
        <p:nvSpPr>
          <p:cNvPr id="16" name="Text 14"/>
          <p:cNvSpPr/>
          <p:nvPr/>
        </p:nvSpPr>
        <p:spPr>
          <a:xfrm>
            <a:off x="6527800" y="3550779"/>
            <a:ext cx="9713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MPa</a:t>
            </a:r>
            <a:endParaRPr lang="en-US" sz="1200" dirty="0"/>
          </a:p>
        </p:txBody>
      </p:sp>
      <p:sp>
        <p:nvSpPr>
          <p:cNvPr id="17" name="Text 15"/>
          <p:cNvSpPr/>
          <p:nvPr/>
        </p:nvSpPr>
        <p:spPr>
          <a:xfrm>
            <a:off x="7753152" y="2626258"/>
            <a:ext cx="1148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미끄럼 저항</a:t>
            </a:r>
            <a:endParaRPr lang="en-US" sz="1200" dirty="0"/>
          </a:p>
        </p:txBody>
      </p:sp>
      <p:sp>
        <p:nvSpPr>
          <p:cNvPr id="18" name="Text 16"/>
          <p:cNvSpPr/>
          <p:nvPr/>
        </p:nvSpPr>
        <p:spPr>
          <a:xfrm>
            <a:off x="7753152" y="2890379"/>
            <a:ext cx="131675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F8FB"/>
                </a:solidFill>
                <a:latin typeface="IBM Plex Sans KR" pitchFamily="34" charset="0"/>
                <a:ea typeface="IBM Plex Sans KR" pitchFamily="34" charset="-122"/>
                <a:cs typeface="IBM Plex Sans KR" pitchFamily="34" charset="-120"/>
              </a:rPr>
              <a:t>384</a:t>
            </a:r>
            <a:endParaRPr lang="en-US" sz="4800" dirty="0"/>
          </a:p>
        </p:txBody>
      </p:sp>
      <p:sp>
        <p:nvSpPr>
          <p:cNvPr id="19" name="Text 17"/>
          <p:cNvSpPr/>
          <p:nvPr/>
        </p:nvSpPr>
        <p:spPr>
          <a:xfrm>
            <a:off x="7753152" y="3550779"/>
            <a:ext cx="1148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N</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IBM Plex Sans KR" pitchFamily="34" charset="0"/>
                <a:ea typeface="IBM Plex Sans KR" pitchFamily="34" charset="-122"/>
                <a:cs typeface="IBM Plex Sans KR" pitchFamily="34" charset="-120"/>
              </a:rPr>
              <a:t>이전 모델(R5) 입력 기준 손계산 · R6 치수로 재계산 예정 · 해석 결과 아님 · 필수 4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03 · 관심 공정</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가공이 아니라 조립 — 변동이 품질을 정하는 구간</a:t>
            </a:r>
            <a:endParaRPr lang="en-US" sz="3200" dirty="0"/>
          </a:p>
        </p:txBody>
      </p:sp>
      <p:sp>
        <p:nvSpPr>
          <p:cNvPr id="4" name="Shape 2"/>
          <p:cNvSpPr/>
          <p:nvPr/>
        </p:nvSpPr>
        <p:spPr>
          <a:xfrm>
            <a:off x="815975" y="1953816"/>
            <a:ext cx="2520950" cy="1556544"/>
          </a:xfrm>
          <a:prstGeom prst="roundRect">
            <a:avLst>
              <a:gd name="adj" fmla="val 6323"/>
            </a:avLst>
          </a:prstGeom>
          <a:solidFill>
            <a:srgbClr val="FCFDFE"/>
          </a:solidFill>
          <a:ln w="6350">
            <a:solidFill>
              <a:srgbClr val="D5DEE9"/>
            </a:solidFill>
            <a:prstDash val="solid"/>
          </a:ln>
        </p:spPr>
      </p:sp>
      <p:sp>
        <p:nvSpPr>
          <p:cNvPr id="5" name="Text 3"/>
          <p:cNvSpPr/>
          <p:nvPr/>
        </p:nvSpPr>
        <p:spPr>
          <a:xfrm>
            <a:off x="1045633" y="2183476"/>
            <a:ext cx="212348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76D2"/>
                </a:solidFill>
                <a:latin typeface="IBM Plex Sans KR" pitchFamily="34" charset="0"/>
                <a:ea typeface="IBM Plex Sans KR" pitchFamily="34" charset="-122"/>
                <a:cs typeface="IBM Plex Sans KR" pitchFamily="34" charset="-120"/>
              </a:rPr>
              <a:t>압입</a:t>
            </a:r>
            <a:endParaRPr lang="en-US" sz="2200" dirty="0"/>
          </a:p>
        </p:txBody>
      </p:sp>
      <p:sp>
        <p:nvSpPr>
          <p:cNvPr id="6" name="Text 4"/>
          <p:cNvSpPr/>
          <p:nvPr/>
        </p:nvSpPr>
        <p:spPr>
          <a:xfrm>
            <a:off x="1045633" y="2594905"/>
            <a:ext cx="212348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베어링·오일실을 커버와 하우징에 끼워 넣기. 간섭량과 기울어짐이 결과를 정함</a:t>
            </a:r>
            <a:endParaRPr lang="en-US" sz="1200" dirty="0"/>
          </a:p>
        </p:txBody>
      </p:sp>
      <p:sp>
        <p:nvSpPr>
          <p:cNvPr id="7" name="Shape 5"/>
          <p:cNvSpPr/>
          <p:nvPr/>
        </p:nvSpPr>
        <p:spPr>
          <a:xfrm>
            <a:off x="3495675" y="1953816"/>
            <a:ext cx="2520950" cy="1556544"/>
          </a:xfrm>
          <a:prstGeom prst="roundRect">
            <a:avLst>
              <a:gd name="adj" fmla="val 6323"/>
            </a:avLst>
          </a:prstGeom>
          <a:solidFill>
            <a:srgbClr val="FCFDFE"/>
          </a:solidFill>
          <a:ln w="6350">
            <a:solidFill>
              <a:srgbClr val="D5DEE9"/>
            </a:solidFill>
            <a:prstDash val="solid"/>
          </a:ln>
        </p:spPr>
      </p:sp>
      <p:sp>
        <p:nvSpPr>
          <p:cNvPr id="8" name="Text 6"/>
          <p:cNvSpPr/>
          <p:nvPr/>
        </p:nvSpPr>
        <p:spPr>
          <a:xfrm>
            <a:off x="3725333" y="2183476"/>
            <a:ext cx="212348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76D2"/>
                </a:solidFill>
                <a:latin typeface="IBM Plex Sans KR" pitchFamily="34" charset="0"/>
                <a:ea typeface="IBM Plex Sans KR" pitchFamily="34" charset="-122"/>
                <a:cs typeface="IBM Plex Sans KR" pitchFamily="34" charset="-120"/>
              </a:rPr>
              <a:t>삽입</a:t>
            </a:r>
            <a:endParaRPr lang="en-US" sz="2200" dirty="0"/>
          </a:p>
        </p:txBody>
      </p:sp>
      <p:sp>
        <p:nvSpPr>
          <p:cNvPr id="9" name="Text 7"/>
          <p:cNvSpPr/>
          <p:nvPr/>
        </p:nvSpPr>
        <p:spPr>
          <a:xfrm>
            <a:off x="3725333" y="2594905"/>
            <a:ext cx="212348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편심축·외치기어 2장, 출력 플랜지 넣기. 위상과 정렬이 맞아야 들어감</a:t>
            </a:r>
            <a:endParaRPr lang="en-US" sz="1200" dirty="0"/>
          </a:p>
        </p:txBody>
      </p:sp>
      <p:sp>
        <p:nvSpPr>
          <p:cNvPr id="10" name="Shape 8"/>
          <p:cNvSpPr/>
          <p:nvPr/>
        </p:nvSpPr>
        <p:spPr>
          <a:xfrm>
            <a:off x="6175375" y="1953816"/>
            <a:ext cx="2520950" cy="1556544"/>
          </a:xfrm>
          <a:prstGeom prst="roundRect">
            <a:avLst>
              <a:gd name="adj" fmla="val 6323"/>
            </a:avLst>
          </a:prstGeom>
          <a:solidFill>
            <a:srgbClr val="FCFDFE"/>
          </a:solidFill>
          <a:ln w="6350">
            <a:solidFill>
              <a:srgbClr val="D5DEE9"/>
            </a:solidFill>
            <a:prstDash val="solid"/>
          </a:ln>
        </p:spPr>
      </p:sp>
      <p:sp>
        <p:nvSpPr>
          <p:cNvPr id="11" name="Text 9"/>
          <p:cNvSpPr/>
          <p:nvPr/>
        </p:nvSpPr>
        <p:spPr>
          <a:xfrm>
            <a:off x="6405033" y="2183476"/>
            <a:ext cx="212348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76D2"/>
                </a:solidFill>
                <a:latin typeface="IBM Plex Sans KR" pitchFamily="34" charset="0"/>
                <a:ea typeface="IBM Plex Sans KR" pitchFamily="34" charset="-122"/>
                <a:cs typeface="IBM Plex Sans KR" pitchFamily="34" charset="-120"/>
              </a:rPr>
              <a:t>체결</a:t>
            </a:r>
            <a:endParaRPr lang="en-US" sz="2200" dirty="0"/>
          </a:p>
        </p:txBody>
      </p:sp>
      <p:sp>
        <p:nvSpPr>
          <p:cNvPr id="12" name="Text 10"/>
          <p:cNvSpPr/>
          <p:nvPr/>
        </p:nvSpPr>
        <p:spPr>
          <a:xfrm>
            <a:off x="6405033" y="2594905"/>
            <a:ext cx="212348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커버 볼트 앞뒤 20개. 마찰이 달라지면 같은 토크에서도 축력이 달라짐</a:t>
            </a:r>
            <a:endParaRPr lang="en-US" sz="1200" dirty="0"/>
          </a:p>
        </p:txBody>
      </p:sp>
      <p:sp>
        <p:nvSpPr>
          <p:cNvPr id="13" name="Shape 11"/>
          <p:cNvSpPr/>
          <p:nvPr/>
        </p:nvSpPr>
        <p:spPr>
          <a:xfrm>
            <a:off x="8855075" y="1953816"/>
            <a:ext cx="2520950" cy="1556544"/>
          </a:xfrm>
          <a:prstGeom prst="roundRect">
            <a:avLst>
              <a:gd name="adj" fmla="val 6323"/>
            </a:avLst>
          </a:prstGeom>
          <a:solidFill>
            <a:srgbClr val="FCFDFE"/>
          </a:solidFill>
          <a:ln w="6350">
            <a:solidFill>
              <a:srgbClr val="D5DEE9"/>
            </a:solidFill>
            <a:prstDash val="solid"/>
          </a:ln>
        </p:spPr>
      </p:sp>
      <p:sp>
        <p:nvSpPr>
          <p:cNvPr id="14" name="Text 12"/>
          <p:cNvSpPr/>
          <p:nvPr/>
        </p:nvSpPr>
        <p:spPr>
          <a:xfrm>
            <a:off x="9084734" y="2183476"/>
            <a:ext cx="2123482"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76D2"/>
                </a:solidFill>
                <a:latin typeface="IBM Plex Sans KR" pitchFamily="34" charset="0"/>
                <a:ea typeface="IBM Plex Sans KR" pitchFamily="34" charset="-122"/>
                <a:cs typeface="IBM Plex Sans KR" pitchFamily="34" charset="-120"/>
              </a:rPr>
              <a:t>검사</a:t>
            </a:r>
            <a:endParaRPr lang="en-US" sz="2200" dirty="0"/>
          </a:p>
        </p:txBody>
      </p:sp>
      <p:sp>
        <p:nvSpPr>
          <p:cNvPr id="15" name="Text 13"/>
          <p:cNvSpPr/>
          <p:nvPr/>
        </p:nvSpPr>
        <p:spPr>
          <a:xfrm>
            <a:off x="9084734" y="2594905"/>
            <a:ext cx="212348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완성품 회전 토크·백래시 측정. 결과에 따라 다음 흐름이 갈림</a:t>
            </a:r>
            <a:endParaRPr lang="en-US" sz="1200" dirty="0"/>
          </a:p>
        </p:txBody>
      </p:sp>
      <p:sp>
        <p:nvSpPr>
          <p:cNvPr id="16" name="Text 14"/>
          <p:cNvSpPr/>
          <p:nvPr/>
        </p:nvSpPr>
        <p:spPr>
          <a:xfrm>
            <a:off x="812800" y="3869134"/>
            <a:ext cx="1088339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가공 공정은 범위 밖 — 부품은 입고품으로 받고, 조립과 검사를 구현합니다.</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5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04 · 구현 범위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조립·검사 컨베이어 라인 하나와 라인 옆 AMR</a:t>
            </a:r>
            <a:endParaRPr lang="en-US" sz="3200" dirty="0"/>
          </a:p>
        </p:txBody>
      </p:sp>
      <p:sp>
        <p:nvSpPr>
          <p:cNvPr id="4" name="Shape 2"/>
          <p:cNvSpPr/>
          <p:nvPr/>
        </p:nvSpPr>
        <p:spPr>
          <a:xfrm>
            <a:off x="815975" y="3047603"/>
            <a:ext cx="1263650" cy="921544"/>
          </a:xfrm>
          <a:prstGeom prst="roundRect">
            <a:avLst>
              <a:gd name="adj" fmla="val 10680"/>
            </a:avLst>
          </a:prstGeom>
          <a:solidFill>
            <a:srgbClr val="EAF0F7"/>
          </a:solidFill>
          <a:ln w="6350">
            <a:solidFill>
              <a:srgbClr val="C3D0DE"/>
            </a:solidFill>
            <a:prstDash val="solid"/>
          </a:ln>
        </p:spPr>
      </p:sp>
      <p:sp>
        <p:nvSpPr>
          <p:cNvPr id="5" name="Text 3"/>
          <p:cNvSpPr/>
          <p:nvPr/>
        </p:nvSpPr>
        <p:spPr>
          <a:xfrm>
            <a:off x="1041956" y="3251864"/>
            <a:ext cx="811689"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4A5568"/>
                </a:solidFill>
                <a:latin typeface="IBM Plex Sans KR" pitchFamily="34" charset="0"/>
                <a:ea typeface="IBM Plex Sans KR" pitchFamily="34" charset="-122"/>
                <a:cs typeface="IBM Plex Sans KR" pitchFamily="34" charset="-120"/>
              </a:rPr>
              <a:t>부품 입고</a:t>
            </a:r>
            <a:endParaRPr lang="en-US" sz="1400" dirty="0"/>
          </a:p>
        </p:txBody>
      </p:sp>
      <p:sp>
        <p:nvSpPr>
          <p:cNvPr id="6" name="Text 4"/>
          <p:cNvSpPr/>
          <p:nvPr/>
        </p:nvSpPr>
        <p:spPr>
          <a:xfrm>
            <a:off x="1181497" y="3551572"/>
            <a:ext cx="5326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범위 밖</a:t>
            </a:r>
            <a:endParaRPr lang="en-US" sz="1200" dirty="0"/>
          </a:p>
        </p:txBody>
      </p:sp>
      <p:pic>
        <p:nvPicPr>
          <p:cNvPr id="7" name="Image 0" descr="arrow-right">    </p:cNvPr>
          <p:cNvPicPr>
            <a:picLocks noChangeAspect="1"/>
          </p:cNvPicPr>
          <p:nvPr/>
        </p:nvPicPr>
        <p:blipFill>
          <a:blip r:embed="rId1"/>
          <a:srcRect l="0" r="0" t="0" b="0"/>
          <a:stretch/>
        </p:blipFill>
        <p:spPr>
          <a:xfrm>
            <a:off x="2209800" y="3432175"/>
            <a:ext cx="304800" cy="152400"/>
          </a:xfrm>
          <a:prstGeom prst="rect">
            <a:avLst/>
          </a:prstGeom>
        </p:spPr>
      </p:pic>
      <p:sp>
        <p:nvSpPr>
          <p:cNvPr id="8" name="Shape 5"/>
          <p:cNvSpPr/>
          <p:nvPr/>
        </p:nvSpPr>
        <p:spPr>
          <a:xfrm>
            <a:off x="2651125" y="1960166"/>
            <a:ext cx="6889750" cy="3096485"/>
          </a:xfrm>
          <a:prstGeom prst="roundRect">
            <a:avLst>
              <a:gd name="adj" fmla="val 3794"/>
            </a:avLst>
          </a:prstGeom>
          <a:solidFill>
            <a:srgbClr val="E3EEFA"/>
          </a:solidFill>
          <a:ln w="19050">
            <a:solidFill>
              <a:srgbClr val="1976D2"/>
            </a:solidFill>
            <a:prstDash val="solid"/>
          </a:ln>
        </p:spPr>
      </p:sp>
      <p:sp>
        <p:nvSpPr>
          <p:cNvPr id="9" name="Text 6"/>
          <p:cNvSpPr/>
          <p:nvPr/>
        </p:nvSpPr>
        <p:spPr>
          <a:xfrm>
            <a:off x="2861733" y="2170776"/>
            <a:ext cx="66625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65C0"/>
                </a:solidFill>
                <a:latin typeface="IBM Plex Sans KR" pitchFamily="34" charset="0"/>
                <a:ea typeface="IBM Plex Sans KR" pitchFamily="34" charset="-122"/>
                <a:cs typeface="IBM Plex Sans KR" pitchFamily="34" charset="-120"/>
              </a:rPr>
              <a:t>구현 범위</a:t>
            </a:r>
            <a:endParaRPr lang="en-US" sz="1200" dirty="0"/>
          </a:p>
        </p:txBody>
      </p:sp>
      <p:sp>
        <p:nvSpPr>
          <p:cNvPr id="10" name="Shape 7"/>
          <p:cNvSpPr/>
          <p:nvPr/>
        </p:nvSpPr>
        <p:spPr>
          <a:xfrm>
            <a:off x="2864908" y="2514271"/>
            <a:ext cx="2082073" cy="799637"/>
          </a:xfrm>
          <a:prstGeom prst="roundRect">
            <a:avLst>
              <a:gd name="adj" fmla="val 9132"/>
            </a:avLst>
          </a:prstGeom>
          <a:solidFill>
            <a:srgbClr val="FCFDFE"/>
          </a:solidFill>
          <a:ln w="6350">
            <a:solidFill>
              <a:srgbClr val="D5DEE9"/>
            </a:solidFill>
            <a:prstDash val="solid"/>
          </a:ln>
        </p:spPr>
      </p:sp>
      <p:sp>
        <p:nvSpPr>
          <p:cNvPr id="11" name="Text 8"/>
          <p:cNvSpPr/>
          <p:nvPr/>
        </p:nvSpPr>
        <p:spPr>
          <a:xfrm>
            <a:off x="3018367" y="2667732"/>
            <a:ext cx="18284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01–03 · 자동</a:t>
            </a:r>
            <a:endParaRPr lang="en-US" sz="1200" dirty="0"/>
          </a:p>
        </p:txBody>
      </p:sp>
      <p:sp>
        <p:nvSpPr>
          <p:cNvPr id="12" name="Text 9"/>
          <p:cNvSpPr/>
          <p:nvPr/>
        </p:nvSpPr>
        <p:spPr>
          <a:xfrm>
            <a:off x="3018367" y="2931852"/>
            <a:ext cx="18284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33D"/>
                </a:solidFill>
                <a:latin typeface="IBM Plex Sans KR" pitchFamily="34" charset="0"/>
                <a:ea typeface="IBM Plex Sans KR" pitchFamily="34" charset="-122"/>
                <a:cs typeface="IBM Plex Sans KR" pitchFamily="34" charset="-120"/>
              </a:rPr>
              <a:t>입력측 조립</a:t>
            </a:r>
            <a:endParaRPr lang="en-US" sz="1500" dirty="0"/>
          </a:p>
        </p:txBody>
      </p:sp>
      <p:sp>
        <p:nvSpPr>
          <p:cNvPr id="13" name="Shape 10"/>
          <p:cNvSpPr/>
          <p:nvPr/>
        </p:nvSpPr>
        <p:spPr>
          <a:xfrm>
            <a:off x="5054931" y="2514271"/>
            <a:ext cx="2082139" cy="799637"/>
          </a:xfrm>
          <a:prstGeom prst="roundRect">
            <a:avLst>
              <a:gd name="adj" fmla="val 9132"/>
            </a:avLst>
          </a:prstGeom>
          <a:solidFill>
            <a:srgbClr val="FCFDFE"/>
          </a:solidFill>
          <a:ln w="6350">
            <a:solidFill>
              <a:srgbClr val="D5DEE9"/>
            </a:solidFill>
            <a:prstDash val="solid"/>
          </a:ln>
        </p:spPr>
      </p:sp>
      <p:sp>
        <p:nvSpPr>
          <p:cNvPr id="14" name="Text 11"/>
          <p:cNvSpPr/>
          <p:nvPr/>
        </p:nvSpPr>
        <p:spPr>
          <a:xfrm>
            <a:off x="5208389" y="2667732"/>
            <a:ext cx="18284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04–06 · 자동</a:t>
            </a:r>
            <a:endParaRPr lang="en-US" sz="1200" dirty="0"/>
          </a:p>
        </p:txBody>
      </p:sp>
      <p:sp>
        <p:nvSpPr>
          <p:cNvPr id="15" name="Text 12"/>
          <p:cNvSpPr/>
          <p:nvPr/>
        </p:nvSpPr>
        <p:spPr>
          <a:xfrm>
            <a:off x="5208389" y="2931852"/>
            <a:ext cx="18284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33D"/>
                </a:solidFill>
                <a:latin typeface="IBM Plex Sans KR" pitchFamily="34" charset="0"/>
                <a:ea typeface="IBM Plex Sans KR" pitchFamily="34" charset="-122"/>
                <a:cs typeface="IBM Plex Sans KR" pitchFamily="34" charset="-120"/>
              </a:rPr>
              <a:t>내부 조립</a:t>
            </a:r>
            <a:endParaRPr lang="en-US" sz="1500" dirty="0"/>
          </a:p>
        </p:txBody>
      </p:sp>
      <p:sp>
        <p:nvSpPr>
          <p:cNvPr id="16" name="Shape 13"/>
          <p:cNvSpPr/>
          <p:nvPr/>
        </p:nvSpPr>
        <p:spPr>
          <a:xfrm>
            <a:off x="7245020" y="2514271"/>
            <a:ext cx="2082073" cy="799637"/>
          </a:xfrm>
          <a:prstGeom prst="roundRect">
            <a:avLst>
              <a:gd name="adj" fmla="val 9132"/>
            </a:avLst>
          </a:prstGeom>
          <a:solidFill>
            <a:srgbClr val="FCFDFE"/>
          </a:solidFill>
          <a:ln w="6350">
            <a:solidFill>
              <a:srgbClr val="D5DEE9"/>
            </a:solidFill>
            <a:prstDash val="solid"/>
          </a:ln>
        </p:spPr>
      </p:sp>
      <p:sp>
        <p:nvSpPr>
          <p:cNvPr id="17" name="Text 14"/>
          <p:cNvSpPr/>
          <p:nvPr/>
        </p:nvSpPr>
        <p:spPr>
          <a:xfrm>
            <a:off x="7398478" y="2667732"/>
            <a:ext cx="18284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07–09 · 자동</a:t>
            </a:r>
            <a:endParaRPr lang="en-US" sz="1200" dirty="0"/>
          </a:p>
        </p:txBody>
      </p:sp>
      <p:sp>
        <p:nvSpPr>
          <p:cNvPr id="18" name="Text 15"/>
          <p:cNvSpPr/>
          <p:nvPr/>
        </p:nvSpPr>
        <p:spPr>
          <a:xfrm>
            <a:off x="7398478" y="2931852"/>
            <a:ext cx="18284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33D"/>
                </a:solidFill>
                <a:latin typeface="IBM Plex Sans KR" pitchFamily="34" charset="0"/>
                <a:ea typeface="IBM Plex Sans KR" pitchFamily="34" charset="-122"/>
                <a:cs typeface="IBM Plex Sans KR" pitchFamily="34" charset="-120"/>
              </a:rPr>
              <a:t>출력측 조립·검사</a:t>
            </a:r>
            <a:endParaRPr lang="en-US" sz="1500" dirty="0"/>
          </a:p>
        </p:txBody>
      </p:sp>
      <p:sp>
        <p:nvSpPr>
          <p:cNvPr id="19" name="Text 16"/>
          <p:cNvSpPr/>
          <p:nvPr/>
        </p:nvSpPr>
        <p:spPr>
          <a:xfrm>
            <a:off x="2861733" y="3444081"/>
            <a:ext cx="6468533" cy="365720"/>
          </a:xfrm>
          <a:prstGeom prst="roundRect">
            <a:avLst>
              <a:gd name="adj" fmla="val 13890"/>
            </a:avLst>
          </a:prstGeom>
          <a:solidFill>
            <a:srgbClr val="10233D"/>
          </a:solidFill>
          <a:ln/>
        </p:spPr>
        <p:txBody>
          <a:bodyPr wrap="square" lIns="71227" tIns="61321" rIns="71227" bIns="35921" rtlCol="0" anchor="t">
            <a:normAutofit/>
          </a:bodyPr>
          <a:lstStyle/>
          <a:p>
            <a:pPr algn="ctr" indent="0" marL="0">
              <a:lnSpc>
                <a:spcPts val="1680"/>
              </a:lnSpc>
              <a:buNone/>
            </a:pPr>
            <a:r>
              <a:rPr lang="en-US" sz="1200" b="1" dirty="0">
                <a:solidFill>
                  <a:srgbClr val="F6F8FB"/>
                </a:solidFill>
                <a:latin typeface="IBM Plex Sans KR" pitchFamily="34" charset="0"/>
                <a:ea typeface="IBM Plex Sans KR" pitchFamily="34" charset="-122"/>
                <a:cs typeface="IBM Plex Sans KR" pitchFamily="34" charset="-120"/>
              </a:rPr>
              <a:t>팔레트 컨베이어 → 고정 택트 · 스테이션마다 인라인 판정</a:t>
            </a:r>
            <a:endParaRPr lang="en-US" sz="1200" dirty="0"/>
          </a:p>
        </p:txBody>
      </p:sp>
      <p:sp>
        <p:nvSpPr>
          <p:cNvPr id="20" name="Text 17"/>
          <p:cNvSpPr/>
          <p:nvPr/>
        </p:nvSpPr>
        <p:spPr>
          <a:xfrm>
            <a:off x="2868083" y="3943152"/>
            <a:ext cx="6455833" cy="378420"/>
          </a:xfrm>
          <a:prstGeom prst="roundRect">
            <a:avLst>
              <a:gd name="adj" fmla="val 11746"/>
            </a:avLst>
          </a:prstGeom>
          <a:solidFill>
            <a:srgbClr val="FFF4EA"/>
          </a:solidFill>
          <a:ln w="12700">
            <a:solidFill>
              <a:srgbClr val="E8833A"/>
            </a:solidFill>
            <a:prstDash val="solid"/>
          </a:ln>
        </p:spPr>
        <p:txBody>
          <a:bodyPr wrap="square" lIns="79818" tIns="69531" rIns="79818" bIns="44131" rtlCol="0" anchor="t">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라인 옆 서브조립 ① 입력 커버 (자동) · ② 편심축·외치기어 (작업자 반자동)</a:t>
            </a:r>
            <a:endParaRPr lang="en-US" sz="1200" dirty="0"/>
          </a:p>
        </p:txBody>
      </p:sp>
      <p:sp>
        <p:nvSpPr>
          <p:cNvPr id="21" name="Text 18"/>
          <p:cNvSpPr/>
          <p:nvPr/>
        </p:nvSpPr>
        <p:spPr>
          <a:xfrm>
            <a:off x="2868083" y="4461272"/>
            <a:ext cx="6455833" cy="378420"/>
          </a:xfrm>
          <a:prstGeom prst="roundRect">
            <a:avLst>
              <a:gd name="adj" fmla="val 50000"/>
            </a:avLst>
          </a:prstGeom>
          <a:solidFill>
            <a:srgbClr val="FCFDFE"/>
          </a:solidFill>
          <a:ln w="12700">
            <a:solidFill>
              <a:srgbClr val="E8833A"/>
            </a:solidFill>
            <a:prstDash val="dash"/>
          </a:ln>
        </p:spPr>
        <p:txBody>
          <a:bodyPr wrap="square" lIns="37419" tIns="27132" rIns="37419" bIns="1732" rtlCol="0" anchor="t">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AMR · 라인 사이드 부품 공급 · NG 반출 · 완성품 회수</a:t>
            </a:r>
            <a:endParaRPr lang="en-US" sz="1200" dirty="0"/>
          </a:p>
        </p:txBody>
      </p:sp>
      <p:pic>
        <p:nvPicPr>
          <p:cNvPr id="22" name="Image 1" descr="arrow-right">    </p:cNvPr>
          <p:cNvPicPr>
            <a:picLocks noChangeAspect="1"/>
          </p:cNvPicPr>
          <p:nvPr/>
        </p:nvPicPr>
        <p:blipFill>
          <a:blip r:embed="rId2"/>
          <a:srcRect l="0" r="0" t="0" b="0"/>
          <a:stretch/>
        </p:blipFill>
        <p:spPr>
          <a:xfrm>
            <a:off x="9677400" y="3432175"/>
            <a:ext cx="304800" cy="152400"/>
          </a:xfrm>
          <a:prstGeom prst="rect">
            <a:avLst/>
          </a:prstGeom>
        </p:spPr>
      </p:pic>
      <p:sp>
        <p:nvSpPr>
          <p:cNvPr id="23" name="Shape 19"/>
          <p:cNvSpPr/>
          <p:nvPr/>
        </p:nvSpPr>
        <p:spPr>
          <a:xfrm>
            <a:off x="10112375" y="3047603"/>
            <a:ext cx="1263650" cy="921544"/>
          </a:xfrm>
          <a:prstGeom prst="roundRect">
            <a:avLst>
              <a:gd name="adj" fmla="val 10680"/>
            </a:avLst>
          </a:prstGeom>
          <a:solidFill>
            <a:srgbClr val="EAF0F7"/>
          </a:solidFill>
          <a:ln w="6350">
            <a:solidFill>
              <a:srgbClr val="C3D0DE"/>
            </a:solidFill>
            <a:prstDash val="solid"/>
          </a:ln>
        </p:spPr>
      </p:sp>
      <p:sp>
        <p:nvSpPr>
          <p:cNvPr id="24" name="Text 20"/>
          <p:cNvSpPr/>
          <p:nvPr/>
        </p:nvSpPr>
        <p:spPr>
          <a:xfrm>
            <a:off x="10553859" y="3251864"/>
            <a:ext cx="380683"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4A5568"/>
                </a:solidFill>
                <a:latin typeface="IBM Plex Sans KR" pitchFamily="34" charset="0"/>
                <a:ea typeface="IBM Plex Sans KR" pitchFamily="34" charset="-122"/>
                <a:cs typeface="IBM Plex Sans KR" pitchFamily="34" charset="-120"/>
              </a:rPr>
              <a:t>출하</a:t>
            </a:r>
            <a:endParaRPr lang="en-US" sz="1400" dirty="0"/>
          </a:p>
        </p:txBody>
      </p:sp>
      <p:sp>
        <p:nvSpPr>
          <p:cNvPr id="25" name="Text 21"/>
          <p:cNvSpPr/>
          <p:nvPr/>
        </p:nvSpPr>
        <p:spPr>
          <a:xfrm>
            <a:off x="10477897" y="3551572"/>
            <a:ext cx="5326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범위 밖</a:t>
            </a:r>
            <a:endParaRPr lang="en-US" sz="1200" dirty="0"/>
          </a:p>
        </p:txBody>
      </p:sp>
      <p:sp>
        <p:nvSpPr>
          <p:cNvPr id="26"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스테이션 수·택트는 공정 세분화(10/12~14) 후 확정 · 필수 6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04 · 구현 방식</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왜 컨베이어 라인인가 — 자동화가 먼저</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315766"/>
        </p:xfrm>
        <a:graphic>
          <a:graphicData uri="http://schemas.openxmlformats.org/drawingml/2006/table">
            <a:tbl>
              <a:tblPr/>
              <a:tblGrid>
                <a:gridCol w="2110740"/>
                <a:gridCol w="3799332"/>
                <a:gridCol w="4643628"/>
              </a:tblGrid>
              <a:tr h="385961">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관점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셀 + AMR (검토안)</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컨베이어 라인 (채택)</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자동화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셀마다 로봇·지그 중복</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스테이션별 전용 설비, 반복 동작 고정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택트</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셀별 시간 차이를 버퍼로 흡수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고정 택트, 병목 스테이션이 바로 보임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품질 판정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셀 단위 판정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스테이션마다 곡선 판정, NG는 즉시 배출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물류</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공정 간 이송을 AMR 다수가 담당</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공정 간은 팔레트, AMR은 공급·반출만</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약점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한 곳이 서면 라인 정지 → NG 배출·우회 레인으로 대응</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4533106"/>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참고: 관절 모듈 자동 라인 사례(Eyou · 포산) — 셀 방식(HMGICS)은 다품종 확장 단계에서 다시 검토</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비교는 팀 판단 · 출처: 푸둥신구 · China Daily · 현대자동차그룹 · 필수 6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4685"/>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1976D2"/>
                </a:solidFill>
                <a:latin typeface="IBM Plex Sans KR" pitchFamily="34" charset="0"/>
                <a:ea typeface="IBM Plex Sans KR" pitchFamily="34" charset="-122"/>
                <a:cs typeface="IBM Plex Sans KR" pitchFamily="34" charset="-120"/>
              </a:rPr>
              <a:t>04 · 공정 흐름도</a:t>
            </a:r>
            <a:endParaRPr lang="en-US" sz="1196" dirty="0"/>
          </a:p>
        </p:txBody>
      </p:sp>
      <p:sp>
        <p:nvSpPr>
          <p:cNvPr id="3" name="Text 1"/>
          <p:cNvSpPr/>
          <p:nvPr>
            <p:ph type="title"/>
          </p:nvPr>
        </p:nvSpPr>
        <p:spPr>
          <a:xfrm>
            <a:off x="812800" y="1123690"/>
            <a:ext cx="10883392" cy="483857"/>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10233D"/>
                </a:solidFill>
                <a:latin typeface="IBM Plex Sans KR" pitchFamily="34" charset="0"/>
                <a:ea typeface="IBM Plex Sans KR" pitchFamily="34" charset="-122"/>
                <a:cs typeface="IBM Plex Sans KR" pitchFamily="34" charset="-120"/>
              </a:rPr>
              <a:t>입고부터 출고까지 — 9단계 = 컨베이어 스테이션 순서</a:t>
            </a:r>
            <a:endParaRPr lang="en-US" sz="3150" dirty="0"/>
          </a:p>
        </p:txBody>
      </p:sp>
      <p:sp>
        <p:nvSpPr>
          <p:cNvPr id="4" name="Shape 2"/>
          <p:cNvSpPr/>
          <p:nvPr/>
        </p:nvSpPr>
        <p:spPr>
          <a:xfrm>
            <a:off x="815975" y="2223560"/>
            <a:ext cx="1136650" cy="969764"/>
          </a:xfrm>
          <a:prstGeom prst="roundRect">
            <a:avLst>
              <a:gd name="adj" fmla="val 12769"/>
            </a:avLst>
          </a:prstGeom>
          <a:solidFill>
            <a:srgbClr val="EAF0F7"/>
          </a:solidFill>
          <a:ln w="6350">
            <a:solidFill>
              <a:srgbClr val="C3D0DE"/>
            </a:solidFill>
            <a:prstDash val="solid"/>
          </a:ln>
        </p:spPr>
      </p:sp>
      <p:sp>
        <p:nvSpPr>
          <p:cNvPr id="5" name="Text 3"/>
          <p:cNvSpPr/>
          <p:nvPr/>
        </p:nvSpPr>
        <p:spPr>
          <a:xfrm>
            <a:off x="1044840" y="2351621"/>
            <a:ext cx="678855" cy="48762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입고 &amp;</a:t>
            </a:r>
            <a:endParaRPr lang="en-US" sz="1300" dirty="0"/>
          </a:p>
          <a:p>
            <a:pPr algn="ctr"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창고 정리</a:t>
            </a:r>
            <a:endParaRPr lang="en-US" sz="1300" dirty="0"/>
          </a:p>
        </p:txBody>
      </p:sp>
      <p:sp>
        <p:nvSpPr>
          <p:cNvPr id="6" name="Text 4"/>
          <p:cNvSpPr/>
          <p:nvPr/>
        </p:nvSpPr>
        <p:spPr>
          <a:xfrm>
            <a:off x="1117997" y="2851944"/>
            <a:ext cx="5326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범위 밖</a:t>
            </a:r>
            <a:endParaRPr lang="en-US" sz="1200" dirty="0"/>
          </a:p>
        </p:txBody>
      </p:sp>
      <p:pic>
        <p:nvPicPr>
          <p:cNvPr id="7" name="Image 0" descr="arrow-right">    </p:cNvPr>
          <p:cNvPicPr>
            <a:picLocks noChangeAspect="1"/>
          </p:cNvPicPr>
          <p:nvPr/>
        </p:nvPicPr>
        <p:blipFill>
          <a:blip r:embed="rId1"/>
          <a:srcRect l="0" r="0" t="0" b="0"/>
          <a:stretch/>
        </p:blipFill>
        <p:spPr>
          <a:xfrm>
            <a:off x="2032000" y="2651323"/>
            <a:ext cx="228600" cy="114300"/>
          </a:xfrm>
          <a:prstGeom prst="rect">
            <a:avLst/>
          </a:prstGeom>
        </p:spPr>
      </p:pic>
      <p:sp>
        <p:nvSpPr>
          <p:cNvPr id="8" name="Shape 5"/>
          <p:cNvSpPr/>
          <p:nvPr/>
        </p:nvSpPr>
        <p:spPr>
          <a:xfrm>
            <a:off x="2343150" y="1855924"/>
            <a:ext cx="2747433" cy="1705041"/>
          </a:xfrm>
          <a:prstGeom prst="roundRect">
            <a:avLst>
              <a:gd name="adj" fmla="val 7076"/>
            </a:avLst>
          </a:prstGeom>
          <a:solidFill>
            <a:srgbClr val="FCFDFE"/>
          </a:solidFill>
          <a:ln w="12700">
            <a:solidFill>
              <a:srgbClr val="9FB3C8"/>
            </a:solidFill>
            <a:prstDash val="solid"/>
          </a:ln>
        </p:spPr>
      </p:sp>
      <p:sp>
        <p:nvSpPr>
          <p:cNvPr id="9" name="Text 6"/>
          <p:cNvSpPr/>
          <p:nvPr/>
        </p:nvSpPr>
        <p:spPr>
          <a:xfrm>
            <a:off x="2465451" y="1989274"/>
            <a:ext cx="2502831"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565C0"/>
                </a:solidFill>
                <a:latin typeface="IBM Plex Sans KR" pitchFamily="34" charset="0"/>
                <a:ea typeface="IBM Plex Sans KR" pitchFamily="34" charset="-122"/>
                <a:cs typeface="IBM Plex Sans KR" pitchFamily="34" charset="-120"/>
              </a:rPr>
              <a:t>라인 옆 서브조립</a:t>
            </a:r>
            <a:endParaRPr lang="en-US" sz="1300" dirty="0"/>
          </a:p>
        </p:txBody>
      </p:sp>
      <p:sp>
        <p:nvSpPr>
          <p:cNvPr id="10" name="Text 7"/>
          <p:cNvSpPr/>
          <p:nvPr/>
        </p:nvSpPr>
        <p:spPr>
          <a:xfrm>
            <a:off x="2505075" y="2299760"/>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① 입력 커버 + 베어링·실</a:t>
            </a:r>
            <a:endParaRPr lang="en-US" sz="1200" dirty="0"/>
          </a:p>
        </p:txBody>
      </p:sp>
      <p:sp>
        <p:nvSpPr>
          <p:cNvPr id="11" name="Text 8"/>
          <p:cNvSpPr/>
          <p:nvPr/>
        </p:nvSpPr>
        <p:spPr>
          <a:xfrm>
            <a:off x="2508250" y="2753320"/>
            <a:ext cx="2417233" cy="378420"/>
          </a:xfrm>
          <a:prstGeom prst="roundRect">
            <a:avLst>
              <a:gd name="adj" fmla="val 15102"/>
            </a:avLst>
          </a:prstGeom>
          <a:solidFill>
            <a:srgbClr val="FFF4EA"/>
          </a:solidFill>
          <a:ln w="12700">
            <a:solidFill>
              <a:srgbClr val="E8833A"/>
            </a:solidFill>
            <a:prstDash val="solid"/>
          </a:ln>
        </p:spPr>
        <p:txBody>
          <a:bodyPr wrap="square" lIns="103911" tIns="65811" rIns="38633" bIns="40411"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② 편심축 + 외치기어 2장</a:t>
            </a:r>
            <a:endParaRPr lang="en-US" sz="1200" dirty="0"/>
          </a:p>
        </p:txBody>
      </p:sp>
      <p:sp>
        <p:nvSpPr>
          <p:cNvPr id="12" name="Text 9"/>
          <p:cNvSpPr/>
          <p:nvPr/>
        </p:nvSpPr>
        <p:spPr>
          <a:xfrm>
            <a:off x="2501900" y="3214291"/>
            <a:ext cx="2502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①→02, ②→04 공급</a:t>
            </a:r>
            <a:endParaRPr lang="en-US" sz="1200" dirty="0"/>
          </a:p>
        </p:txBody>
      </p:sp>
      <p:pic>
        <p:nvPicPr>
          <p:cNvPr id="13" name="Image 1" descr="arrow-right">    </p:cNvPr>
          <p:cNvPicPr>
            <a:picLocks noChangeAspect="1"/>
          </p:cNvPicPr>
          <p:nvPr/>
        </p:nvPicPr>
        <p:blipFill>
          <a:blip r:embed="rId2"/>
          <a:srcRect l="0" r="0" t="0" b="0"/>
          <a:stretch/>
        </p:blipFill>
        <p:spPr>
          <a:xfrm>
            <a:off x="5173133" y="2651323"/>
            <a:ext cx="228600" cy="114300"/>
          </a:xfrm>
          <a:prstGeom prst="rect">
            <a:avLst/>
          </a:prstGeom>
        </p:spPr>
      </p:pic>
      <p:sp>
        <p:nvSpPr>
          <p:cNvPr id="14" name="Shape 10"/>
          <p:cNvSpPr/>
          <p:nvPr/>
        </p:nvSpPr>
        <p:spPr>
          <a:xfrm>
            <a:off x="5484283" y="1775557"/>
            <a:ext cx="2747433" cy="1865908"/>
          </a:xfrm>
          <a:prstGeom prst="roundRect">
            <a:avLst>
              <a:gd name="adj" fmla="val 6466"/>
            </a:avLst>
          </a:prstGeom>
          <a:solidFill>
            <a:srgbClr val="FCFDFE"/>
          </a:solidFill>
          <a:ln w="12700">
            <a:solidFill>
              <a:srgbClr val="9FB3C8"/>
            </a:solidFill>
            <a:prstDash val="solid"/>
          </a:ln>
        </p:spPr>
      </p:sp>
      <p:sp>
        <p:nvSpPr>
          <p:cNvPr id="15" name="Text 11"/>
          <p:cNvSpPr/>
          <p:nvPr/>
        </p:nvSpPr>
        <p:spPr>
          <a:xfrm>
            <a:off x="5606584" y="1908907"/>
            <a:ext cx="2502831"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565C0"/>
                </a:solidFill>
                <a:latin typeface="IBM Plex Sans KR" pitchFamily="34" charset="0"/>
                <a:ea typeface="IBM Plex Sans KR" pitchFamily="34" charset="-122"/>
                <a:cs typeface="IBM Plex Sans KR" pitchFamily="34" charset="-120"/>
              </a:rPr>
              <a:t>입력측 조립</a:t>
            </a:r>
            <a:endParaRPr lang="en-US" sz="1300" dirty="0"/>
          </a:p>
        </p:txBody>
      </p:sp>
      <p:sp>
        <p:nvSpPr>
          <p:cNvPr id="16" name="Text 12"/>
          <p:cNvSpPr/>
          <p:nvPr/>
        </p:nvSpPr>
        <p:spPr>
          <a:xfrm>
            <a:off x="5646208" y="2219393"/>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01 하우징 투입</a:t>
            </a:r>
            <a:endParaRPr lang="en-US" sz="1200" dirty="0"/>
          </a:p>
        </p:txBody>
      </p:sp>
      <p:sp>
        <p:nvSpPr>
          <p:cNvPr id="17" name="Text 13"/>
          <p:cNvSpPr/>
          <p:nvPr/>
        </p:nvSpPr>
        <p:spPr>
          <a:xfrm>
            <a:off x="5646208" y="2669778"/>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02 입력 커버 결합</a:t>
            </a:r>
            <a:endParaRPr lang="en-US" sz="1200" dirty="0"/>
          </a:p>
        </p:txBody>
      </p:sp>
      <p:sp>
        <p:nvSpPr>
          <p:cNvPr id="18" name="Text 14"/>
          <p:cNvSpPr/>
          <p:nvPr/>
        </p:nvSpPr>
        <p:spPr>
          <a:xfrm>
            <a:off x="5649383" y="3123344"/>
            <a:ext cx="2417233" cy="378420"/>
          </a:xfrm>
          <a:prstGeom prst="roundRect">
            <a:avLst>
              <a:gd name="adj" fmla="val 15102"/>
            </a:avLst>
          </a:prstGeom>
          <a:solidFill>
            <a:srgbClr val="E3EEFA"/>
          </a:solidFill>
          <a:ln w="12700">
            <a:solidFill>
              <a:srgbClr val="1976D2"/>
            </a:solidFill>
            <a:prstDash val="solid"/>
          </a:ln>
        </p:spPr>
        <p:txBody>
          <a:bodyPr wrap="square" lIns="103911" tIns="65811" rIns="38633" bIns="40411"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03 입력측 볼트 10 · 반전</a:t>
            </a:r>
            <a:endParaRPr lang="en-US" sz="1200" dirty="0"/>
          </a:p>
        </p:txBody>
      </p:sp>
      <p:pic>
        <p:nvPicPr>
          <p:cNvPr id="19" name="Image 2" descr="arrow-right">    </p:cNvPr>
          <p:cNvPicPr>
            <a:picLocks noChangeAspect="1"/>
          </p:cNvPicPr>
          <p:nvPr/>
        </p:nvPicPr>
        <p:blipFill>
          <a:blip r:embed="rId3"/>
          <a:srcRect l="0" r="0" t="0" b="0"/>
          <a:stretch/>
        </p:blipFill>
        <p:spPr>
          <a:xfrm>
            <a:off x="8314267" y="2651323"/>
            <a:ext cx="228600" cy="114300"/>
          </a:xfrm>
          <a:prstGeom prst="rect">
            <a:avLst/>
          </a:prstGeom>
        </p:spPr>
      </p:pic>
      <p:sp>
        <p:nvSpPr>
          <p:cNvPr id="20" name="Shape 15"/>
          <p:cNvSpPr/>
          <p:nvPr/>
        </p:nvSpPr>
        <p:spPr>
          <a:xfrm>
            <a:off x="8625417" y="1784021"/>
            <a:ext cx="2747433" cy="1848975"/>
          </a:xfrm>
          <a:prstGeom prst="roundRect">
            <a:avLst>
              <a:gd name="adj" fmla="val 6525"/>
            </a:avLst>
          </a:prstGeom>
          <a:solidFill>
            <a:srgbClr val="FCFDFE"/>
          </a:solidFill>
          <a:ln w="12700">
            <a:solidFill>
              <a:srgbClr val="9FB3C8"/>
            </a:solidFill>
            <a:prstDash val="solid"/>
          </a:ln>
        </p:spPr>
      </p:sp>
      <p:sp>
        <p:nvSpPr>
          <p:cNvPr id="21" name="Text 16"/>
          <p:cNvSpPr/>
          <p:nvPr/>
        </p:nvSpPr>
        <p:spPr>
          <a:xfrm>
            <a:off x="8747718" y="1917371"/>
            <a:ext cx="2502831"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565C0"/>
                </a:solidFill>
                <a:latin typeface="IBM Plex Sans KR" pitchFamily="34" charset="0"/>
                <a:ea typeface="IBM Plex Sans KR" pitchFamily="34" charset="-122"/>
                <a:cs typeface="IBM Plex Sans KR" pitchFamily="34" charset="-120"/>
              </a:rPr>
              <a:t>내부 조립</a:t>
            </a:r>
            <a:endParaRPr lang="en-US" sz="1300" dirty="0"/>
          </a:p>
        </p:txBody>
      </p:sp>
      <p:sp>
        <p:nvSpPr>
          <p:cNvPr id="22" name="Text 17"/>
          <p:cNvSpPr/>
          <p:nvPr/>
        </p:nvSpPr>
        <p:spPr>
          <a:xfrm>
            <a:off x="8787342" y="2227858"/>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04 편심축·기어 삽입</a:t>
            </a:r>
            <a:endParaRPr lang="en-US" sz="1200" dirty="0"/>
          </a:p>
        </p:txBody>
      </p:sp>
      <p:sp>
        <p:nvSpPr>
          <p:cNvPr id="23" name="Text 18"/>
          <p:cNvSpPr/>
          <p:nvPr/>
        </p:nvSpPr>
        <p:spPr>
          <a:xfrm>
            <a:off x="8787342" y="2678249"/>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05 부시 8개 · 그리스</a:t>
            </a:r>
            <a:endParaRPr lang="en-US" sz="1200" dirty="0"/>
          </a:p>
        </p:txBody>
      </p:sp>
      <p:sp>
        <p:nvSpPr>
          <p:cNvPr id="24" name="Text 19"/>
          <p:cNvSpPr/>
          <p:nvPr/>
        </p:nvSpPr>
        <p:spPr>
          <a:xfrm>
            <a:off x="8787342" y="3128634"/>
            <a:ext cx="2423583" cy="367837"/>
          </a:xfrm>
          <a:prstGeom prst="roundRect">
            <a:avLst>
              <a:gd name="adj" fmla="val 16400"/>
            </a:avLst>
          </a:prstGeom>
          <a:solidFill>
            <a:srgbClr val="FCFDFE"/>
          </a:solidFill>
          <a:ln w="6350">
            <a:solidFill>
              <a:srgbClr val="C3D0DE"/>
            </a:solidFill>
            <a:prstDash val="solid"/>
          </a:ln>
        </p:spPr>
        <p:txBody>
          <a:bodyPr wrap="square" lIns="97690" tIns="59590" rIns="31904"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06 출력 플랜지 삽입</a:t>
            </a:r>
            <a:endParaRPr lang="en-US" sz="1200" dirty="0"/>
          </a:p>
        </p:txBody>
      </p:sp>
      <p:pic>
        <p:nvPicPr>
          <p:cNvPr id="25" name="Image 3" descr="arrow-down">    </p:cNvPr>
          <p:cNvPicPr>
            <a:picLocks noChangeAspect="1"/>
          </p:cNvPicPr>
          <p:nvPr/>
        </p:nvPicPr>
        <p:blipFill>
          <a:blip r:embed="rId4"/>
          <a:srcRect l="0" r="0" t="0" b="0"/>
          <a:stretch/>
        </p:blipFill>
        <p:spPr>
          <a:xfrm>
            <a:off x="9994900" y="3707805"/>
            <a:ext cx="114300" cy="228600"/>
          </a:xfrm>
          <a:prstGeom prst="rect">
            <a:avLst/>
          </a:prstGeom>
        </p:spPr>
      </p:pic>
      <p:sp>
        <p:nvSpPr>
          <p:cNvPr id="26" name="Shape 20"/>
          <p:cNvSpPr/>
          <p:nvPr/>
        </p:nvSpPr>
        <p:spPr>
          <a:xfrm>
            <a:off x="815975" y="4233931"/>
            <a:ext cx="1136650" cy="969764"/>
          </a:xfrm>
          <a:prstGeom prst="roundRect">
            <a:avLst>
              <a:gd name="adj" fmla="val 12769"/>
            </a:avLst>
          </a:prstGeom>
          <a:solidFill>
            <a:srgbClr val="EAF0F7"/>
          </a:solidFill>
          <a:ln w="6350">
            <a:solidFill>
              <a:srgbClr val="C3D0DE"/>
            </a:solidFill>
            <a:prstDash val="solid"/>
          </a:ln>
        </p:spPr>
      </p:sp>
      <p:sp>
        <p:nvSpPr>
          <p:cNvPr id="27" name="Text 21"/>
          <p:cNvSpPr/>
          <p:nvPr/>
        </p:nvSpPr>
        <p:spPr>
          <a:xfrm>
            <a:off x="1133277" y="4361991"/>
            <a:ext cx="502047" cy="48762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포장 &amp;</a:t>
            </a:r>
            <a:endParaRPr lang="en-US" sz="1300" dirty="0"/>
          </a:p>
          <a:p>
            <a:pPr algn="ctr"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출고</a:t>
            </a:r>
            <a:endParaRPr lang="en-US" sz="1300" dirty="0"/>
          </a:p>
        </p:txBody>
      </p:sp>
      <p:sp>
        <p:nvSpPr>
          <p:cNvPr id="28" name="Text 22"/>
          <p:cNvSpPr/>
          <p:nvPr/>
        </p:nvSpPr>
        <p:spPr>
          <a:xfrm>
            <a:off x="1117997" y="4862314"/>
            <a:ext cx="5326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범위 밖</a:t>
            </a:r>
            <a:endParaRPr lang="en-US" sz="1200" dirty="0"/>
          </a:p>
        </p:txBody>
      </p:sp>
      <p:pic>
        <p:nvPicPr>
          <p:cNvPr id="29" name="Image 4" descr="arrow-left">    </p:cNvPr>
          <p:cNvPicPr>
            <a:picLocks noChangeAspect="1"/>
          </p:cNvPicPr>
          <p:nvPr/>
        </p:nvPicPr>
        <p:blipFill>
          <a:blip r:embed="rId5"/>
          <a:srcRect l="0" r="0" t="0" b="0"/>
          <a:stretch/>
        </p:blipFill>
        <p:spPr>
          <a:xfrm>
            <a:off x="2032000" y="4661694"/>
            <a:ext cx="228600" cy="114300"/>
          </a:xfrm>
          <a:prstGeom prst="rect">
            <a:avLst/>
          </a:prstGeom>
        </p:spPr>
      </p:pic>
      <p:sp>
        <p:nvSpPr>
          <p:cNvPr id="30" name="Shape 23"/>
          <p:cNvSpPr/>
          <p:nvPr/>
        </p:nvSpPr>
        <p:spPr>
          <a:xfrm>
            <a:off x="2343150" y="4019550"/>
            <a:ext cx="4318000" cy="1398588"/>
          </a:xfrm>
          <a:prstGeom prst="roundRect">
            <a:avLst>
              <a:gd name="adj" fmla="val 8627"/>
            </a:avLst>
          </a:prstGeom>
          <a:solidFill>
            <a:srgbClr val="FCFDFE"/>
          </a:solidFill>
          <a:ln w="12700">
            <a:solidFill>
              <a:srgbClr val="9FB3C8"/>
            </a:solidFill>
            <a:prstDash val="solid"/>
          </a:ln>
        </p:spPr>
      </p:sp>
      <p:sp>
        <p:nvSpPr>
          <p:cNvPr id="31" name="Text 24"/>
          <p:cNvSpPr/>
          <p:nvPr/>
        </p:nvSpPr>
        <p:spPr>
          <a:xfrm>
            <a:off x="2441893" y="4152900"/>
            <a:ext cx="4120515"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565C0"/>
                </a:solidFill>
                <a:latin typeface="IBM Plex Sans KR" pitchFamily="34" charset="0"/>
                <a:ea typeface="IBM Plex Sans KR" pitchFamily="34" charset="-122"/>
                <a:cs typeface="IBM Plex Sans KR" pitchFamily="34" charset="-120"/>
              </a:rPr>
              <a:t>검사 · 분기</a:t>
            </a:r>
            <a:endParaRPr lang="en-US" sz="1300" dirty="0"/>
          </a:p>
        </p:txBody>
      </p:sp>
      <p:sp>
        <p:nvSpPr>
          <p:cNvPr id="32" name="Text 25"/>
          <p:cNvSpPr/>
          <p:nvPr/>
        </p:nvSpPr>
        <p:spPr>
          <a:xfrm>
            <a:off x="2505075" y="4463393"/>
            <a:ext cx="3994150" cy="367837"/>
          </a:xfrm>
          <a:prstGeom prst="roundRect">
            <a:avLst>
              <a:gd name="adj" fmla="val 16400"/>
            </a:avLst>
          </a:prstGeom>
          <a:solidFill>
            <a:srgbClr val="FCFDFE"/>
          </a:solidFill>
          <a:ln w="6350">
            <a:solidFill>
              <a:srgbClr val="C3D0DE"/>
            </a:solidFill>
            <a:prstDash val="solid"/>
          </a:ln>
        </p:spPr>
        <p:txBody>
          <a:bodyPr wrap="square" lIns="97690" tIns="59590" rIns="0" bIns="34190"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09 기능 검사 (토크·백래시)</a:t>
            </a:r>
            <a:endParaRPr lang="en-US" sz="1200" dirty="0"/>
          </a:p>
        </p:txBody>
      </p:sp>
      <p:sp>
        <p:nvSpPr>
          <p:cNvPr id="33" name="Text 26"/>
          <p:cNvSpPr/>
          <p:nvPr/>
        </p:nvSpPr>
        <p:spPr>
          <a:xfrm>
            <a:off x="2505075" y="4913778"/>
            <a:ext cx="3994150" cy="367837"/>
          </a:xfrm>
          <a:prstGeom prst="roundRect">
            <a:avLst>
              <a:gd name="adj" fmla="val 16400"/>
            </a:avLst>
          </a:prstGeom>
          <a:solidFill>
            <a:srgbClr val="10233D"/>
          </a:solidFill>
          <a:ln w="6350">
            <a:solidFill>
              <a:srgbClr val="10233D"/>
            </a:solidFill>
            <a:prstDash val="solid"/>
          </a:ln>
        </p:spPr>
        <p:txBody>
          <a:bodyPr wrap="square" lIns="97690" tIns="59590" rIns="0" bIns="34190" rtlCol="0" anchor="t">
            <a:normAutofit/>
          </a:bodyPr>
          <a:lstStyle/>
          <a:p>
            <a:pPr algn="l" indent="0" marL="0">
              <a:lnSpc>
                <a:spcPts val="1680"/>
              </a:lnSpc>
              <a:buNone/>
            </a:pPr>
            <a:r>
              <a:rPr lang="en-US" sz="1200" b="1" dirty="0">
                <a:solidFill>
                  <a:srgbClr val="F6F8FB"/>
                </a:solidFill>
                <a:latin typeface="IBM Plex Sans KR" pitchFamily="34" charset="0"/>
                <a:ea typeface="IBM Plex Sans KR" pitchFamily="34" charset="-122"/>
                <a:cs typeface="IBM Plex Sans KR" pitchFamily="34" charset="-120"/>
              </a:rPr>
              <a:t>OK 출하 / NG 재작업 / 보류 격리</a:t>
            </a:r>
            <a:endParaRPr lang="en-US" sz="1200" dirty="0"/>
          </a:p>
        </p:txBody>
      </p:sp>
      <p:pic>
        <p:nvPicPr>
          <p:cNvPr id="34" name="Image 5" descr="arrow-left">    </p:cNvPr>
          <p:cNvPicPr>
            <a:picLocks noChangeAspect="1"/>
          </p:cNvPicPr>
          <p:nvPr/>
        </p:nvPicPr>
        <p:blipFill>
          <a:blip r:embed="rId6"/>
          <a:srcRect l="0" r="0" t="0" b="0"/>
          <a:stretch/>
        </p:blipFill>
        <p:spPr>
          <a:xfrm>
            <a:off x="6743700" y="4661694"/>
            <a:ext cx="228600" cy="114300"/>
          </a:xfrm>
          <a:prstGeom prst="rect">
            <a:avLst/>
          </a:prstGeom>
        </p:spPr>
      </p:pic>
      <p:sp>
        <p:nvSpPr>
          <p:cNvPr id="35" name="Shape 27"/>
          <p:cNvSpPr/>
          <p:nvPr/>
        </p:nvSpPr>
        <p:spPr>
          <a:xfrm>
            <a:off x="7054850" y="4002621"/>
            <a:ext cx="4318000" cy="1432454"/>
          </a:xfrm>
          <a:prstGeom prst="roundRect">
            <a:avLst>
              <a:gd name="adj" fmla="val 8423"/>
            </a:avLst>
          </a:prstGeom>
          <a:solidFill>
            <a:srgbClr val="FCFDFE"/>
          </a:solidFill>
          <a:ln w="12700">
            <a:solidFill>
              <a:srgbClr val="9FB3C8"/>
            </a:solidFill>
            <a:prstDash val="solid"/>
          </a:ln>
        </p:spPr>
      </p:sp>
      <p:sp>
        <p:nvSpPr>
          <p:cNvPr id="36" name="Text 28"/>
          <p:cNvSpPr/>
          <p:nvPr/>
        </p:nvSpPr>
        <p:spPr>
          <a:xfrm>
            <a:off x="7153593" y="4135971"/>
            <a:ext cx="4120515"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565C0"/>
                </a:solidFill>
                <a:latin typeface="IBM Plex Sans KR" pitchFamily="34" charset="0"/>
                <a:ea typeface="IBM Plex Sans KR" pitchFamily="34" charset="-122"/>
                <a:cs typeface="IBM Plex Sans KR" pitchFamily="34" charset="-120"/>
              </a:rPr>
              <a:t>출력측 조립</a:t>
            </a:r>
            <a:endParaRPr lang="en-US" sz="1300" dirty="0"/>
          </a:p>
        </p:txBody>
      </p:sp>
      <p:sp>
        <p:nvSpPr>
          <p:cNvPr id="37" name="Text 29"/>
          <p:cNvSpPr/>
          <p:nvPr/>
        </p:nvSpPr>
        <p:spPr>
          <a:xfrm>
            <a:off x="7219950" y="4449632"/>
            <a:ext cx="3987800" cy="378420"/>
          </a:xfrm>
          <a:prstGeom prst="roundRect">
            <a:avLst>
              <a:gd name="adj" fmla="val 15102"/>
            </a:avLst>
          </a:prstGeom>
          <a:solidFill>
            <a:srgbClr val="E3EEFA"/>
          </a:solidFill>
          <a:ln w="12700">
            <a:solidFill>
              <a:srgbClr val="1976D2"/>
            </a:solidFill>
            <a:prstDash val="solid"/>
          </a:ln>
        </p:spPr>
        <p:txBody>
          <a:bodyPr wrap="square" lIns="103911" tIns="65811" rIns="0" bIns="40411"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07 출력 주베어링 압입</a:t>
            </a:r>
            <a:endParaRPr lang="en-US" sz="1200" dirty="0"/>
          </a:p>
        </p:txBody>
      </p:sp>
      <p:sp>
        <p:nvSpPr>
          <p:cNvPr id="38" name="Text 30"/>
          <p:cNvSpPr/>
          <p:nvPr/>
        </p:nvSpPr>
        <p:spPr>
          <a:xfrm>
            <a:off x="7219950" y="4916953"/>
            <a:ext cx="3987800" cy="378420"/>
          </a:xfrm>
          <a:prstGeom prst="roundRect">
            <a:avLst>
              <a:gd name="adj" fmla="val 15102"/>
            </a:avLst>
          </a:prstGeom>
          <a:solidFill>
            <a:srgbClr val="E3EEFA"/>
          </a:solidFill>
          <a:ln w="12700">
            <a:solidFill>
              <a:srgbClr val="1976D2"/>
            </a:solidFill>
            <a:prstDash val="solid"/>
          </a:ln>
        </p:spPr>
        <p:txBody>
          <a:bodyPr wrap="square" lIns="103911" tIns="65811" rIns="0" bIns="40411" rtlCol="0" anchor="t">
            <a:normAutofit/>
          </a:bodyPr>
          <a:lstStyle/>
          <a:p>
            <a:pPr algn="l"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08 출력 커버 · 볼트 10</a:t>
            </a:r>
            <a:endParaRPr lang="en-US" sz="1200" dirty="0"/>
          </a:p>
        </p:txBody>
      </p:sp>
      <p:sp>
        <p:nvSpPr>
          <p:cNvPr id="39" name="Text 31"/>
          <p:cNvSpPr/>
          <p:nvPr/>
        </p:nvSpPr>
        <p:spPr>
          <a:xfrm>
            <a:off x="812800" y="5632190"/>
            <a:ext cx="10883392" cy="23521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568"/>
                </a:solidFill>
                <a:latin typeface="IBM Plex Sans KR" pitchFamily="34" charset="0"/>
                <a:ea typeface="IBM Plex Sans KR" pitchFamily="34" charset="-122"/>
                <a:cs typeface="IBM Plex Sans KR" pitchFamily="34" charset="-120"/>
              </a:rPr>
              <a:t>파랑 = 과정 곡선으로 판정 (토크–각도 · 힘–변위) · 주황 = 작업자 반자동 · 회색 = 구현 범위 밖</a:t>
            </a:r>
            <a:endParaRPr lang="en-US" sz="1196" dirty="0"/>
          </a:p>
        </p:txBody>
      </p:sp>
      <p:sp>
        <p:nvSpPr>
          <p:cNvPr id="40"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BSR080 R6 조립 순서(제조사 조립 영상 기반 재구성) 기준 · 필수 7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04 · 참고 조립 영상</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실제 조립 순서 — R6 모델의 기준 영상</a:t>
            </a:r>
            <a:endParaRPr lang="en-US" sz="3200" dirty="0"/>
          </a:p>
        </p:txBody>
      </p:sp>
      <p:pic>
        <p:nvPicPr>
          <p:cNvPr id="4" name="Image 0" descr="감속기 부품 23개가 작업대에 정렬된 모습">    </p:cNvPr>
          <p:cNvPicPr>
            <a:picLocks noChangeAspect="1"/>
          </p:cNvPicPr>
          <p:nvPr/>
        </p:nvPicPr>
        <p:blipFill>
          <a:blip r:embed="rId1"/>
          <a:srcRect l="0" r="0" t="3099" b="3099"/>
          <a:stretch/>
        </p:blipFill>
        <p:spPr>
          <a:xfrm>
            <a:off x="812800" y="1849041"/>
            <a:ext cx="2527300" cy="1333500"/>
          </a:xfrm>
          <a:prstGeom prst="roundRect">
            <a:avLst>
              <a:gd name="adj" fmla="val 5714"/>
            </a:avLst>
          </a:prstGeom>
        </p:spPr>
      </p:pic>
      <p:sp>
        <p:nvSpPr>
          <p:cNvPr id="5" name="Text 2"/>
          <p:cNvSpPr/>
          <p:nvPr/>
        </p:nvSpPr>
        <p:spPr>
          <a:xfrm>
            <a:off x="812800" y="323334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0:06</a:t>
            </a:r>
            <a:r>
              <a:rPr lang="en-US" sz="1200" dirty="0">
                <a:solidFill>
                  <a:srgbClr val="10233D"/>
                </a:solidFill>
                <a:latin typeface="IBM Plex Sans KR" pitchFamily="34" charset="0"/>
                <a:ea typeface="IBM Plex Sans KR" pitchFamily="34" charset="-122"/>
                <a:cs typeface="IBM Plex Sans KR" pitchFamily="34" charset="-120"/>
              </a:rPr>
              <a:t> 부품 정렬 · 투입 전</a:t>
            </a:r>
            <a:endParaRPr lang="en-US" sz="1200" dirty="0"/>
          </a:p>
        </p:txBody>
      </p:sp>
      <p:pic>
        <p:nvPicPr>
          <p:cNvPr id="6" name="Image 1" descr="작업자가 하우징 안쪽에 베어링을 손으로 안착시키는 장면">    </p:cNvPr>
          <p:cNvPicPr>
            <a:picLocks noChangeAspect="1"/>
          </p:cNvPicPr>
          <p:nvPr/>
        </p:nvPicPr>
        <p:blipFill>
          <a:blip r:embed="rId2"/>
          <a:srcRect l="0" r="0" t="3099" b="3099"/>
          <a:stretch/>
        </p:blipFill>
        <p:spPr>
          <a:xfrm>
            <a:off x="3492500" y="1849041"/>
            <a:ext cx="2527300" cy="1333500"/>
          </a:xfrm>
          <a:prstGeom prst="roundRect">
            <a:avLst>
              <a:gd name="adj" fmla="val 5714"/>
            </a:avLst>
          </a:prstGeom>
        </p:spPr>
      </p:pic>
      <p:sp>
        <p:nvSpPr>
          <p:cNvPr id="7" name="Text 3"/>
          <p:cNvSpPr/>
          <p:nvPr/>
        </p:nvSpPr>
        <p:spPr>
          <a:xfrm>
            <a:off x="3492500" y="323334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0:42</a:t>
            </a:r>
            <a:r>
              <a:rPr lang="en-US" sz="1200" dirty="0">
                <a:solidFill>
                  <a:srgbClr val="10233D"/>
                </a:solidFill>
                <a:latin typeface="IBM Plex Sans KR" pitchFamily="34" charset="0"/>
                <a:ea typeface="IBM Plex Sans KR" pitchFamily="34" charset="-122"/>
                <a:cs typeface="IBM Plex Sans KR" pitchFamily="34" charset="-120"/>
              </a:rPr>
              <a:t> 커버 베어링 · 서브①</a:t>
            </a:r>
            <a:endParaRPr lang="en-US" sz="1200" dirty="0"/>
          </a:p>
        </p:txBody>
      </p:sp>
      <p:pic>
        <p:nvPicPr>
          <p:cNvPr id="8" name="Image 2" descr="작업자가 외치기어에 편심축을 끼우는 장면">    </p:cNvPr>
          <p:cNvPicPr>
            <a:picLocks noChangeAspect="1"/>
          </p:cNvPicPr>
          <p:nvPr/>
        </p:nvPicPr>
        <p:blipFill>
          <a:blip r:embed="rId3"/>
          <a:srcRect l="0" r="0" t="3099" b="3099"/>
          <a:stretch/>
        </p:blipFill>
        <p:spPr>
          <a:xfrm>
            <a:off x="6172200" y="1849041"/>
            <a:ext cx="2527300" cy="1333500"/>
          </a:xfrm>
          <a:prstGeom prst="roundRect">
            <a:avLst>
              <a:gd name="adj" fmla="val 5714"/>
            </a:avLst>
          </a:prstGeom>
        </p:spPr>
      </p:pic>
      <p:sp>
        <p:nvSpPr>
          <p:cNvPr id="9" name="Text 4"/>
          <p:cNvSpPr/>
          <p:nvPr/>
        </p:nvSpPr>
        <p:spPr>
          <a:xfrm>
            <a:off x="6172200" y="323334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1:54</a:t>
            </a:r>
            <a:r>
              <a:rPr lang="en-US" sz="1200" dirty="0">
                <a:solidFill>
                  <a:srgbClr val="10233D"/>
                </a:solidFill>
                <a:latin typeface="IBM Plex Sans KR" pitchFamily="34" charset="0"/>
                <a:ea typeface="IBM Plex Sans KR" pitchFamily="34" charset="-122"/>
                <a:cs typeface="IBM Plex Sans KR" pitchFamily="34" charset="-120"/>
              </a:rPr>
              <a:t> 외치기어·편심축 · 서브②</a:t>
            </a:r>
            <a:endParaRPr lang="en-US" sz="1200" dirty="0"/>
          </a:p>
        </p:txBody>
      </p:sp>
      <p:pic>
        <p:nvPicPr>
          <p:cNvPr id="10" name="Image 3" descr="작업자가 외치기어를 내치기어 하우징에 맞물려 넣는 장면">    </p:cNvPr>
          <p:cNvPicPr>
            <a:picLocks noChangeAspect="1"/>
          </p:cNvPicPr>
          <p:nvPr/>
        </p:nvPicPr>
        <p:blipFill>
          <a:blip r:embed="rId4"/>
          <a:srcRect l="0" r="0" t="3099" b="3099"/>
          <a:stretch/>
        </p:blipFill>
        <p:spPr>
          <a:xfrm>
            <a:off x="8851900" y="1849041"/>
            <a:ext cx="2527300" cy="1333500"/>
          </a:xfrm>
          <a:prstGeom prst="roundRect">
            <a:avLst>
              <a:gd name="adj" fmla="val 5714"/>
            </a:avLst>
          </a:prstGeom>
        </p:spPr>
      </p:pic>
      <p:sp>
        <p:nvSpPr>
          <p:cNvPr id="11" name="Text 5"/>
          <p:cNvSpPr/>
          <p:nvPr/>
        </p:nvSpPr>
        <p:spPr>
          <a:xfrm>
            <a:off x="8851900" y="323334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2:06</a:t>
            </a:r>
            <a:r>
              <a:rPr lang="en-US" sz="1200" dirty="0">
                <a:solidFill>
                  <a:srgbClr val="10233D"/>
                </a:solidFill>
                <a:latin typeface="IBM Plex Sans KR" pitchFamily="34" charset="0"/>
                <a:ea typeface="IBM Plex Sans KR" pitchFamily="34" charset="-122"/>
                <a:cs typeface="IBM Plex Sans KR" pitchFamily="34" charset="-120"/>
              </a:rPr>
              <a:t> 내치기어 맞물림 · 04</a:t>
            </a:r>
            <a:endParaRPr lang="en-US" sz="1200" dirty="0"/>
          </a:p>
        </p:txBody>
      </p:sp>
      <p:pic>
        <p:nvPicPr>
          <p:cNvPr id="12" name="Image 4" descr="주걱으로 기어에 그리스를 바르는 장면">    </p:cNvPr>
          <p:cNvPicPr>
            <a:picLocks noChangeAspect="1"/>
          </p:cNvPicPr>
          <p:nvPr/>
        </p:nvPicPr>
        <p:blipFill>
          <a:blip r:embed="rId5"/>
          <a:srcRect l="0" r="0" t="3099" b="3099"/>
          <a:stretch/>
        </p:blipFill>
        <p:spPr>
          <a:xfrm>
            <a:off x="812800" y="3599061"/>
            <a:ext cx="2527300" cy="1333500"/>
          </a:xfrm>
          <a:prstGeom prst="roundRect">
            <a:avLst>
              <a:gd name="adj" fmla="val 5714"/>
            </a:avLst>
          </a:prstGeom>
        </p:spPr>
      </p:pic>
      <p:sp>
        <p:nvSpPr>
          <p:cNvPr id="13" name="Text 6"/>
          <p:cNvSpPr/>
          <p:nvPr/>
        </p:nvSpPr>
        <p:spPr>
          <a:xfrm>
            <a:off x="812800" y="49833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2:18</a:t>
            </a:r>
            <a:r>
              <a:rPr lang="en-US" sz="1200" dirty="0">
                <a:solidFill>
                  <a:srgbClr val="10233D"/>
                </a:solidFill>
                <a:latin typeface="IBM Plex Sans KR" pitchFamily="34" charset="0"/>
                <a:ea typeface="IBM Plex Sans KR" pitchFamily="34" charset="-122"/>
                <a:cs typeface="IBM Plex Sans KR" pitchFamily="34" charset="-120"/>
              </a:rPr>
              <a:t> 그리스 도포 · 05</a:t>
            </a:r>
            <a:endParaRPr lang="en-US" sz="1200" dirty="0"/>
          </a:p>
        </p:txBody>
      </p:sp>
      <p:pic>
        <p:nvPicPr>
          <p:cNvPr id="14" name="Image 5" descr="프레스로 감속기 부품을 압입하는 장면">    </p:cNvPr>
          <p:cNvPicPr>
            <a:picLocks noChangeAspect="1"/>
          </p:cNvPicPr>
          <p:nvPr/>
        </p:nvPicPr>
        <p:blipFill>
          <a:blip r:embed="rId6"/>
          <a:srcRect l="0" r="0" t="3741" b="3741"/>
          <a:stretch/>
        </p:blipFill>
        <p:spPr>
          <a:xfrm>
            <a:off x="3511550" y="3618111"/>
            <a:ext cx="2489200" cy="1295400"/>
          </a:xfrm>
          <a:prstGeom prst="roundRect">
            <a:avLst>
              <a:gd name="adj" fmla="val 4412"/>
            </a:avLst>
          </a:prstGeom>
        </p:spPr>
      </p:pic>
      <p:sp>
        <p:nvSpPr>
          <p:cNvPr id="15" name="Shape 7"/>
          <p:cNvSpPr/>
          <p:nvPr/>
        </p:nvSpPr>
        <p:spPr>
          <a:xfrm>
            <a:off x="3502025" y="3608586"/>
            <a:ext cx="2508250" cy="1314450"/>
          </a:xfrm>
          <a:prstGeom prst="roundRect">
            <a:avLst>
              <a:gd name="adj" fmla="val 5072"/>
            </a:avLst>
          </a:prstGeom>
          <a:noFill/>
          <a:ln w="19050">
            <a:solidFill>
              <a:srgbClr val="1976D2"/>
            </a:solidFill>
            <a:prstDash val="solid"/>
          </a:ln>
        </p:spPr>
      </p:sp>
      <p:sp>
        <p:nvSpPr>
          <p:cNvPr id="16" name="Text 8"/>
          <p:cNvSpPr/>
          <p:nvPr/>
        </p:nvSpPr>
        <p:spPr>
          <a:xfrm>
            <a:off x="3492500" y="49833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3:00</a:t>
            </a:r>
            <a:r>
              <a:rPr lang="en-US" sz="1200" b="1" dirty="0">
                <a:solidFill>
                  <a:srgbClr val="1565C0"/>
                </a:solidFill>
                <a:latin typeface="IBM Plex Sans KR" pitchFamily="34" charset="0"/>
                <a:ea typeface="IBM Plex Sans KR" pitchFamily="34" charset="-122"/>
                <a:cs typeface="IBM Plex Sans KR" pitchFamily="34" charset="-120"/>
              </a:rPr>
              <a:t> 주베어링 압입 · 07</a:t>
            </a:r>
            <a:endParaRPr lang="en-US" sz="1200" dirty="0"/>
          </a:p>
        </p:txBody>
      </p:sp>
      <p:pic>
        <p:nvPicPr>
          <p:cNvPr id="17" name="Image 6" descr="드라이버로 커버 볼트를 체결하는 장면">    </p:cNvPr>
          <p:cNvPicPr>
            <a:picLocks noChangeAspect="1"/>
          </p:cNvPicPr>
          <p:nvPr/>
        </p:nvPicPr>
        <p:blipFill>
          <a:blip r:embed="rId7"/>
          <a:srcRect l="0" r="0" t="3099" b="3099"/>
          <a:stretch/>
        </p:blipFill>
        <p:spPr>
          <a:xfrm>
            <a:off x="6172200" y="3599061"/>
            <a:ext cx="2527300" cy="1333500"/>
          </a:xfrm>
          <a:prstGeom prst="roundRect">
            <a:avLst>
              <a:gd name="adj" fmla="val 5714"/>
            </a:avLst>
          </a:prstGeom>
        </p:spPr>
      </p:pic>
      <p:sp>
        <p:nvSpPr>
          <p:cNvPr id="18" name="Text 9"/>
          <p:cNvSpPr/>
          <p:nvPr/>
        </p:nvSpPr>
        <p:spPr>
          <a:xfrm>
            <a:off x="6172200" y="49833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3:24</a:t>
            </a:r>
            <a:r>
              <a:rPr lang="en-US" sz="1200" dirty="0">
                <a:solidFill>
                  <a:srgbClr val="10233D"/>
                </a:solidFill>
                <a:latin typeface="IBM Plex Sans KR" pitchFamily="34" charset="0"/>
                <a:ea typeface="IBM Plex Sans KR" pitchFamily="34" charset="-122"/>
                <a:cs typeface="IBM Plex Sans KR" pitchFamily="34" charset="-120"/>
              </a:rPr>
              <a:t> 커버 볼트 체결 · 08</a:t>
            </a:r>
            <a:endParaRPr lang="en-US" sz="1200" dirty="0"/>
          </a:p>
        </p:txBody>
      </p:sp>
      <p:pic>
        <p:nvPicPr>
          <p:cNvPr id="19" name="Image 7" descr="조립이 끝난 감속기 완성품">    </p:cNvPr>
          <p:cNvPicPr>
            <a:picLocks noChangeAspect="1"/>
          </p:cNvPicPr>
          <p:nvPr/>
        </p:nvPicPr>
        <p:blipFill>
          <a:blip r:embed="rId8"/>
          <a:srcRect l="0" r="0" t="3099" b="3099"/>
          <a:stretch/>
        </p:blipFill>
        <p:spPr>
          <a:xfrm>
            <a:off x="8851900" y="3599061"/>
            <a:ext cx="2527300" cy="1333500"/>
          </a:xfrm>
          <a:prstGeom prst="roundRect">
            <a:avLst>
              <a:gd name="adj" fmla="val 5714"/>
            </a:avLst>
          </a:prstGeom>
        </p:spPr>
      </p:pic>
      <p:sp>
        <p:nvSpPr>
          <p:cNvPr id="20" name="Text 10"/>
          <p:cNvSpPr/>
          <p:nvPr/>
        </p:nvSpPr>
        <p:spPr>
          <a:xfrm>
            <a:off x="8851900" y="4983361"/>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76D2"/>
                </a:solidFill>
                <a:latin typeface="IBM Plex Sans KR" pitchFamily="34" charset="0"/>
                <a:ea typeface="IBM Plex Sans KR" pitchFamily="34" charset="-122"/>
                <a:cs typeface="IBM Plex Sans KR" pitchFamily="34" charset="-120"/>
              </a:rPr>
              <a:t>3:54</a:t>
            </a:r>
            <a:r>
              <a:rPr lang="en-US" sz="1200" dirty="0">
                <a:solidFill>
                  <a:srgbClr val="10233D"/>
                </a:solidFill>
                <a:latin typeface="IBM Plex Sans KR" pitchFamily="34" charset="0"/>
                <a:ea typeface="IBM Plex Sans KR" pitchFamily="34" charset="-122"/>
                <a:cs typeface="IBM Plex Sans KR" pitchFamily="34" charset="-120"/>
              </a:rPr>
              <a:t> 완성 · 09 검사로</a:t>
            </a:r>
            <a:endParaRPr lang="en-US" sz="1200" dirty="0"/>
          </a:p>
        </p:txBody>
      </p:sp>
      <p:sp>
        <p:nvSpPr>
          <p:cNvPr id="21" name="Shape 11"/>
          <p:cNvSpPr/>
          <p:nvPr/>
        </p:nvSpPr>
        <p:spPr>
          <a:xfrm>
            <a:off x="831850" y="5450681"/>
            <a:ext cx="0" cy="298450"/>
          </a:xfrm>
          <a:prstGeom prst="line">
            <a:avLst/>
          </a:prstGeom>
          <a:noFill/>
          <a:ln w="38100">
            <a:solidFill>
              <a:srgbClr val="1976D2"/>
            </a:solidFill>
            <a:prstDash val="solid"/>
          </a:ln>
        </p:spPr>
      </p:sp>
      <p:sp>
        <p:nvSpPr>
          <p:cNvPr id="22" name="Text 12"/>
          <p:cNvSpPr/>
          <p:nvPr/>
        </p:nvSpPr>
        <p:spPr>
          <a:xfrm>
            <a:off x="1028700" y="5476081"/>
            <a:ext cx="1066101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설비를 쓰는 단계는 프레스 압입 하나 — 나머지는 모두 손작업, 우리 라인의 자동화 대상</a:t>
            </a:r>
            <a:endParaRPr lang="en-US" sz="1300" dirty="0"/>
          </a:p>
        </p:txBody>
      </p:sp>
      <p:sp>
        <p:nvSpPr>
          <p:cNvPr id="23"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출처: Bonsystems Global BSR 080 조립 영상 캡처 · 번호 = 우리 스테이션 · 장면 해석은 팀 판단 · 필수 7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04 · 공정표 (안)</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단계마다 무엇으로 합격을 가르는가</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3326474"/>
        </p:xfrm>
        <a:graphic>
          <a:graphicData uri="http://schemas.openxmlformats.org/drawingml/2006/table">
            <a:tbl>
              <a:tblPr/>
              <a:tblGrid>
                <a:gridCol w="949833"/>
                <a:gridCol w="2321814"/>
                <a:gridCol w="1160907"/>
                <a:gridCol w="4643628"/>
                <a:gridCol w="1477518"/>
              </a:tblGrid>
              <a:tr h="332647">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단계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작업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구분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판정 방법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680"/>
                        </a:lnSpc>
                        <a:buNone/>
                      </a:pPr>
                      <a:r>
                        <a:rPr lang="en-US" sz="1200" b="1" dirty="0">
                          <a:solidFill>
                            <a:srgbClr val="10233D"/>
                          </a:solidFill>
                          <a:latin typeface="IBM Plex Sans KR" pitchFamily="34" charset="0"/>
                          <a:ea typeface="IBM Plex Sans KR" pitchFamily="34" charset="-122"/>
                          <a:cs typeface="IBM Plex Sans KR" pitchFamily="34" charset="-120"/>
                        </a:rPr>
                        <a:t>영상</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01</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하우징 투입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안착 센서 · 제품 ID 스캔 (불일치 시 시작 불가)</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 커버 결합</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서브①에서 베어링·실 압입 → 끼움 깊이 확인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0:15–0:55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03</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입력측 볼트 10개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토크–각도 창 → 체결 후 반전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0:15–0:35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편심축·기어 삽입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서브②(반자동) 공급 → 회전 탐색 삽입·맞물림</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1:40–2:00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부시 8개 · 그리스</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부시 유무 비전 · 그리스 정량 토출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2:05–2:30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06</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 플랜지 삽입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출력핀 8개 부시 관통 · 삽입 하중 감시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2:33–2:47</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07</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 주베어링 압입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힘–변위 곡선이 접촉·압입·종료 창을 통과</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2:47–3:04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 커버 · 볼트 10개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오일실 압입 깊이 · 토크–각도 창</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3:05–3:40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32647">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09</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기능 검사</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자동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회전 토크·백래시 → OK / NG / 보류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구분·판정 방법은 제안안 · 서브① 입력 커버, 서브② 편심축·기어 · 영상 = 제조사 BSR080 조립 영상 해당 구간 · 필수 7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04 · 레이아웃 스케치</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컨베이어 라인 배치와 AMR 동선</a:t>
            </a:r>
            <a:endParaRPr lang="en-US" sz="3200" dirty="0"/>
          </a:p>
        </p:txBody>
      </p:sp>
      <p:sp>
        <p:nvSpPr>
          <p:cNvPr id="4" name="Shape 2"/>
          <p:cNvSpPr/>
          <p:nvPr/>
        </p:nvSpPr>
        <p:spPr>
          <a:xfrm>
            <a:off x="815975" y="1903016"/>
            <a:ext cx="10560050" cy="3935809"/>
          </a:xfrm>
          <a:prstGeom prst="roundRect">
            <a:avLst>
              <a:gd name="adj" fmla="val 3146"/>
            </a:avLst>
          </a:prstGeom>
          <a:solidFill>
            <a:srgbClr val="FCFDFE"/>
          </a:solidFill>
          <a:ln w="6350">
            <a:solidFill>
              <a:srgbClr val="D5DEE9"/>
            </a:solidFill>
            <a:prstDash val="solid"/>
          </a:ln>
        </p:spPr>
      </p:sp>
      <p:sp>
        <p:nvSpPr>
          <p:cNvPr id="5" name="Shape 3"/>
          <p:cNvSpPr/>
          <p:nvPr/>
        </p:nvSpPr>
        <p:spPr>
          <a:xfrm>
            <a:off x="1071033" y="2392958"/>
            <a:ext cx="10049934" cy="0"/>
          </a:xfrm>
          <a:prstGeom prst="line">
            <a:avLst/>
          </a:prstGeom>
          <a:noFill/>
          <a:ln w="19050">
            <a:solidFill>
              <a:srgbClr val="E8833A"/>
            </a:solidFill>
            <a:prstDash val="dash"/>
          </a:ln>
        </p:spPr>
      </p:sp>
      <p:sp>
        <p:nvSpPr>
          <p:cNvPr id="6" name="Shape 4"/>
          <p:cNvSpPr/>
          <p:nvPr/>
        </p:nvSpPr>
        <p:spPr>
          <a:xfrm>
            <a:off x="1071033" y="2824295"/>
            <a:ext cx="10049934" cy="0"/>
          </a:xfrm>
          <a:prstGeom prst="line">
            <a:avLst/>
          </a:prstGeom>
          <a:noFill/>
          <a:ln w="19050">
            <a:solidFill>
              <a:srgbClr val="E8833A"/>
            </a:solidFill>
            <a:prstDash val="dash"/>
          </a:ln>
        </p:spPr>
      </p:sp>
      <p:sp>
        <p:nvSpPr>
          <p:cNvPr id="7" name="Text 5"/>
          <p:cNvSpPr/>
          <p:nvPr/>
        </p:nvSpPr>
        <p:spPr>
          <a:xfrm>
            <a:off x="920284" y="2501966"/>
            <a:ext cx="1035143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AMR 공급 동선 — 서브조립 부품 · 부시 · 그리스 · 볼트 · 오일실 보급</a:t>
            </a:r>
            <a:endParaRPr lang="en-US" sz="1200" dirty="0"/>
          </a:p>
        </p:txBody>
      </p:sp>
      <p:sp>
        <p:nvSpPr>
          <p:cNvPr id="8" name="Text 6"/>
          <p:cNvSpPr/>
          <p:nvPr/>
        </p:nvSpPr>
        <p:spPr>
          <a:xfrm>
            <a:off x="2350691" y="2938599"/>
            <a:ext cx="748308" cy="333970"/>
          </a:xfrm>
          <a:prstGeom prst="roundRect">
            <a:avLst>
              <a:gd name="adj" fmla="val 18063"/>
            </a:avLst>
          </a:prstGeom>
          <a:solidFill>
            <a:srgbClr val="EAF0F7"/>
          </a:solidFill>
          <a:ln w="6350">
            <a:solidFill>
              <a:srgbClr val="C3D0DE"/>
            </a:solidFill>
            <a:prstDash val="solid"/>
          </a:ln>
        </p:spPr>
        <p:txBody>
          <a:bodyPr wrap="none" lIns="0" tIns="34190" rIns="0" bIns="879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서브① ↓</a:t>
            </a:r>
            <a:endParaRPr lang="en-US" sz="1200" dirty="0"/>
          </a:p>
        </p:txBody>
      </p:sp>
      <p:sp>
        <p:nvSpPr>
          <p:cNvPr id="9" name="Text 7"/>
          <p:cNvSpPr/>
          <p:nvPr/>
        </p:nvSpPr>
        <p:spPr>
          <a:xfrm>
            <a:off x="4592836" y="2941774"/>
            <a:ext cx="758891" cy="327620"/>
          </a:xfrm>
          <a:prstGeom prst="roundRect">
            <a:avLst>
              <a:gd name="adj" fmla="val 17444"/>
            </a:avLst>
          </a:prstGeom>
          <a:solidFill>
            <a:srgbClr val="FFF4EA"/>
          </a:solidFill>
          <a:ln w="12700">
            <a:solidFill>
              <a:srgbClr val="E8833A"/>
            </a:solidFill>
            <a:prstDash val="solid"/>
          </a:ln>
        </p:spPr>
        <p:txBody>
          <a:bodyPr wrap="none" lIns="0" tIns="0" rIns="0" bIns="0" rtlCol="0" anchor="ctr">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서브② ↓</a:t>
            </a:r>
            <a:endParaRPr lang="en-US" sz="1200" dirty="0"/>
          </a:p>
        </p:txBody>
      </p:sp>
      <p:sp>
        <p:nvSpPr>
          <p:cNvPr id="10" name="Shape 8"/>
          <p:cNvSpPr/>
          <p:nvPr/>
        </p:nvSpPr>
        <p:spPr>
          <a:xfrm>
            <a:off x="1074208" y="3380519"/>
            <a:ext cx="1048213" cy="648891"/>
          </a:xfrm>
          <a:prstGeom prst="roundRect">
            <a:avLst>
              <a:gd name="adj" fmla="val 11254"/>
            </a:avLst>
          </a:prstGeom>
          <a:solidFill>
            <a:srgbClr val="FCFDFE"/>
          </a:solidFill>
          <a:ln w="6350">
            <a:solidFill>
              <a:srgbClr val="D5DEE9"/>
            </a:solidFill>
            <a:prstDash val="solid"/>
          </a:ln>
        </p:spPr>
      </p:sp>
      <p:sp>
        <p:nvSpPr>
          <p:cNvPr id="11" name="Text 9"/>
          <p:cNvSpPr/>
          <p:nvPr/>
        </p:nvSpPr>
        <p:spPr>
          <a:xfrm>
            <a:off x="1481468"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01</a:t>
            </a:r>
            <a:endParaRPr lang="en-US" sz="1200" dirty="0"/>
          </a:p>
        </p:txBody>
      </p:sp>
      <p:sp>
        <p:nvSpPr>
          <p:cNvPr id="12" name="Text 10"/>
          <p:cNvSpPr/>
          <p:nvPr/>
        </p:nvSpPr>
        <p:spPr>
          <a:xfrm>
            <a:off x="1435160" y="3709194"/>
            <a:ext cx="32631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투입</a:t>
            </a:r>
            <a:endParaRPr lang="en-US" sz="1200" dirty="0"/>
          </a:p>
        </p:txBody>
      </p:sp>
      <p:sp>
        <p:nvSpPr>
          <p:cNvPr id="13" name="Shape 11"/>
          <p:cNvSpPr/>
          <p:nvPr/>
        </p:nvSpPr>
        <p:spPr>
          <a:xfrm>
            <a:off x="2192271" y="3380519"/>
            <a:ext cx="1048279" cy="648891"/>
          </a:xfrm>
          <a:prstGeom prst="roundRect">
            <a:avLst>
              <a:gd name="adj" fmla="val 11254"/>
            </a:avLst>
          </a:prstGeom>
          <a:solidFill>
            <a:srgbClr val="FCFDFE"/>
          </a:solidFill>
          <a:ln w="6350">
            <a:solidFill>
              <a:srgbClr val="D5DEE9"/>
            </a:solidFill>
            <a:prstDash val="solid"/>
          </a:ln>
        </p:spPr>
      </p:sp>
      <p:sp>
        <p:nvSpPr>
          <p:cNvPr id="14" name="Text 12"/>
          <p:cNvSpPr/>
          <p:nvPr/>
        </p:nvSpPr>
        <p:spPr>
          <a:xfrm>
            <a:off x="2599531"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02</a:t>
            </a:r>
            <a:endParaRPr lang="en-US" sz="1200" dirty="0"/>
          </a:p>
        </p:txBody>
      </p:sp>
      <p:sp>
        <p:nvSpPr>
          <p:cNvPr id="15" name="Text 13"/>
          <p:cNvSpPr/>
          <p:nvPr/>
        </p:nvSpPr>
        <p:spPr>
          <a:xfrm>
            <a:off x="2390107" y="3709194"/>
            <a:ext cx="652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입력커버</a:t>
            </a:r>
            <a:endParaRPr lang="en-US" sz="1200" dirty="0"/>
          </a:p>
        </p:txBody>
      </p:sp>
      <p:sp>
        <p:nvSpPr>
          <p:cNvPr id="16" name="Shape 14"/>
          <p:cNvSpPr/>
          <p:nvPr/>
        </p:nvSpPr>
        <p:spPr>
          <a:xfrm>
            <a:off x="3313576" y="3383694"/>
            <a:ext cx="1058796" cy="642541"/>
          </a:xfrm>
          <a:prstGeom prst="roundRect">
            <a:avLst>
              <a:gd name="adj" fmla="val 10871"/>
            </a:avLst>
          </a:prstGeom>
          <a:solidFill>
            <a:srgbClr val="E3EEFA"/>
          </a:solidFill>
          <a:ln w="12700">
            <a:solidFill>
              <a:srgbClr val="1976D2"/>
            </a:solidFill>
            <a:prstDash val="solid"/>
          </a:ln>
        </p:spPr>
      </p:sp>
      <p:sp>
        <p:nvSpPr>
          <p:cNvPr id="17" name="Text 15"/>
          <p:cNvSpPr/>
          <p:nvPr/>
        </p:nvSpPr>
        <p:spPr>
          <a:xfrm>
            <a:off x="3726127" y="3478944"/>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03</a:t>
            </a:r>
            <a:endParaRPr lang="en-US" sz="1200" dirty="0"/>
          </a:p>
        </p:txBody>
      </p:sp>
      <p:sp>
        <p:nvSpPr>
          <p:cNvPr id="18" name="Text 16"/>
          <p:cNvSpPr/>
          <p:nvPr/>
        </p:nvSpPr>
        <p:spPr>
          <a:xfrm>
            <a:off x="3516703" y="3717665"/>
            <a:ext cx="652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입력볼트</a:t>
            </a:r>
            <a:endParaRPr lang="en-US" sz="1200" dirty="0"/>
          </a:p>
        </p:txBody>
      </p:sp>
      <p:sp>
        <p:nvSpPr>
          <p:cNvPr id="19" name="Shape 17"/>
          <p:cNvSpPr/>
          <p:nvPr/>
        </p:nvSpPr>
        <p:spPr>
          <a:xfrm>
            <a:off x="4445397" y="3380519"/>
            <a:ext cx="1048213" cy="648891"/>
          </a:xfrm>
          <a:prstGeom prst="roundRect">
            <a:avLst>
              <a:gd name="adj" fmla="val 11254"/>
            </a:avLst>
          </a:prstGeom>
          <a:solidFill>
            <a:srgbClr val="FCFDFE"/>
          </a:solidFill>
          <a:ln w="6350">
            <a:solidFill>
              <a:srgbClr val="D5DEE9"/>
            </a:solidFill>
            <a:prstDash val="solid"/>
          </a:ln>
        </p:spPr>
      </p:sp>
      <p:sp>
        <p:nvSpPr>
          <p:cNvPr id="20" name="Text 18"/>
          <p:cNvSpPr/>
          <p:nvPr/>
        </p:nvSpPr>
        <p:spPr>
          <a:xfrm>
            <a:off x="4852657"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04</a:t>
            </a:r>
            <a:endParaRPr lang="en-US" sz="1200" dirty="0"/>
          </a:p>
        </p:txBody>
      </p:sp>
      <p:sp>
        <p:nvSpPr>
          <p:cNvPr id="21" name="Text 19"/>
          <p:cNvSpPr/>
          <p:nvPr/>
        </p:nvSpPr>
        <p:spPr>
          <a:xfrm>
            <a:off x="4643232" y="3709194"/>
            <a:ext cx="652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기어삽입</a:t>
            </a:r>
            <a:endParaRPr lang="en-US" sz="1200" dirty="0"/>
          </a:p>
        </p:txBody>
      </p:sp>
      <p:sp>
        <p:nvSpPr>
          <p:cNvPr id="22" name="Shape 20"/>
          <p:cNvSpPr/>
          <p:nvPr/>
        </p:nvSpPr>
        <p:spPr>
          <a:xfrm>
            <a:off x="5563460" y="3380519"/>
            <a:ext cx="1048213" cy="648891"/>
          </a:xfrm>
          <a:prstGeom prst="roundRect">
            <a:avLst>
              <a:gd name="adj" fmla="val 11254"/>
            </a:avLst>
          </a:prstGeom>
          <a:solidFill>
            <a:srgbClr val="FCFDFE"/>
          </a:solidFill>
          <a:ln w="6350">
            <a:solidFill>
              <a:srgbClr val="D5DEE9"/>
            </a:solidFill>
            <a:prstDash val="solid"/>
          </a:ln>
        </p:spPr>
      </p:sp>
      <p:sp>
        <p:nvSpPr>
          <p:cNvPr id="23" name="Text 21"/>
          <p:cNvSpPr/>
          <p:nvPr/>
        </p:nvSpPr>
        <p:spPr>
          <a:xfrm>
            <a:off x="5970720"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05</a:t>
            </a:r>
            <a:endParaRPr lang="en-US" sz="1200" dirty="0"/>
          </a:p>
        </p:txBody>
      </p:sp>
      <p:sp>
        <p:nvSpPr>
          <p:cNvPr id="24" name="Text 22"/>
          <p:cNvSpPr/>
          <p:nvPr/>
        </p:nvSpPr>
        <p:spPr>
          <a:xfrm>
            <a:off x="5649933" y="3709194"/>
            <a:ext cx="87526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부시·그리스</a:t>
            </a:r>
            <a:endParaRPr lang="en-US" sz="1200" dirty="0"/>
          </a:p>
        </p:txBody>
      </p:sp>
      <p:sp>
        <p:nvSpPr>
          <p:cNvPr id="25" name="Shape 23"/>
          <p:cNvSpPr/>
          <p:nvPr/>
        </p:nvSpPr>
        <p:spPr>
          <a:xfrm>
            <a:off x="6681523" y="3380519"/>
            <a:ext cx="1048213" cy="648891"/>
          </a:xfrm>
          <a:prstGeom prst="roundRect">
            <a:avLst>
              <a:gd name="adj" fmla="val 11254"/>
            </a:avLst>
          </a:prstGeom>
          <a:solidFill>
            <a:srgbClr val="FCFDFE"/>
          </a:solidFill>
          <a:ln w="6350">
            <a:solidFill>
              <a:srgbClr val="D5DEE9"/>
            </a:solidFill>
            <a:prstDash val="solid"/>
          </a:ln>
        </p:spPr>
      </p:sp>
      <p:sp>
        <p:nvSpPr>
          <p:cNvPr id="26" name="Text 24"/>
          <p:cNvSpPr/>
          <p:nvPr/>
        </p:nvSpPr>
        <p:spPr>
          <a:xfrm>
            <a:off x="7088783"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06</a:t>
            </a:r>
            <a:endParaRPr lang="en-US" sz="1200" dirty="0"/>
          </a:p>
        </p:txBody>
      </p:sp>
      <p:sp>
        <p:nvSpPr>
          <p:cNvPr id="27" name="Text 25"/>
          <p:cNvSpPr/>
          <p:nvPr/>
        </p:nvSpPr>
        <p:spPr>
          <a:xfrm>
            <a:off x="6960883" y="3709194"/>
            <a:ext cx="48942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플랜지</a:t>
            </a:r>
            <a:endParaRPr lang="en-US" sz="1200" dirty="0"/>
          </a:p>
        </p:txBody>
      </p:sp>
      <p:sp>
        <p:nvSpPr>
          <p:cNvPr id="28" name="Shape 26"/>
          <p:cNvSpPr/>
          <p:nvPr/>
        </p:nvSpPr>
        <p:spPr>
          <a:xfrm>
            <a:off x="7802761" y="3383694"/>
            <a:ext cx="1058796" cy="642541"/>
          </a:xfrm>
          <a:prstGeom prst="roundRect">
            <a:avLst>
              <a:gd name="adj" fmla="val 10871"/>
            </a:avLst>
          </a:prstGeom>
          <a:solidFill>
            <a:srgbClr val="E3EEFA"/>
          </a:solidFill>
          <a:ln w="12700">
            <a:solidFill>
              <a:srgbClr val="1976D2"/>
            </a:solidFill>
            <a:prstDash val="solid"/>
          </a:ln>
        </p:spPr>
      </p:sp>
      <p:sp>
        <p:nvSpPr>
          <p:cNvPr id="29" name="Text 27"/>
          <p:cNvSpPr/>
          <p:nvPr/>
        </p:nvSpPr>
        <p:spPr>
          <a:xfrm>
            <a:off x="8215313" y="3478944"/>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07</a:t>
            </a:r>
            <a:endParaRPr lang="en-US" sz="1200" dirty="0"/>
          </a:p>
        </p:txBody>
      </p:sp>
      <p:sp>
        <p:nvSpPr>
          <p:cNvPr id="30" name="Text 28"/>
          <p:cNvSpPr/>
          <p:nvPr/>
        </p:nvSpPr>
        <p:spPr>
          <a:xfrm>
            <a:off x="8005888" y="3717665"/>
            <a:ext cx="652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주베어링</a:t>
            </a:r>
            <a:endParaRPr lang="en-US" sz="1200" dirty="0"/>
          </a:p>
        </p:txBody>
      </p:sp>
      <p:sp>
        <p:nvSpPr>
          <p:cNvPr id="31" name="Shape 29"/>
          <p:cNvSpPr/>
          <p:nvPr/>
        </p:nvSpPr>
        <p:spPr>
          <a:xfrm>
            <a:off x="8937758" y="3383694"/>
            <a:ext cx="1058796" cy="642541"/>
          </a:xfrm>
          <a:prstGeom prst="roundRect">
            <a:avLst>
              <a:gd name="adj" fmla="val 10871"/>
            </a:avLst>
          </a:prstGeom>
          <a:solidFill>
            <a:srgbClr val="E3EEFA"/>
          </a:solidFill>
          <a:ln w="12700">
            <a:solidFill>
              <a:srgbClr val="1976D2"/>
            </a:solidFill>
            <a:prstDash val="solid"/>
          </a:ln>
        </p:spPr>
      </p:sp>
      <p:sp>
        <p:nvSpPr>
          <p:cNvPr id="32" name="Text 30"/>
          <p:cNvSpPr/>
          <p:nvPr/>
        </p:nvSpPr>
        <p:spPr>
          <a:xfrm>
            <a:off x="9350309" y="3478944"/>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08</a:t>
            </a:r>
            <a:endParaRPr lang="en-US" sz="1200" dirty="0"/>
          </a:p>
        </p:txBody>
      </p:sp>
      <p:sp>
        <p:nvSpPr>
          <p:cNvPr id="33" name="Text 31"/>
          <p:cNvSpPr/>
          <p:nvPr/>
        </p:nvSpPr>
        <p:spPr>
          <a:xfrm>
            <a:off x="9140885" y="3717665"/>
            <a:ext cx="65254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출력커버</a:t>
            </a:r>
            <a:endParaRPr lang="en-US" sz="1200" dirty="0"/>
          </a:p>
        </p:txBody>
      </p:sp>
      <p:sp>
        <p:nvSpPr>
          <p:cNvPr id="34" name="Shape 32"/>
          <p:cNvSpPr/>
          <p:nvPr/>
        </p:nvSpPr>
        <p:spPr>
          <a:xfrm>
            <a:off x="10069579" y="3380519"/>
            <a:ext cx="1048213" cy="648891"/>
          </a:xfrm>
          <a:prstGeom prst="roundRect">
            <a:avLst>
              <a:gd name="adj" fmla="val 11254"/>
            </a:avLst>
          </a:prstGeom>
          <a:solidFill>
            <a:srgbClr val="FCFDFE"/>
          </a:solidFill>
          <a:ln w="6350">
            <a:solidFill>
              <a:srgbClr val="D5DEE9"/>
            </a:solidFill>
            <a:prstDash val="solid"/>
          </a:ln>
        </p:spPr>
      </p:sp>
      <p:sp>
        <p:nvSpPr>
          <p:cNvPr id="35" name="Text 33"/>
          <p:cNvSpPr/>
          <p:nvPr/>
        </p:nvSpPr>
        <p:spPr>
          <a:xfrm>
            <a:off x="10476839" y="3470473"/>
            <a:ext cx="23369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09</a:t>
            </a:r>
            <a:endParaRPr lang="en-US" sz="1200" dirty="0"/>
          </a:p>
        </p:txBody>
      </p:sp>
      <p:sp>
        <p:nvSpPr>
          <p:cNvPr id="36" name="Text 34"/>
          <p:cNvSpPr/>
          <p:nvPr/>
        </p:nvSpPr>
        <p:spPr>
          <a:xfrm>
            <a:off x="10430530" y="3709194"/>
            <a:ext cx="32631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검사</a:t>
            </a:r>
            <a:endParaRPr lang="en-US" sz="1200" dirty="0"/>
          </a:p>
        </p:txBody>
      </p:sp>
      <p:sp>
        <p:nvSpPr>
          <p:cNvPr id="37" name="Shape 35"/>
          <p:cNvSpPr/>
          <p:nvPr/>
        </p:nvSpPr>
        <p:spPr>
          <a:xfrm>
            <a:off x="1071033" y="4134185"/>
            <a:ext cx="10049934" cy="391120"/>
          </a:xfrm>
          <a:prstGeom prst="roundRect">
            <a:avLst>
              <a:gd name="adj" fmla="val 12988"/>
            </a:avLst>
          </a:prstGeom>
          <a:solidFill>
            <a:srgbClr val="10233D"/>
          </a:solidFill>
          <a:ln/>
        </p:spPr>
      </p:sp>
      <p:sp>
        <p:nvSpPr>
          <p:cNvPr id="38" name="Text 36"/>
          <p:cNvSpPr/>
          <p:nvPr/>
        </p:nvSpPr>
        <p:spPr>
          <a:xfrm>
            <a:off x="1248833" y="4223085"/>
            <a:ext cx="17952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8FB"/>
                </a:solidFill>
                <a:latin typeface="IBM Plex Sans KR" pitchFamily="34" charset="0"/>
                <a:ea typeface="IBM Plex Sans KR" pitchFamily="34" charset="-122"/>
                <a:cs typeface="IBM Plex Sans KR" pitchFamily="34" charset="-120"/>
              </a:rPr>
              <a:t>팔레트 컨베이어 → → →</a:t>
            </a:r>
            <a:endParaRPr lang="en-US" sz="1200" dirty="0"/>
          </a:p>
        </p:txBody>
      </p:sp>
      <p:sp>
        <p:nvSpPr>
          <p:cNvPr id="39" name="Text 37"/>
          <p:cNvSpPr/>
          <p:nvPr/>
        </p:nvSpPr>
        <p:spPr>
          <a:xfrm>
            <a:off x="9837791" y="4223085"/>
            <a:ext cx="110537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7FB5EE"/>
                </a:solidFill>
                <a:latin typeface="IBM Plex Sans KR" pitchFamily="34" charset="0"/>
                <a:ea typeface="IBM Plex Sans KR" pitchFamily="34" charset="-122"/>
                <a:cs typeface="IBM Plex Sans KR" pitchFamily="34" charset="-120"/>
              </a:rPr>
              <a:t>라인 끝 분기 ↓</a:t>
            </a:r>
            <a:endParaRPr lang="en-US" sz="1200" dirty="0"/>
          </a:p>
        </p:txBody>
      </p:sp>
      <p:sp>
        <p:nvSpPr>
          <p:cNvPr id="40" name="Shape 38"/>
          <p:cNvSpPr/>
          <p:nvPr/>
        </p:nvSpPr>
        <p:spPr>
          <a:xfrm>
            <a:off x="1071033" y="4626905"/>
            <a:ext cx="3231423" cy="731441"/>
          </a:xfrm>
          <a:prstGeom prst="roundRect">
            <a:avLst>
              <a:gd name="adj" fmla="val 12154"/>
            </a:avLst>
          </a:prstGeom>
          <a:solidFill>
            <a:srgbClr val="EAF0F7"/>
          </a:solidFill>
          <a:ln/>
        </p:spPr>
      </p:sp>
      <p:sp>
        <p:nvSpPr>
          <p:cNvPr id="41" name="Text 39"/>
          <p:cNvSpPr/>
          <p:nvPr/>
        </p:nvSpPr>
        <p:spPr>
          <a:xfrm>
            <a:off x="2338884" y="4753905"/>
            <a:ext cx="69572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부품 입고</a:t>
            </a:r>
            <a:endParaRPr lang="en-US" sz="1200" dirty="0"/>
          </a:p>
        </p:txBody>
      </p:sp>
      <p:sp>
        <p:nvSpPr>
          <p:cNvPr id="42" name="Text 40"/>
          <p:cNvSpPr/>
          <p:nvPr/>
        </p:nvSpPr>
        <p:spPr>
          <a:xfrm>
            <a:off x="1991062" y="4992625"/>
            <a:ext cx="139136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하우징 팔레트 투입</a:t>
            </a:r>
            <a:endParaRPr lang="en-US" sz="1200" dirty="0"/>
          </a:p>
        </p:txBody>
      </p:sp>
      <p:sp>
        <p:nvSpPr>
          <p:cNvPr id="43" name="Shape 41"/>
          <p:cNvSpPr/>
          <p:nvPr/>
        </p:nvSpPr>
        <p:spPr>
          <a:xfrm>
            <a:off x="4461206" y="4633255"/>
            <a:ext cx="3244189" cy="718741"/>
          </a:xfrm>
          <a:prstGeom prst="roundRect">
            <a:avLst>
              <a:gd name="adj" fmla="val 11485"/>
            </a:avLst>
          </a:prstGeom>
          <a:solidFill>
            <a:srgbClr val="FFF4EA"/>
          </a:solidFill>
          <a:ln w="12700">
            <a:solidFill>
              <a:srgbClr val="E8833A"/>
            </a:solidFill>
            <a:prstDash val="dash"/>
          </a:ln>
        </p:spPr>
      </p:sp>
      <p:sp>
        <p:nvSpPr>
          <p:cNvPr id="44" name="Text 42"/>
          <p:cNvSpPr/>
          <p:nvPr/>
        </p:nvSpPr>
        <p:spPr>
          <a:xfrm>
            <a:off x="5600303" y="4766605"/>
            <a:ext cx="96599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재작업 · 격리</a:t>
            </a:r>
            <a:endParaRPr lang="en-US" sz="1200" dirty="0"/>
          </a:p>
        </p:txBody>
      </p:sp>
      <p:sp>
        <p:nvSpPr>
          <p:cNvPr id="45" name="Text 43"/>
          <p:cNvSpPr/>
          <p:nvPr/>
        </p:nvSpPr>
        <p:spPr>
          <a:xfrm>
            <a:off x="5083182" y="5005325"/>
            <a:ext cx="200017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NG·보류 배출 → AMR 반출</a:t>
            </a:r>
            <a:endParaRPr lang="en-US" sz="1200" dirty="0"/>
          </a:p>
        </p:txBody>
      </p:sp>
      <p:sp>
        <p:nvSpPr>
          <p:cNvPr id="46" name="Shape 44"/>
          <p:cNvSpPr/>
          <p:nvPr/>
        </p:nvSpPr>
        <p:spPr>
          <a:xfrm>
            <a:off x="7870495" y="4633255"/>
            <a:ext cx="3244123" cy="718741"/>
          </a:xfrm>
          <a:prstGeom prst="roundRect">
            <a:avLst>
              <a:gd name="adj" fmla="val 11485"/>
            </a:avLst>
          </a:prstGeom>
          <a:solidFill>
            <a:srgbClr val="FFF4EA"/>
          </a:solidFill>
          <a:ln w="12700">
            <a:solidFill>
              <a:srgbClr val="E8833A"/>
            </a:solidFill>
            <a:prstDash val="dash"/>
          </a:ln>
        </p:spPr>
      </p:sp>
      <p:sp>
        <p:nvSpPr>
          <p:cNvPr id="47" name="Text 45"/>
          <p:cNvSpPr/>
          <p:nvPr/>
        </p:nvSpPr>
        <p:spPr>
          <a:xfrm>
            <a:off x="9329401" y="4766605"/>
            <a:ext cx="32631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출하</a:t>
            </a:r>
            <a:endParaRPr lang="en-US" sz="1200" dirty="0"/>
          </a:p>
        </p:txBody>
      </p:sp>
      <p:sp>
        <p:nvSpPr>
          <p:cNvPr id="48" name="Text 46"/>
          <p:cNvSpPr/>
          <p:nvPr/>
        </p:nvSpPr>
        <p:spPr>
          <a:xfrm>
            <a:off x="8875541" y="5005325"/>
            <a:ext cx="123396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OK → AMR 회수</a:t>
            </a:r>
            <a:endParaRPr lang="en-US" sz="1200" dirty="0"/>
          </a:p>
        </p:txBody>
      </p:sp>
      <p:sp>
        <p:nvSpPr>
          <p:cNvPr id="49" name="Text 4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개념도 · 레이아웃 담당 스케치로 교체 예정 · 파랑 = 곡선 판정, 주황 = 작업자·AMR · 서브조립은 라인 옆 · 필수 7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05 · 사람·로봇·AMR</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현행 공정과 우리 라인의 구성 비교</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1929805"/>
        </p:xfrm>
        <a:graphic>
          <a:graphicData uri="http://schemas.openxmlformats.org/drawingml/2006/table">
            <a:tbl>
              <a:tblPr/>
              <a:tblGrid>
                <a:gridCol w="2110740"/>
                <a:gridCol w="3799332"/>
                <a:gridCol w="4643628"/>
              </a:tblGrid>
              <a:tr h="385961">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요소</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현행 (수작업 중심)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우리 라인</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작업자</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조립·판단의 대부분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서브조립②(외치기어 정렬) · 예외 처리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산업용 로봇</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[조사 필요]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스테이션 압입·삽입·체결 [기종 미정]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협동로봇</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[조사 필요]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[서브조립② 작업자 보조 적용 여부 미정]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AGV · AMR</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[조사 필요]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라인 사이드 공급 · NG 반출 · 완성품 회수 (추가)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4248745"/>
            <a:ext cx="1088339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없는 요소는 다음 장에서 추가 방법을 정합니다 — 참조 로봇 역설계 또는 아이디어 설계</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현행 열은 업체 설명(삼현·Eyou) 기준 · 필수 8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05 · 추가 방법</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참조 로봇은 역설계, EOAT는 아이디어 설계</a:t>
            </a:r>
            <a:endParaRPr lang="en-US" sz="3200" dirty="0"/>
          </a:p>
        </p:txBody>
      </p:sp>
      <p:sp>
        <p:nvSpPr>
          <p:cNvPr id="4" name="Shape 2"/>
          <p:cNvSpPr/>
          <p:nvPr/>
        </p:nvSpPr>
        <p:spPr>
          <a:xfrm>
            <a:off x="815975" y="1953816"/>
            <a:ext cx="5149850" cy="2216745"/>
          </a:xfrm>
          <a:prstGeom prst="roundRect">
            <a:avLst>
              <a:gd name="adj" fmla="val 4440"/>
            </a:avLst>
          </a:prstGeom>
          <a:solidFill>
            <a:srgbClr val="FCFDFE"/>
          </a:solidFill>
          <a:ln w="6350">
            <a:solidFill>
              <a:srgbClr val="D5DEE9"/>
            </a:solidFill>
            <a:prstDash val="solid"/>
          </a:ln>
        </p:spPr>
      </p:sp>
      <p:sp>
        <p:nvSpPr>
          <p:cNvPr id="5" name="Text 3"/>
          <p:cNvSpPr/>
          <p:nvPr/>
        </p:nvSpPr>
        <p:spPr>
          <a:xfrm>
            <a:off x="1096433" y="2234282"/>
            <a:ext cx="47266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역설계</a:t>
            </a:r>
            <a:endParaRPr lang="en-US" sz="1200" dirty="0"/>
          </a:p>
        </p:txBody>
      </p:sp>
      <p:sp>
        <p:nvSpPr>
          <p:cNvPr id="6" name="Text 4"/>
          <p:cNvSpPr/>
          <p:nvPr/>
        </p:nvSpPr>
        <p:spPr>
          <a:xfrm>
            <a:off x="1096433" y="2574603"/>
            <a:ext cx="472660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참조 로봇</a:t>
            </a:r>
            <a:endParaRPr lang="en-US" sz="2200" dirty="0"/>
          </a:p>
        </p:txBody>
      </p:sp>
      <p:sp>
        <p:nvSpPr>
          <p:cNvPr id="7" name="Text 5"/>
          <p:cNvSpPr/>
          <p:nvPr/>
        </p:nvSpPr>
        <p:spPr>
          <a:xfrm>
            <a:off x="1168315" y="3036825"/>
            <a:ext cx="4647099" cy="878681"/>
          </a:xfrm>
          <a:prstGeom prst="rect">
            <a:avLst/>
          </a:prstGeom>
          <a:noFill/>
          <a:ln/>
        </p:spPr>
        <p:txBody>
          <a:bodyPr wrap="square" lIns="0" tIns="0" rIns="0" bIns="0" rtlCol="0" anchor="t">
            <a:normAutofit/>
          </a:bodyPr>
          <a:lstStyle/>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형번 [미정]</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산업용 / 협동 [미정]</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가반하중·도달거리로 스테이션 배치 결정</a:t>
            </a:r>
            <a:endParaRPr lang="en-US" sz="1400" dirty="0"/>
          </a:p>
        </p:txBody>
      </p:sp>
      <p:sp>
        <p:nvSpPr>
          <p:cNvPr id="8" name="Shape 6"/>
          <p:cNvSpPr/>
          <p:nvPr/>
        </p:nvSpPr>
        <p:spPr>
          <a:xfrm>
            <a:off x="6226175" y="1953816"/>
            <a:ext cx="5149850" cy="2216745"/>
          </a:xfrm>
          <a:prstGeom prst="roundRect">
            <a:avLst>
              <a:gd name="adj" fmla="val 4440"/>
            </a:avLst>
          </a:prstGeom>
          <a:solidFill>
            <a:srgbClr val="FCFDFE"/>
          </a:solidFill>
          <a:ln w="6350">
            <a:solidFill>
              <a:srgbClr val="D5DEE9"/>
            </a:solidFill>
            <a:prstDash val="solid"/>
          </a:ln>
        </p:spPr>
      </p:sp>
      <p:sp>
        <p:nvSpPr>
          <p:cNvPr id="9" name="Text 7"/>
          <p:cNvSpPr/>
          <p:nvPr/>
        </p:nvSpPr>
        <p:spPr>
          <a:xfrm>
            <a:off x="6506634" y="2234282"/>
            <a:ext cx="47266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아이디어 설계</a:t>
            </a:r>
            <a:endParaRPr lang="en-US" sz="1200" dirty="0"/>
          </a:p>
        </p:txBody>
      </p:sp>
      <p:sp>
        <p:nvSpPr>
          <p:cNvPr id="10" name="Text 8"/>
          <p:cNvSpPr/>
          <p:nvPr/>
        </p:nvSpPr>
        <p:spPr>
          <a:xfrm>
            <a:off x="6506634" y="2574603"/>
            <a:ext cx="472660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33D"/>
                </a:solidFill>
                <a:latin typeface="IBM Plex Sans KR" pitchFamily="34" charset="0"/>
                <a:ea typeface="IBM Plex Sans KR" pitchFamily="34" charset="-122"/>
                <a:cs typeface="IBM Plex Sans KR" pitchFamily="34" charset="-120"/>
              </a:rPr>
              <a:t>EOAT (그리퍼)</a:t>
            </a:r>
            <a:endParaRPr lang="en-US" sz="2200" dirty="0"/>
          </a:p>
        </p:txBody>
      </p:sp>
      <p:sp>
        <p:nvSpPr>
          <p:cNvPr id="11" name="Text 9"/>
          <p:cNvSpPr/>
          <p:nvPr/>
        </p:nvSpPr>
        <p:spPr>
          <a:xfrm>
            <a:off x="6578516" y="3036825"/>
            <a:ext cx="4647099" cy="878681"/>
          </a:xfrm>
          <a:prstGeom prst="rect">
            <a:avLst/>
          </a:prstGeom>
          <a:noFill/>
          <a:ln/>
        </p:spPr>
        <p:txBody>
          <a:bodyPr wrap="square" lIns="0" tIns="0" rIns="0" bIns="0" rtlCol="0" anchor="t">
            <a:normAutofit/>
          </a:bodyPr>
          <a:lstStyle/>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흡착 시험안: Ø20 패드 2개, 60 kPa</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수직 패드 자세는 파지력 불충족</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 그리퍼 형태 재검토</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EOAT 수치: 이전 모델(R5) 기준 시험안 · R6 질량으로 갱신 예정 · 필수 9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05 · 첨단 이송 시스템</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컨베이어는 라인 안, AMR은 라인 밖</a:t>
            </a:r>
            <a:endParaRPr lang="en-US" sz="3200" dirty="0"/>
          </a:p>
        </p:txBody>
      </p:sp>
      <p:sp>
        <p:nvSpPr>
          <p:cNvPr id="4" name="Shape 2"/>
          <p:cNvSpPr/>
          <p:nvPr/>
        </p:nvSpPr>
        <p:spPr>
          <a:xfrm>
            <a:off x="815975" y="1953816"/>
            <a:ext cx="5200650" cy="995230"/>
          </a:xfrm>
          <a:prstGeom prst="roundRect">
            <a:avLst>
              <a:gd name="adj" fmla="val 9890"/>
            </a:avLst>
          </a:prstGeom>
          <a:solidFill>
            <a:srgbClr val="FCFDFE"/>
          </a:solidFill>
          <a:ln w="6350">
            <a:solidFill>
              <a:srgbClr val="D5DEE9"/>
            </a:solidFill>
            <a:prstDash val="solid"/>
          </a:ln>
        </p:spPr>
      </p:sp>
      <p:sp>
        <p:nvSpPr>
          <p:cNvPr id="5" name="Text 3"/>
          <p:cNvSpPr/>
          <p:nvPr/>
        </p:nvSpPr>
        <p:spPr>
          <a:xfrm>
            <a:off x="1045633" y="2183482"/>
            <a:ext cx="488357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① 라인 사이드 공급</a:t>
            </a:r>
            <a:endParaRPr lang="en-US" sz="1600" dirty="0"/>
          </a:p>
        </p:txBody>
      </p:sp>
      <p:sp>
        <p:nvSpPr>
          <p:cNvPr id="6" name="Text 4"/>
          <p:cNvSpPr/>
          <p:nvPr/>
        </p:nvSpPr>
        <p:spPr>
          <a:xfrm>
            <a:off x="1045633" y="2490788"/>
            <a:ext cx="488357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스테이션별 부품 키트를 라인 옆에 채워 라인이 멈추지 않게 함</a:t>
            </a:r>
            <a:endParaRPr lang="en-US" sz="1200" dirty="0"/>
          </a:p>
        </p:txBody>
      </p:sp>
      <p:sp>
        <p:nvSpPr>
          <p:cNvPr id="7" name="Shape 5"/>
          <p:cNvSpPr/>
          <p:nvPr/>
        </p:nvSpPr>
        <p:spPr>
          <a:xfrm>
            <a:off x="6175375" y="1953816"/>
            <a:ext cx="5200650" cy="995230"/>
          </a:xfrm>
          <a:prstGeom prst="roundRect">
            <a:avLst>
              <a:gd name="adj" fmla="val 9890"/>
            </a:avLst>
          </a:prstGeom>
          <a:solidFill>
            <a:srgbClr val="FCFDFE"/>
          </a:solidFill>
          <a:ln w="6350">
            <a:solidFill>
              <a:srgbClr val="D5DEE9"/>
            </a:solidFill>
            <a:prstDash val="solid"/>
          </a:ln>
        </p:spPr>
      </p:sp>
      <p:sp>
        <p:nvSpPr>
          <p:cNvPr id="8" name="Text 6"/>
          <p:cNvSpPr/>
          <p:nvPr/>
        </p:nvSpPr>
        <p:spPr>
          <a:xfrm>
            <a:off x="6405033" y="2183482"/>
            <a:ext cx="488357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② 오투입 차단</a:t>
            </a:r>
            <a:endParaRPr lang="en-US" sz="1600" dirty="0"/>
          </a:p>
        </p:txBody>
      </p:sp>
      <p:sp>
        <p:nvSpPr>
          <p:cNvPr id="9" name="Text 7"/>
          <p:cNvSpPr/>
          <p:nvPr/>
        </p:nvSpPr>
        <p:spPr>
          <a:xfrm>
            <a:off x="6405033" y="2490788"/>
            <a:ext cx="488357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하우징 팔레트를 라인에 올릴 때 제품 ID 대조, 불일치는 투입 안 함</a:t>
            </a:r>
            <a:endParaRPr lang="en-US" sz="1200" dirty="0"/>
          </a:p>
        </p:txBody>
      </p:sp>
      <p:sp>
        <p:nvSpPr>
          <p:cNvPr id="10" name="Shape 8"/>
          <p:cNvSpPr/>
          <p:nvPr/>
        </p:nvSpPr>
        <p:spPr>
          <a:xfrm>
            <a:off x="819150" y="3110979"/>
            <a:ext cx="5194300" cy="1005814"/>
          </a:xfrm>
          <a:prstGeom prst="roundRect">
            <a:avLst>
              <a:gd name="adj" fmla="val 9470"/>
            </a:avLst>
          </a:prstGeom>
          <a:solidFill>
            <a:srgbClr val="E3EEFA"/>
          </a:solidFill>
          <a:ln w="12700">
            <a:solidFill>
              <a:srgbClr val="1976D2"/>
            </a:solidFill>
            <a:prstDash val="solid"/>
          </a:ln>
        </p:spPr>
      </p:sp>
      <p:sp>
        <p:nvSpPr>
          <p:cNvPr id="11" name="Text 9"/>
          <p:cNvSpPr/>
          <p:nvPr/>
        </p:nvSpPr>
        <p:spPr>
          <a:xfrm>
            <a:off x="1054100" y="3345929"/>
            <a:ext cx="486613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③ NG 반출 · 검사 결과 분기</a:t>
            </a:r>
            <a:endParaRPr lang="en-US" sz="1600" dirty="0"/>
          </a:p>
        </p:txBody>
      </p:sp>
      <p:sp>
        <p:nvSpPr>
          <p:cNvPr id="12" name="Text 10"/>
          <p:cNvSpPr/>
          <p:nvPr/>
        </p:nvSpPr>
        <p:spPr>
          <a:xfrm>
            <a:off x="1054100" y="3653234"/>
            <a:ext cx="49530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배출 포트에서 NG → 재작업, 보류 → 격리, OK → 출하. 시뮬레이션 시연 대상</a:t>
            </a:r>
            <a:endParaRPr lang="en-US" sz="1200" dirty="0"/>
          </a:p>
        </p:txBody>
      </p:sp>
      <p:sp>
        <p:nvSpPr>
          <p:cNvPr id="13" name="Shape 11"/>
          <p:cNvSpPr/>
          <p:nvPr/>
        </p:nvSpPr>
        <p:spPr>
          <a:xfrm>
            <a:off x="6175375" y="3107804"/>
            <a:ext cx="5200650" cy="1012164"/>
          </a:xfrm>
          <a:prstGeom prst="roundRect">
            <a:avLst>
              <a:gd name="adj" fmla="val 9724"/>
            </a:avLst>
          </a:prstGeom>
          <a:solidFill>
            <a:srgbClr val="FCFDFE"/>
          </a:solidFill>
          <a:ln w="6350">
            <a:solidFill>
              <a:srgbClr val="D5DEE9"/>
            </a:solidFill>
            <a:prstDash val="solid"/>
          </a:ln>
        </p:spPr>
      </p:sp>
      <p:sp>
        <p:nvSpPr>
          <p:cNvPr id="14" name="Text 12"/>
          <p:cNvSpPr/>
          <p:nvPr/>
        </p:nvSpPr>
        <p:spPr>
          <a:xfrm>
            <a:off x="6405033" y="3337458"/>
            <a:ext cx="488357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④ 소모품 보급 (확장)</a:t>
            </a:r>
            <a:endParaRPr lang="en-US" sz="1600" dirty="0"/>
          </a:p>
        </p:txBody>
      </p:sp>
      <p:sp>
        <p:nvSpPr>
          <p:cNvPr id="15" name="Text 13"/>
          <p:cNvSpPr/>
          <p:nvPr/>
        </p:nvSpPr>
        <p:spPr>
          <a:xfrm>
            <a:off x="6405033" y="3644776"/>
            <a:ext cx="488357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그리스·볼트·씰 잔량에 따라 보충</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AMR 정지 오차는 도킹 핀·팔레트 위치결정으로 흡수한다고 가정 · 필수 9 · 소주제 4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05 · 자동·반자동 연계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사람은 라인 옆 서브조립과 예외 처리에</a:t>
            </a:r>
            <a:endParaRPr lang="en-US" sz="3200" dirty="0"/>
          </a:p>
        </p:txBody>
      </p:sp>
      <p:sp>
        <p:nvSpPr>
          <p:cNvPr id="4" name="Shape 2"/>
          <p:cNvSpPr/>
          <p:nvPr/>
        </p:nvSpPr>
        <p:spPr>
          <a:xfrm>
            <a:off x="815975" y="1962286"/>
            <a:ext cx="3103695" cy="1500651"/>
          </a:xfrm>
          <a:prstGeom prst="roundRect">
            <a:avLst>
              <a:gd name="adj" fmla="val 6559"/>
            </a:avLst>
          </a:prstGeom>
          <a:solidFill>
            <a:srgbClr val="FCFDFE"/>
          </a:solidFill>
          <a:ln w="6350">
            <a:solidFill>
              <a:srgbClr val="D5DEE9"/>
            </a:solidFill>
            <a:prstDash val="solid"/>
          </a:ln>
        </p:spPr>
      </p:sp>
      <p:sp>
        <p:nvSpPr>
          <p:cNvPr id="5" name="Text 3"/>
          <p:cNvSpPr/>
          <p:nvPr/>
        </p:nvSpPr>
        <p:spPr>
          <a:xfrm>
            <a:off x="1045633" y="2191941"/>
            <a:ext cx="272370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자동</a:t>
            </a:r>
            <a:endParaRPr lang="en-US" sz="1200" dirty="0"/>
          </a:p>
        </p:txBody>
      </p:sp>
      <p:sp>
        <p:nvSpPr>
          <p:cNvPr id="6" name="Text 4"/>
          <p:cNvSpPr/>
          <p:nvPr/>
        </p:nvSpPr>
        <p:spPr>
          <a:xfrm>
            <a:off x="1045633" y="2468761"/>
            <a:ext cx="272370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로봇 · 01–03</a:t>
            </a:r>
            <a:endParaRPr lang="en-US" sz="1600" dirty="0"/>
          </a:p>
        </p:txBody>
      </p:sp>
      <p:sp>
        <p:nvSpPr>
          <p:cNvPr id="7" name="Text 5"/>
          <p:cNvSpPr/>
          <p:nvPr/>
        </p:nvSpPr>
        <p:spPr>
          <a:xfrm>
            <a:off x="1045633" y="2776079"/>
            <a:ext cx="27237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하우징 투입 · 입력 커버 결합 · 볼트 체결 · 반전</a:t>
            </a:r>
            <a:endParaRPr lang="en-US" sz="1200" dirty="0"/>
          </a:p>
        </p:txBody>
      </p:sp>
      <p:pic>
        <p:nvPicPr>
          <p:cNvPr id="8" name="Image 0" descr="arrow-right">    </p:cNvPr>
          <p:cNvPicPr>
            <a:picLocks noChangeAspect="1"/>
          </p:cNvPicPr>
          <p:nvPr/>
        </p:nvPicPr>
        <p:blipFill>
          <a:blip r:embed="rId1"/>
          <a:srcRect l="0" r="0" t="0" b="0"/>
          <a:stretch/>
        </p:blipFill>
        <p:spPr>
          <a:xfrm>
            <a:off x="4075245" y="2636379"/>
            <a:ext cx="304800" cy="152400"/>
          </a:xfrm>
          <a:prstGeom prst="rect">
            <a:avLst/>
          </a:prstGeom>
        </p:spPr>
      </p:pic>
      <p:sp>
        <p:nvSpPr>
          <p:cNvPr id="9" name="Shape 6"/>
          <p:cNvSpPr/>
          <p:nvPr/>
        </p:nvSpPr>
        <p:spPr>
          <a:xfrm>
            <a:off x="4538795" y="1956991"/>
            <a:ext cx="3114344" cy="1511234"/>
          </a:xfrm>
          <a:prstGeom prst="roundRect">
            <a:avLst>
              <a:gd name="adj" fmla="val 6303"/>
            </a:avLst>
          </a:prstGeom>
          <a:solidFill>
            <a:srgbClr val="FFF4EA"/>
          </a:solidFill>
          <a:ln w="12700">
            <a:solidFill>
              <a:srgbClr val="E8833A"/>
            </a:solidFill>
            <a:prstDash val="solid"/>
          </a:ln>
        </p:spPr>
      </p:sp>
      <p:sp>
        <p:nvSpPr>
          <p:cNvPr id="10" name="Text 7"/>
          <p:cNvSpPr/>
          <p:nvPr/>
        </p:nvSpPr>
        <p:spPr>
          <a:xfrm>
            <a:off x="4773745" y="2191941"/>
            <a:ext cx="27237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반자동</a:t>
            </a:r>
            <a:endParaRPr lang="en-US" sz="1200" dirty="0"/>
          </a:p>
        </p:txBody>
      </p:sp>
      <p:sp>
        <p:nvSpPr>
          <p:cNvPr id="11" name="Text 8"/>
          <p:cNvSpPr/>
          <p:nvPr/>
        </p:nvSpPr>
        <p:spPr>
          <a:xfrm>
            <a:off x="4773745" y="2468761"/>
            <a:ext cx="27237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작업자 · 서브②</a:t>
            </a:r>
            <a:endParaRPr lang="en-US" sz="1600" dirty="0"/>
          </a:p>
        </p:txBody>
      </p:sp>
      <p:sp>
        <p:nvSpPr>
          <p:cNvPr id="12" name="Text 9"/>
          <p:cNvSpPr/>
          <p:nvPr/>
        </p:nvSpPr>
        <p:spPr>
          <a:xfrm>
            <a:off x="4773745" y="2776079"/>
            <a:ext cx="272377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편심축에 외치기어 2장을 역위상으로 정렬 (지그·비전 확인)</a:t>
            </a:r>
            <a:endParaRPr lang="en-US" sz="1200" dirty="0"/>
          </a:p>
        </p:txBody>
      </p:sp>
      <p:pic>
        <p:nvPicPr>
          <p:cNvPr id="13" name="Image 1" descr="arrow-right">    </p:cNvPr>
          <p:cNvPicPr>
            <a:picLocks noChangeAspect="1"/>
          </p:cNvPicPr>
          <p:nvPr/>
        </p:nvPicPr>
        <p:blipFill>
          <a:blip r:embed="rId2"/>
          <a:srcRect l="0" r="0" t="0" b="0"/>
          <a:stretch/>
        </p:blipFill>
        <p:spPr>
          <a:xfrm>
            <a:off x="7811889" y="2636379"/>
            <a:ext cx="304800" cy="152400"/>
          </a:xfrm>
          <a:prstGeom prst="rect">
            <a:avLst/>
          </a:prstGeom>
        </p:spPr>
      </p:pic>
      <p:sp>
        <p:nvSpPr>
          <p:cNvPr id="14" name="Shape 10"/>
          <p:cNvSpPr/>
          <p:nvPr/>
        </p:nvSpPr>
        <p:spPr>
          <a:xfrm>
            <a:off x="8272264" y="2076586"/>
            <a:ext cx="3103761" cy="1272051"/>
          </a:xfrm>
          <a:prstGeom prst="roundRect">
            <a:avLst>
              <a:gd name="adj" fmla="val 7738"/>
            </a:avLst>
          </a:prstGeom>
          <a:solidFill>
            <a:srgbClr val="FCFDFE"/>
          </a:solidFill>
          <a:ln w="6350">
            <a:solidFill>
              <a:srgbClr val="D5DEE9"/>
            </a:solidFill>
            <a:prstDash val="solid"/>
          </a:ln>
        </p:spPr>
      </p:sp>
      <p:sp>
        <p:nvSpPr>
          <p:cNvPr id="15" name="Text 11"/>
          <p:cNvSpPr/>
          <p:nvPr/>
        </p:nvSpPr>
        <p:spPr>
          <a:xfrm>
            <a:off x="8501923" y="2306241"/>
            <a:ext cx="27237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자동</a:t>
            </a:r>
            <a:endParaRPr lang="en-US" sz="1200" dirty="0"/>
          </a:p>
        </p:txBody>
      </p:sp>
      <p:sp>
        <p:nvSpPr>
          <p:cNvPr id="16" name="Text 12"/>
          <p:cNvSpPr/>
          <p:nvPr/>
        </p:nvSpPr>
        <p:spPr>
          <a:xfrm>
            <a:off x="8501923" y="2583061"/>
            <a:ext cx="27237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로봇 · 04–09</a:t>
            </a:r>
            <a:endParaRPr lang="en-US" sz="1600" dirty="0"/>
          </a:p>
        </p:txBody>
      </p:sp>
      <p:sp>
        <p:nvSpPr>
          <p:cNvPr id="17" name="Text 13"/>
          <p:cNvSpPr/>
          <p:nvPr/>
        </p:nvSpPr>
        <p:spPr>
          <a:xfrm>
            <a:off x="8501923" y="2890379"/>
            <a:ext cx="287092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기어 삽입 · 부시·플랜지 · 압입 · 체결 · 검사</a:t>
            </a:r>
            <a:endParaRPr lang="en-US" sz="1200" dirty="0"/>
          </a:p>
        </p:txBody>
      </p:sp>
      <p:sp>
        <p:nvSpPr>
          <p:cNvPr id="18" name="Shape 14"/>
          <p:cNvSpPr/>
          <p:nvPr/>
        </p:nvSpPr>
        <p:spPr>
          <a:xfrm>
            <a:off x="812800" y="3830179"/>
            <a:ext cx="10566400" cy="993114"/>
          </a:xfrm>
          <a:prstGeom prst="roundRect">
            <a:avLst>
              <a:gd name="adj" fmla="val 10230"/>
            </a:avLst>
          </a:prstGeom>
          <a:solidFill>
            <a:srgbClr val="10233D"/>
          </a:solidFill>
          <a:ln/>
        </p:spPr>
      </p:sp>
      <p:sp>
        <p:nvSpPr>
          <p:cNvPr id="19" name="Text 15"/>
          <p:cNvSpPr/>
          <p:nvPr/>
        </p:nvSpPr>
        <p:spPr>
          <a:xfrm>
            <a:off x="1092200" y="4058779"/>
            <a:ext cx="1030782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8FB"/>
                </a:solidFill>
                <a:latin typeface="IBM Plex Sans KR" pitchFamily="34" charset="0"/>
                <a:ea typeface="IBM Plex Sans KR" pitchFamily="34" charset="-122"/>
                <a:cs typeface="IBM Plex Sans KR" pitchFamily="34" charset="-120"/>
              </a:rPr>
              <a:t>예외가 생기면 작업자가 개입</a:t>
            </a:r>
            <a:endParaRPr lang="en-US" sz="1600" dirty="0"/>
          </a:p>
        </p:txBody>
      </p:sp>
      <p:sp>
        <p:nvSpPr>
          <p:cNvPr id="20" name="Text 16"/>
          <p:cNvSpPr/>
          <p:nvPr/>
        </p:nvSpPr>
        <p:spPr>
          <a:xfrm>
            <a:off x="1092200" y="4366096"/>
            <a:ext cx="1030782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D0E3"/>
                </a:solidFill>
                <a:latin typeface="IBM Plex Sans KR" pitchFamily="34" charset="0"/>
                <a:ea typeface="IBM Plex Sans KR" pitchFamily="34" charset="-122"/>
                <a:cs typeface="IBM Plex Sans KR" pitchFamily="34" charset="-120"/>
              </a:rPr>
              <a:t>곡선 판정 NG · 검사 보류 → 라인에서 배출 → AMR이 재작업·격리 구역으로 이송 → 작업자가 원인 확인</a:t>
            </a:r>
            <a:endParaRPr lang="en-US" sz="1200" dirty="0"/>
          </a:p>
        </p:txBody>
      </p:sp>
      <p:sp>
        <p:nvSpPr>
          <p:cNvPr id="21"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작업자 구간과 안전 구역은 제안안 · 소주제 5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06 · 해석 기획</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어디를, 왜 해석하는가</a:t>
            </a:r>
            <a:endParaRPr lang="en-US" sz="3200" dirty="0"/>
          </a:p>
        </p:txBody>
      </p:sp>
      <p:sp>
        <p:nvSpPr>
          <p:cNvPr id="4" name="Text 2"/>
          <p:cNvSpPr/>
          <p:nvPr/>
        </p:nvSpPr>
        <p:spPr>
          <a:xfrm>
            <a:off x="812800" y="1899841"/>
            <a:ext cx="36626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출발점: 이 변동이 생기면 무엇이 망가지는가</a:t>
            </a:r>
            <a:endParaRPr lang="en-US" sz="1400" dirty="0"/>
          </a:p>
        </p:txBody>
      </p:sp>
      <p:sp>
        <p:nvSpPr>
          <p:cNvPr id="5" name="Shape 3"/>
          <p:cNvSpPr/>
          <p:nvPr/>
        </p:nvSpPr>
        <p:spPr>
          <a:xfrm>
            <a:off x="815975" y="2278931"/>
            <a:ext cx="3549650" cy="771657"/>
          </a:xfrm>
          <a:prstGeom prst="roundRect">
            <a:avLst>
              <a:gd name="adj" fmla="val 11109"/>
            </a:avLst>
          </a:prstGeom>
          <a:solidFill>
            <a:srgbClr val="FCFDFE"/>
          </a:solidFill>
          <a:ln w="6350">
            <a:solidFill>
              <a:srgbClr val="D5DEE9"/>
            </a:solidFill>
            <a:prstDash val="solid"/>
          </a:ln>
        </p:spPr>
      </p:sp>
      <p:sp>
        <p:nvSpPr>
          <p:cNvPr id="6" name="Text 4"/>
          <p:cNvSpPr/>
          <p:nvPr/>
        </p:nvSpPr>
        <p:spPr>
          <a:xfrm>
            <a:off x="994833" y="2432385"/>
            <a:ext cx="32876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76D2"/>
                </a:solidFill>
                <a:latin typeface="IBM Plex Sans KR" pitchFamily="34" charset="0"/>
                <a:ea typeface="IBM Plex Sans KR" pitchFamily="34" charset="-122"/>
                <a:cs typeface="IBM Plex Sans KR" pitchFamily="34" charset="-120"/>
              </a:rPr>
              <a:t>힘이 큰 곳</a:t>
            </a:r>
            <a:endParaRPr lang="en-US" sz="1400" dirty="0"/>
          </a:p>
        </p:txBody>
      </p:sp>
      <p:sp>
        <p:nvSpPr>
          <p:cNvPr id="7" name="Text 5"/>
          <p:cNvSpPr/>
          <p:nvPr/>
        </p:nvSpPr>
        <p:spPr>
          <a:xfrm>
            <a:off x="994833" y="2683805"/>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압입 · 체결</a:t>
            </a:r>
            <a:endParaRPr lang="en-US" sz="1200" dirty="0"/>
          </a:p>
        </p:txBody>
      </p:sp>
      <p:sp>
        <p:nvSpPr>
          <p:cNvPr id="8" name="Shape 6"/>
          <p:cNvSpPr/>
          <p:nvPr/>
        </p:nvSpPr>
        <p:spPr>
          <a:xfrm>
            <a:off x="815975" y="3183930"/>
            <a:ext cx="3549650" cy="771657"/>
          </a:xfrm>
          <a:prstGeom prst="roundRect">
            <a:avLst>
              <a:gd name="adj" fmla="val 11109"/>
            </a:avLst>
          </a:prstGeom>
          <a:solidFill>
            <a:srgbClr val="FCFDFE"/>
          </a:solidFill>
          <a:ln w="6350">
            <a:solidFill>
              <a:srgbClr val="D5DEE9"/>
            </a:solidFill>
            <a:prstDash val="solid"/>
          </a:ln>
        </p:spPr>
      </p:sp>
      <p:sp>
        <p:nvSpPr>
          <p:cNvPr id="9" name="Text 7"/>
          <p:cNvSpPr/>
          <p:nvPr/>
        </p:nvSpPr>
        <p:spPr>
          <a:xfrm>
            <a:off x="994833" y="3337396"/>
            <a:ext cx="32876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76D2"/>
                </a:solidFill>
                <a:latin typeface="IBM Plex Sans KR" pitchFamily="34" charset="0"/>
                <a:ea typeface="IBM Plex Sans KR" pitchFamily="34" charset="-122"/>
                <a:cs typeface="IBM Plex Sans KR" pitchFamily="34" charset="-120"/>
              </a:rPr>
              <a:t>정밀도가 품질을 정하는 곳</a:t>
            </a:r>
            <a:endParaRPr lang="en-US" sz="1400" dirty="0"/>
          </a:p>
        </p:txBody>
      </p:sp>
      <p:sp>
        <p:nvSpPr>
          <p:cNvPr id="10" name="Text 8"/>
          <p:cNvSpPr/>
          <p:nvPr/>
        </p:nvSpPr>
        <p:spPr>
          <a:xfrm>
            <a:off x="994833" y="3588817"/>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정렬 · 지그 기준면</a:t>
            </a:r>
            <a:endParaRPr lang="en-US" sz="1200" dirty="0"/>
          </a:p>
        </p:txBody>
      </p:sp>
      <p:sp>
        <p:nvSpPr>
          <p:cNvPr id="11" name="Shape 9"/>
          <p:cNvSpPr/>
          <p:nvPr/>
        </p:nvSpPr>
        <p:spPr>
          <a:xfrm>
            <a:off x="815975" y="4088941"/>
            <a:ext cx="3549650" cy="771657"/>
          </a:xfrm>
          <a:prstGeom prst="roundRect">
            <a:avLst>
              <a:gd name="adj" fmla="val 11109"/>
            </a:avLst>
          </a:prstGeom>
          <a:solidFill>
            <a:srgbClr val="FCFDFE"/>
          </a:solidFill>
          <a:ln w="6350">
            <a:solidFill>
              <a:srgbClr val="D5DEE9"/>
            </a:solidFill>
            <a:prstDash val="solid"/>
          </a:ln>
        </p:spPr>
      </p:sp>
      <p:sp>
        <p:nvSpPr>
          <p:cNvPr id="12" name="Text 10"/>
          <p:cNvSpPr/>
          <p:nvPr/>
        </p:nvSpPr>
        <p:spPr>
          <a:xfrm>
            <a:off x="994833" y="4242395"/>
            <a:ext cx="32876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76D2"/>
                </a:solidFill>
                <a:latin typeface="IBM Plex Sans KR" pitchFamily="34" charset="0"/>
                <a:ea typeface="IBM Plex Sans KR" pitchFamily="34" charset="-122"/>
                <a:cs typeface="IBM Plex Sans KR" pitchFamily="34" charset="-120"/>
              </a:rPr>
              <a:t>사고 피해가 큰 곳</a:t>
            </a:r>
            <a:endParaRPr lang="en-US" sz="1400" dirty="0"/>
          </a:p>
        </p:txBody>
      </p:sp>
      <p:sp>
        <p:nvSpPr>
          <p:cNvPr id="13" name="Text 11"/>
          <p:cNvSpPr/>
          <p:nvPr/>
        </p:nvSpPr>
        <p:spPr>
          <a:xfrm>
            <a:off x="994833" y="4493816"/>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파지 · 급정지</a:t>
            </a:r>
            <a:endParaRPr lang="en-US" sz="1200" dirty="0"/>
          </a:p>
        </p:txBody>
      </p:sp>
      <p:sp>
        <p:nvSpPr>
          <p:cNvPr id="14" name="Text 12"/>
          <p:cNvSpPr/>
          <p:nvPr/>
        </p:nvSpPr>
        <p:spPr>
          <a:xfrm>
            <a:off x="4622800" y="1899841"/>
            <a:ext cx="69590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강사 자문 판정 (9/28)</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635500" y="2263056"/>
          <a:ext cx="6743700" cy="1437217"/>
        </p:xfrm>
        <a:graphic>
          <a:graphicData uri="http://schemas.openxmlformats.org/drawingml/2006/table">
            <a:tbl>
              <a:tblPr/>
              <a:tblGrid>
                <a:gridCol w="1753362"/>
                <a:gridCol w="4990338"/>
              </a:tblGrid>
              <a:tr h="359304">
                <a:tc>
                  <a:txBody>
                    <a:bodyPr/>
                    <a:lstStyle/>
                    <a:p>
                      <a:pPr indent="0" marL="0">
                        <a:lnSpc>
                          <a:spcPts val="1820"/>
                        </a:lnSpc>
                        <a:buNone/>
                      </a:pPr>
                      <a:r>
                        <a:rPr lang="en-US" sz="1300" b="1" dirty="0">
                          <a:solidFill>
                            <a:srgbClr val="10233D"/>
                          </a:solidFill>
                          <a:latin typeface="IBM Plex Sans KR" pitchFamily="34" charset="0"/>
                          <a:ea typeface="IBM Plex Sans KR" pitchFamily="34" charset="-122"/>
                          <a:cs typeface="IBM Plex Sans KR" pitchFamily="34" charset="-120"/>
                        </a:rPr>
                        <a:t>판정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820"/>
                        </a:lnSpc>
                        <a:buNone/>
                      </a:pPr>
                      <a:r>
                        <a:rPr lang="en-US" sz="1300" b="1" dirty="0">
                          <a:solidFill>
                            <a:srgbClr val="10233D"/>
                          </a:solidFill>
                          <a:latin typeface="IBM Plex Sans KR" pitchFamily="34" charset="0"/>
                          <a:ea typeface="IBM Plex Sans KR" pitchFamily="34" charset="-122"/>
                          <a:cs typeface="IBM Plex Sans KR" pitchFamily="34" charset="-120"/>
                        </a:rPr>
                        <a:t>항목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가능</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베어링 압입 · 감속기 삽입 · 하우징 억지 끼워맞춤 · 지그 고정·변형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추가 검토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EOAT 들어 올림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59304">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비추천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820"/>
                        </a:lnSpc>
                        <a:buNone/>
                      </a:pPr>
                      <a:r>
                        <a:rPr lang="en-US" sz="1300" dirty="0">
                          <a:solidFill>
                            <a:srgbClr val="10233D"/>
                          </a:solidFill>
                          <a:latin typeface="IBM Plex Sans KR" pitchFamily="34" charset="0"/>
                          <a:ea typeface="IBM Plex Sans KR" pitchFamily="34" charset="-122"/>
                          <a:cs typeface="IBM Plex Sans KR" pitchFamily="34" charset="-120"/>
                        </a:rPr>
                        <a:t>볼트 토크·마모 · 감속기 회전 구동 → 볼트는 '체결 조건 근거'로 재구성</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10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06 · 해석 ① · 필수</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베어링 압입 · 감속기 삽입</a:t>
            </a:r>
            <a:endParaRPr lang="en-US" sz="3200" dirty="0"/>
          </a:p>
        </p:txBody>
      </p:sp>
      <p:sp>
        <p:nvSpPr>
          <p:cNvPr id="4" name="Shape 2"/>
          <p:cNvSpPr/>
          <p:nvPr/>
        </p:nvSpPr>
        <p:spPr>
          <a:xfrm>
            <a:off x="812800" y="1849041"/>
            <a:ext cx="3556000" cy="2729111"/>
          </a:xfrm>
          <a:prstGeom prst="roundRect">
            <a:avLst>
              <a:gd name="adj" fmla="val 3723"/>
            </a:avLst>
          </a:prstGeom>
          <a:solidFill>
            <a:srgbClr val="101924"/>
          </a:solidFill>
          <a:ln/>
        </p:spPr>
      </p:sp>
      <p:pic>
        <p:nvPicPr>
          <p:cNvPr id="5" name="Image 0" descr="BSR080 R6 감속기 반절 단면, 파란색 베어링과 외치기어 2장, 보라색 입력축이 보이는 모습">    </p:cNvPr>
          <p:cNvPicPr>
            <a:picLocks noChangeAspect="1"/>
          </p:cNvPicPr>
          <p:nvPr/>
        </p:nvPicPr>
        <p:blipFill>
          <a:blip r:embed="rId1"/>
          <a:srcRect l="-2164" r="-2164" t="0" b="0"/>
          <a:stretch/>
        </p:blipFill>
        <p:spPr>
          <a:xfrm>
            <a:off x="1104900" y="2001441"/>
            <a:ext cx="2971800" cy="2095500"/>
          </a:xfrm>
          <a:prstGeom prst="rect">
            <a:avLst/>
          </a:prstGeom>
        </p:spPr>
      </p:pic>
      <p:sp>
        <p:nvSpPr>
          <p:cNvPr id="6" name="Text 3"/>
          <p:cNvSpPr/>
          <p:nvPr/>
        </p:nvSpPr>
        <p:spPr>
          <a:xfrm>
            <a:off x="1529159" y="4173141"/>
            <a:ext cx="21232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FB3C8"/>
                </a:solidFill>
                <a:latin typeface="IBM Plex Sans KR" pitchFamily="34" charset="0"/>
                <a:ea typeface="IBM Plex Sans KR" pitchFamily="34" charset="-122"/>
                <a:cs typeface="IBM Plex Sans KR" pitchFamily="34" charset="-120"/>
              </a:rPr>
              <a:t>R6 반절 단면 · 파랑 = 베어링</a:t>
            </a:r>
            <a:endParaRPr lang="en-US" sz="1200" dirty="0"/>
          </a:p>
        </p:txBody>
      </p:sp>
      <p:sp>
        <p:nvSpPr>
          <p:cNvPr id="7" name="Shape 4"/>
          <p:cNvSpPr/>
          <p:nvPr/>
        </p:nvSpPr>
        <p:spPr>
          <a:xfrm>
            <a:off x="4625975" y="1852216"/>
            <a:ext cx="6750050" cy="818687"/>
          </a:xfrm>
          <a:prstGeom prst="roundRect">
            <a:avLst>
              <a:gd name="adj" fmla="val 12022"/>
            </a:avLst>
          </a:prstGeom>
          <a:solidFill>
            <a:srgbClr val="FCFDFE"/>
          </a:solidFill>
          <a:ln w="6350">
            <a:solidFill>
              <a:srgbClr val="D5DEE9"/>
            </a:solidFill>
            <a:prstDash val="solid"/>
          </a:ln>
        </p:spPr>
      </p:sp>
      <p:sp>
        <p:nvSpPr>
          <p:cNvPr id="8" name="Text 5"/>
          <p:cNvSpPr/>
          <p:nvPr/>
        </p:nvSpPr>
        <p:spPr>
          <a:xfrm>
            <a:off x="4830233" y="2005682"/>
            <a:ext cx="65317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왜 (시나리오)</a:t>
            </a:r>
            <a:endParaRPr lang="en-US" sz="1200" dirty="0"/>
          </a:p>
        </p:txBody>
      </p:sp>
      <p:sp>
        <p:nvSpPr>
          <p:cNvPr id="9" name="Text 6"/>
          <p:cNvSpPr/>
          <p:nvPr/>
        </p:nvSpPr>
        <p:spPr>
          <a:xfrm>
            <a:off x="4830233" y="2269803"/>
            <a:ext cx="653177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기울거나 덜·더 들어가면 불량, 간섭량이 바뀌면 압입력도 바뀜</a:t>
            </a:r>
            <a:endParaRPr lang="en-US" sz="1300" dirty="0"/>
          </a:p>
        </p:txBody>
      </p:sp>
      <p:sp>
        <p:nvSpPr>
          <p:cNvPr id="10" name="Shape 7"/>
          <p:cNvSpPr/>
          <p:nvPr/>
        </p:nvSpPr>
        <p:spPr>
          <a:xfrm>
            <a:off x="4625975" y="2804257"/>
            <a:ext cx="6750050" cy="818687"/>
          </a:xfrm>
          <a:prstGeom prst="roundRect">
            <a:avLst>
              <a:gd name="adj" fmla="val 12022"/>
            </a:avLst>
          </a:prstGeom>
          <a:solidFill>
            <a:srgbClr val="FCFDFE"/>
          </a:solidFill>
          <a:ln w="6350">
            <a:solidFill>
              <a:srgbClr val="D5DEE9"/>
            </a:solidFill>
            <a:prstDash val="solid"/>
          </a:ln>
        </p:spPr>
      </p:sp>
      <p:sp>
        <p:nvSpPr>
          <p:cNvPr id="11" name="Text 8"/>
          <p:cNvSpPr/>
          <p:nvPr/>
        </p:nvSpPr>
        <p:spPr>
          <a:xfrm>
            <a:off x="4830233" y="2957711"/>
            <a:ext cx="65317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어떻게</a:t>
            </a:r>
            <a:endParaRPr lang="en-US" sz="1200" dirty="0"/>
          </a:p>
        </p:txBody>
      </p:sp>
      <p:sp>
        <p:nvSpPr>
          <p:cNvPr id="12" name="Text 9"/>
          <p:cNvSpPr/>
          <p:nvPr/>
        </p:nvSpPr>
        <p:spPr>
          <a:xfrm>
            <a:off x="4830233" y="3221831"/>
            <a:ext cx="653177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출력 주베어링(50×65×7) 기준 접촉 정적 해석, 간섭량별 압입력·접촉압 비교</a:t>
            </a:r>
            <a:endParaRPr lang="en-US" sz="1300" dirty="0"/>
          </a:p>
        </p:txBody>
      </p:sp>
      <p:sp>
        <p:nvSpPr>
          <p:cNvPr id="13" name="Shape 10"/>
          <p:cNvSpPr/>
          <p:nvPr/>
        </p:nvSpPr>
        <p:spPr>
          <a:xfrm>
            <a:off x="4625975" y="3756298"/>
            <a:ext cx="6750050" cy="818687"/>
          </a:xfrm>
          <a:prstGeom prst="roundRect">
            <a:avLst>
              <a:gd name="adj" fmla="val 12022"/>
            </a:avLst>
          </a:prstGeom>
          <a:solidFill>
            <a:srgbClr val="FCFDFE"/>
          </a:solidFill>
          <a:ln w="6350">
            <a:solidFill>
              <a:srgbClr val="D5DEE9"/>
            </a:solidFill>
            <a:prstDash val="solid"/>
          </a:ln>
        </p:spPr>
      </p:sp>
      <p:sp>
        <p:nvSpPr>
          <p:cNvPr id="14" name="Text 11"/>
          <p:cNvSpPr/>
          <p:nvPr/>
        </p:nvSpPr>
        <p:spPr>
          <a:xfrm>
            <a:off x="4830233" y="3909752"/>
            <a:ext cx="65317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무엇을 얻나</a:t>
            </a:r>
            <a:endParaRPr lang="en-US" sz="1200" dirty="0"/>
          </a:p>
        </p:txBody>
      </p:sp>
      <p:sp>
        <p:nvSpPr>
          <p:cNvPr id="15" name="Text 12"/>
          <p:cNvSpPr/>
          <p:nvPr/>
        </p:nvSpPr>
        <p:spPr>
          <a:xfrm>
            <a:off x="4830233" y="4173872"/>
            <a:ext cx="653177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정상·기울어짐·과압입을 가르는 기준 = 감시 창의 근거</a:t>
            </a:r>
            <a:endParaRPr lang="en-US" sz="1300" dirty="0"/>
          </a:p>
        </p:txBody>
      </p:sp>
      <p:sp>
        <p:nvSpPr>
          <p:cNvPr id="16" name="Shape 13"/>
          <p:cNvSpPr/>
          <p:nvPr/>
        </p:nvSpPr>
        <p:spPr>
          <a:xfrm>
            <a:off x="812800" y="4832152"/>
            <a:ext cx="10566400" cy="645120"/>
          </a:xfrm>
          <a:prstGeom prst="roundRect">
            <a:avLst>
              <a:gd name="adj" fmla="val 15749"/>
            </a:avLst>
          </a:prstGeom>
          <a:solidFill>
            <a:srgbClr val="E3EEFA"/>
          </a:solidFill>
          <a:ln/>
        </p:spPr>
      </p:sp>
      <p:sp>
        <p:nvSpPr>
          <p:cNvPr id="17" name="Text 14"/>
          <p:cNvSpPr/>
          <p:nvPr/>
        </p:nvSpPr>
        <p:spPr>
          <a:xfrm>
            <a:off x="1041400" y="5048052"/>
            <a:ext cx="63056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565C0"/>
                </a:solidFill>
                <a:latin typeface="IBM Plex Sans KR" pitchFamily="34" charset="0"/>
                <a:ea typeface="IBM Plex Sans KR" pitchFamily="34" charset="-122"/>
                <a:cs typeface="IBM Plex Sans KR" pitchFamily="34" charset="-120"/>
              </a:rPr>
              <a:t>공정 연결</a:t>
            </a:r>
            <a:endParaRPr lang="en-US" sz="1200" dirty="0"/>
          </a:p>
        </p:txBody>
      </p:sp>
      <p:sp>
        <p:nvSpPr>
          <p:cNvPr id="18" name="Text 15"/>
          <p:cNvSpPr/>
          <p:nvPr/>
        </p:nvSpPr>
        <p:spPr>
          <a:xfrm>
            <a:off x="1722768" y="4984552"/>
            <a:ext cx="1056481" cy="340320"/>
          </a:xfrm>
          <a:prstGeom prst="roundRect">
            <a:avLst>
              <a:gd name="adj" fmla="val 50000"/>
            </a:avLst>
          </a:prstGeom>
          <a:solidFill>
            <a:srgbClr val="FCFDFE"/>
          </a:solidFill>
          <a:ln/>
        </p:spPr>
        <p:txBody>
          <a:bodyPr wrap="none" lIns="0" tIns="0" rIns="0" bIns="0" rtlCol="0" anchor="ctr">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초기 접촉 창</a:t>
            </a:r>
            <a:endParaRPr lang="en-US" sz="1200" dirty="0"/>
          </a:p>
        </p:txBody>
      </p:sp>
      <p:pic>
        <p:nvPicPr>
          <p:cNvPr id="19" name="Image 1" descr="arrow-right">    </p:cNvPr>
          <p:cNvPicPr>
            <a:picLocks noChangeAspect="1"/>
          </p:cNvPicPr>
          <p:nvPr/>
        </p:nvPicPr>
        <p:blipFill>
          <a:blip r:embed="rId2"/>
          <a:srcRect l="0" r="0" t="0" b="0"/>
          <a:stretch/>
        </p:blipFill>
        <p:spPr>
          <a:xfrm>
            <a:off x="2880850" y="5097537"/>
            <a:ext cx="228600" cy="114300"/>
          </a:xfrm>
          <a:prstGeom prst="rect">
            <a:avLst/>
          </a:prstGeom>
        </p:spPr>
      </p:pic>
      <p:sp>
        <p:nvSpPr>
          <p:cNvPr id="20" name="Text 16"/>
          <p:cNvSpPr/>
          <p:nvPr/>
        </p:nvSpPr>
        <p:spPr>
          <a:xfrm>
            <a:off x="3211050" y="4984552"/>
            <a:ext cx="748639" cy="340320"/>
          </a:xfrm>
          <a:prstGeom prst="roundRect">
            <a:avLst>
              <a:gd name="adj" fmla="val 50000"/>
            </a:avLst>
          </a:prstGeom>
          <a:solidFill>
            <a:srgbClr val="FCFDFE"/>
          </a:solidFill>
          <a:ln/>
        </p:spPr>
        <p:txBody>
          <a:bodyPr wrap="none" lIns="0" tIns="0" rIns="0" bIns="0" rtlCol="0" anchor="ctr">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압입 창</a:t>
            </a:r>
            <a:endParaRPr lang="en-US" sz="1200" dirty="0"/>
          </a:p>
        </p:txBody>
      </p:sp>
      <p:pic>
        <p:nvPicPr>
          <p:cNvPr id="21" name="Image 2" descr="arrow-right">    </p:cNvPr>
          <p:cNvPicPr>
            <a:picLocks noChangeAspect="1"/>
          </p:cNvPicPr>
          <p:nvPr/>
        </p:nvPicPr>
        <p:blipFill>
          <a:blip r:embed="rId3"/>
          <a:srcRect l="0" r="0" t="0" b="0"/>
          <a:stretch/>
        </p:blipFill>
        <p:spPr>
          <a:xfrm>
            <a:off x="4061288" y="5097537"/>
            <a:ext cx="228600" cy="114300"/>
          </a:xfrm>
          <a:prstGeom prst="rect">
            <a:avLst/>
          </a:prstGeom>
        </p:spPr>
      </p:pic>
      <p:sp>
        <p:nvSpPr>
          <p:cNvPr id="22" name="Text 17"/>
          <p:cNvSpPr/>
          <p:nvPr/>
        </p:nvSpPr>
        <p:spPr>
          <a:xfrm>
            <a:off x="4391488" y="4984552"/>
            <a:ext cx="748639" cy="340320"/>
          </a:xfrm>
          <a:prstGeom prst="roundRect">
            <a:avLst>
              <a:gd name="adj" fmla="val 50000"/>
            </a:avLst>
          </a:prstGeom>
          <a:solidFill>
            <a:srgbClr val="FCFDFE"/>
          </a:solidFill>
          <a:ln/>
        </p:spPr>
        <p:txBody>
          <a:bodyPr wrap="none" lIns="0" tIns="0" rIns="0" bIns="0" rtlCol="0" anchor="ctr">
            <a:normAutofit/>
          </a:bodyPr>
          <a:lstStyle/>
          <a:p>
            <a:pPr algn="ctr" indent="0" marL="0">
              <a:lnSpc>
                <a:spcPts val="1680"/>
              </a:lnSpc>
              <a:buNone/>
            </a:pPr>
            <a:r>
              <a:rPr lang="en-US" sz="1200" dirty="0">
                <a:solidFill>
                  <a:srgbClr val="10233D"/>
                </a:solidFill>
                <a:latin typeface="IBM Plex Sans KR" pitchFamily="34" charset="0"/>
                <a:ea typeface="IBM Plex Sans KR" pitchFamily="34" charset="-122"/>
                <a:cs typeface="IBM Plex Sans KR" pitchFamily="34" charset="-120"/>
              </a:rPr>
              <a:t>종료 창</a:t>
            </a:r>
            <a:endParaRPr lang="en-US" sz="1200" dirty="0"/>
          </a:p>
        </p:txBody>
      </p:sp>
      <p:sp>
        <p:nvSpPr>
          <p:cNvPr id="23" name="Text 18"/>
          <p:cNvSpPr/>
          <p:nvPr/>
        </p:nvSpPr>
        <p:spPr>
          <a:xfrm>
            <a:off x="5241727" y="5048052"/>
            <a:ext cx="26997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 벗어나면 시뮬레이션에서 NG 분기</a:t>
            </a:r>
            <a:endParaRPr lang="en-US" sz="12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외륜 직접 가압 · 베어링은 단순 링(강성 미보정) → 조건 간 비교용 · 계획 단계 · 근거: 미스미 · Control Engineering · 필수 10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06 · 해석 ② · 필수</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지그 고정 · 변형</a:t>
            </a:r>
            <a:endParaRPr lang="en-US" sz="3200" dirty="0"/>
          </a:p>
        </p:txBody>
      </p:sp>
      <p:sp>
        <p:nvSpPr>
          <p:cNvPr id="4" name="Shape 2"/>
          <p:cNvSpPr/>
          <p:nvPr/>
        </p:nvSpPr>
        <p:spPr>
          <a:xfrm>
            <a:off x="815975" y="1903016"/>
            <a:ext cx="3414183" cy="1244137"/>
          </a:xfrm>
          <a:prstGeom prst="roundRect">
            <a:avLst>
              <a:gd name="adj" fmla="val 7911"/>
            </a:avLst>
          </a:prstGeom>
          <a:solidFill>
            <a:srgbClr val="FCFDFE"/>
          </a:solidFill>
          <a:ln w="6350">
            <a:solidFill>
              <a:srgbClr val="D5DEE9"/>
            </a:solidFill>
            <a:prstDash val="solid"/>
          </a:ln>
        </p:spPr>
      </p:sp>
      <p:sp>
        <p:nvSpPr>
          <p:cNvPr id="5" name="Text 3"/>
          <p:cNvSpPr/>
          <p:nvPr/>
        </p:nvSpPr>
        <p:spPr>
          <a:xfrm>
            <a:off x="1045633" y="2132682"/>
            <a:ext cx="30435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왜 (시나리오)</a:t>
            </a:r>
            <a:endParaRPr lang="en-US" sz="1200" dirty="0"/>
          </a:p>
        </p:txBody>
      </p:sp>
      <p:sp>
        <p:nvSpPr>
          <p:cNvPr id="6" name="Text 4"/>
          <p:cNvSpPr/>
          <p:nvPr/>
        </p:nvSpPr>
        <p:spPr>
          <a:xfrm>
            <a:off x="1045633" y="2422203"/>
            <a:ext cx="304351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누르는 힘에 지그가 휘면 기준면이 움직이고, 부품이 기울어진 채 들어간다</a:t>
            </a:r>
            <a:endParaRPr lang="en-US" sz="1300" dirty="0"/>
          </a:p>
        </p:txBody>
      </p:sp>
      <p:sp>
        <p:nvSpPr>
          <p:cNvPr id="7" name="Shape 5"/>
          <p:cNvSpPr/>
          <p:nvPr/>
        </p:nvSpPr>
        <p:spPr>
          <a:xfrm>
            <a:off x="4388908" y="1903016"/>
            <a:ext cx="3414183" cy="1244137"/>
          </a:xfrm>
          <a:prstGeom prst="roundRect">
            <a:avLst>
              <a:gd name="adj" fmla="val 7911"/>
            </a:avLst>
          </a:prstGeom>
          <a:solidFill>
            <a:srgbClr val="FCFDFE"/>
          </a:solidFill>
          <a:ln w="6350">
            <a:solidFill>
              <a:srgbClr val="D5DEE9"/>
            </a:solidFill>
            <a:prstDash val="solid"/>
          </a:ln>
        </p:spPr>
      </p:sp>
      <p:sp>
        <p:nvSpPr>
          <p:cNvPr id="8" name="Text 6"/>
          <p:cNvSpPr/>
          <p:nvPr/>
        </p:nvSpPr>
        <p:spPr>
          <a:xfrm>
            <a:off x="4618567" y="2132682"/>
            <a:ext cx="30435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어떻게</a:t>
            </a:r>
            <a:endParaRPr lang="en-US" sz="1200" dirty="0"/>
          </a:p>
        </p:txBody>
      </p:sp>
      <p:sp>
        <p:nvSpPr>
          <p:cNvPr id="9" name="Text 7"/>
          <p:cNvSpPr/>
          <p:nvPr/>
        </p:nvSpPr>
        <p:spPr>
          <a:xfrm>
            <a:off x="4618567" y="2422203"/>
            <a:ext cx="304351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지그 베이스·서포트 선형 정적 해석. 베이스 두께 3안 비교 [12 / 16 / 20 mm 가정]</a:t>
            </a:r>
            <a:endParaRPr lang="en-US" sz="1300" dirty="0"/>
          </a:p>
        </p:txBody>
      </p:sp>
      <p:sp>
        <p:nvSpPr>
          <p:cNvPr id="10" name="Shape 8"/>
          <p:cNvSpPr/>
          <p:nvPr/>
        </p:nvSpPr>
        <p:spPr>
          <a:xfrm>
            <a:off x="7961842" y="1903016"/>
            <a:ext cx="3414183" cy="1244137"/>
          </a:xfrm>
          <a:prstGeom prst="roundRect">
            <a:avLst>
              <a:gd name="adj" fmla="val 7911"/>
            </a:avLst>
          </a:prstGeom>
          <a:solidFill>
            <a:srgbClr val="FCFDFE"/>
          </a:solidFill>
          <a:ln w="6350">
            <a:solidFill>
              <a:srgbClr val="D5DEE9"/>
            </a:solidFill>
            <a:prstDash val="solid"/>
          </a:ln>
        </p:spPr>
      </p:sp>
      <p:sp>
        <p:nvSpPr>
          <p:cNvPr id="11" name="Text 9"/>
          <p:cNvSpPr/>
          <p:nvPr/>
        </p:nvSpPr>
        <p:spPr>
          <a:xfrm>
            <a:off x="8191500" y="2132682"/>
            <a:ext cx="30435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무엇을 얻나</a:t>
            </a:r>
            <a:endParaRPr lang="en-US" sz="1200" dirty="0"/>
          </a:p>
        </p:txBody>
      </p:sp>
      <p:sp>
        <p:nvSpPr>
          <p:cNvPr id="12" name="Text 10"/>
          <p:cNvSpPr/>
          <p:nvPr/>
        </p:nvSpPr>
        <p:spPr>
          <a:xfrm>
            <a:off x="8191500" y="2422203"/>
            <a:ext cx="304351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233D"/>
                </a:solidFill>
                <a:latin typeface="IBM Plex Sans KR" pitchFamily="34" charset="0"/>
                <a:ea typeface="IBM Plex Sans KR" pitchFamily="34" charset="-122"/>
                <a:cs typeface="IBM Plex Sans KR" pitchFamily="34" charset="-120"/>
              </a:rPr>
              <a:t>허용 변위를 만족하는 최소 두께, 변위가 가장 큰 보강 위치</a:t>
            </a:r>
            <a:endParaRPr lang="en-US" sz="1300" dirty="0"/>
          </a:p>
        </p:txBody>
      </p:sp>
      <p:sp>
        <p:nvSpPr>
          <p:cNvPr id="13" name="Shape 11"/>
          <p:cNvSpPr/>
          <p:nvPr/>
        </p:nvSpPr>
        <p:spPr>
          <a:xfrm>
            <a:off x="812800" y="3455132"/>
            <a:ext cx="3420533" cy="1061641"/>
          </a:xfrm>
          <a:prstGeom prst="roundRect">
            <a:avLst>
              <a:gd name="adj" fmla="val 9570"/>
            </a:avLst>
          </a:prstGeom>
          <a:solidFill>
            <a:srgbClr val="10233D"/>
          </a:solidFill>
          <a:ln/>
        </p:spPr>
      </p:sp>
      <p:sp>
        <p:nvSpPr>
          <p:cNvPr id="14" name="Text 12"/>
          <p:cNvSpPr/>
          <p:nvPr/>
        </p:nvSpPr>
        <p:spPr>
          <a:xfrm>
            <a:off x="1041400" y="3658332"/>
            <a:ext cx="3052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기준축 변위</a:t>
            </a:r>
            <a:endParaRPr lang="en-US" sz="1200" dirty="0"/>
          </a:p>
        </p:txBody>
      </p:sp>
      <p:sp>
        <p:nvSpPr>
          <p:cNvPr id="15" name="Text 13"/>
          <p:cNvSpPr/>
          <p:nvPr/>
        </p:nvSpPr>
        <p:spPr>
          <a:xfrm>
            <a:off x="1041400" y="3922452"/>
            <a:ext cx="3052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B"/>
                </a:solidFill>
                <a:latin typeface="IBM Plex Sans KR" pitchFamily="34" charset="0"/>
                <a:ea typeface="IBM Plex Sans KR" pitchFamily="34" charset="-122"/>
                <a:cs typeface="IBM Plex Sans KR" pitchFamily="34" charset="-120"/>
              </a:rPr>
              <a:t>≤ 20 μm</a:t>
            </a:r>
            <a:endParaRPr lang="en-US" sz="2200" dirty="0"/>
          </a:p>
        </p:txBody>
      </p:sp>
      <p:sp>
        <p:nvSpPr>
          <p:cNvPr id="16" name="Shape 14"/>
          <p:cNvSpPr/>
          <p:nvPr/>
        </p:nvSpPr>
        <p:spPr>
          <a:xfrm>
            <a:off x="4385733" y="3455132"/>
            <a:ext cx="3420533" cy="1061641"/>
          </a:xfrm>
          <a:prstGeom prst="roundRect">
            <a:avLst>
              <a:gd name="adj" fmla="val 9570"/>
            </a:avLst>
          </a:prstGeom>
          <a:solidFill>
            <a:srgbClr val="10233D"/>
          </a:solidFill>
          <a:ln/>
        </p:spPr>
      </p:sp>
      <p:sp>
        <p:nvSpPr>
          <p:cNvPr id="17" name="Text 15"/>
          <p:cNvSpPr/>
          <p:nvPr/>
        </p:nvSpPr>
        <p:spPr>
          <a:xfrm>
            <a:off x="4614333" y="3658332"/>
            <a:ext cx="3052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등가응력</a:t>
            </a:r>
            <a:endParaRPr lang="en-US" sz="1200" dirty="0"/>
          </a:p>
        </p:txBody>
      </p:sp>
      <p:sp>
        <p:nvSpPr>
          <p:cNvPr id="18" name="Text 16"/>
          <p:cNvSpPr/>
          <p:nvPr/>
        </p:nvSpPr>
        <p:spPr>
          <a:xfrm>
            <a:off x="4614333" y="3922452"/>
            <a:ext cx="3052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B"/>
                </a:solidFill>
                <a:latin typeface="IBM Plex Sans KR" pitchFamily="34" charset="0"/>
                <a:ea typeface="IBM Plex Sans KR" pitchFamily="34" charset="-122"/>
                <a:cs typeface="IBM Plex Sans KR" pitchFamily="34" charset="-120"/>
              </a:rPr>
              <a:t>≤ 항복강도 / 1.5</a:t>
            </a:r>
            <a:endParaRPr lang="en-US" sz="2200" dirty="0"/>
          </a:p>
        </p:txBody>
      </p:sp>
      <p:sp>
        <p:nvSpPr>
          <p:cNvPr id="19" name="Shape 17"/>
          <p:cNvSpPr/>
          <p:nvPr/>
        </p:nvSpPr>
        <p:spPr>
          <a:xfrm>
            <a:off x="7958667" y="3455132"/>
            <a:ext cx="3420533" cy="1061641"/>
          </a:xfrm>
          <a:prstGeom prst="roundRect">
            <a:avLst>
              <a:gd name="adj" fmla="val 9570"/>
            </a:avLst>
          </a:prstGeom>
          <a:solidFill>
            <a:srgbClr val="10233D"/>
          </a:solidFill>
          <a:ln/>
        </p:spPr>
      </p:sp>
      <p:sp>
        <p:nvSpPr>
          <p:cNvPr id="20" name="Text 18"/>
          <p:cNvSpPr/>
          <p:nvPr/>
        </p:nvSpPr>
        <p:spPr>
          <a:xfrm>
            <a:off x="8187267" y="3658332"/>
            <a:ext cx="3052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3"/>
                </a:solidFill>
                <a:latin typeface="IBM Plex Sans KR" pitchFamily="34" charset="0"/>
                <a:ea typeface="IBM Plex Sans KR" pitchFamily="34" charset="-122"/>
                <a:cs typeface="IBM Plex Sans KR" pitchFamily="34" charset="-120"/>
              </a:rPr>
              <a:t>메시 수렴</a:t>
            </a:r>
            <a:endParaRPr lang="en-US" sz="1200" dirty="0"/>
          </a:p>
        </p:txBody>
      </p:sp>
      <p:sp>
        <p:nvSpPr>
          <p:cNvPr id="21" name="Text 19"/>
          <p:cNvSpPr/>
          <p:nvPr/>
        </p:nvSpPr>
        <p:spPr>
          <a:xfrm>
            <a:off x="8187267" y="3922452"/>
            <a:ext cx="3052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B"/>
                </a:solidFill>
                <a:latin typeface="IBM Plex Sans KR" pitchFamily="34" charset="0"/>
                <a:ea typeface="IBM Plex Sans KR" pitchFamily="34" charset="-122"/>
                <a:cs typeface="IBM Plex Sans KR" pitchFamily="34" charset="-120"/>
              </a:rPr>
              <a:t>≤ 5%</a:t>
            </a:r>
            <a:endParaRPr lang="en-US" sz="2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허용기준은 팀 제안값 · 두께 3안은 가정값 · 계획 단계 · 필수 10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06 · 체결 조건 · 추가 검토</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볼트 체결 조건과 EOAT 파지 여유</a:t>
            </a:r>
            <a:endParaRPr lang="en-US" sz="3200" dirty="0"/>
          </a:p>
        </p:txBody>
      </p:sp>
      <p:sp>
        <p:nvSpPr>
          <p:cNvPr id="4" name="Shape 2"/>
          <p:cNvSpPr/>
          <p:nvPr/>
        </p:nvSpPr>
        <p:spPr>
          <a:xfrm>
            <a:off x="815975" y="1903016"/>
            <a:ext cx="5141383" cy="2257425"/>
          </a:xfrm>
          <a:prstGeom prst="roundRect">
            <a:avLst>
              <a:gd name="adj" fmla="val 4360"/>
            </a:avLst>
          </a:prstGeom>
          <a:solidFill>
            <a:srgbClr val="FCFDFE"/>
          </a:solidFill>
          <a:ln w="6350">
            <a:solidFill>
              <a:srgbClr val="D5DEE9"/>
            </a:solidFill>
            <a:prstDash val="solid"/>
          </a:ln>
        </p:spPr>
      </p:sp>
      <p:sp>
        <p:nvSpPr>
          <p:cNvPr id="5" name="Text 3"/>
          <p:cNvSpPr/>
          <p:nvPr/>
        </p:nvSpPr>
        <p:spPr>
          <a:xfrm>
            <a:off x="1071033" y="2158082"/>
            <a:ext cx="477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76D2"/>
                </a:solidFill>
                <a:latin typeface="IBM Plex Sans KR" pitchFamily="34" charset="0"/>
                <a:ea typeface="IBM Plex Sans KR" pitchFamily="34" charset="-122"/>
                <a:cs typeface="IBM Plex Sans KR" pitchFamily="34" charset="-120"/>
              </a:rPr>
              <a:t>체결 조건 근거 · 담당 위상경</a:t>
            </a:r>
            <a:endParaRPr lang="en-US" sz="1200" dirty="0"/>
          </a:p>
        </p:txBody>
      </p:sp>
      <p:sp>
        <p:nvSpPr>
          <p:cNvPr id="6" name="Text 4"/>
          <p:cNvSpPr/>
          <p:nvPr/>
        </p:nvSpPr>
        <p:spPr>
          <a:xfrm>
            <a:off x="1071033" y="2473003"/>
            <a:ext cx="4770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33D"/>
                </a:solidFill>
                <a:latin typeface="IBM Plex Sans KR" pitchFamily="34" charset="0"/>
                <a:ea typeface="IBM Plex Sans KR" pitchFamily="34" charset="-122"/>
                <a:cs typeface="IBM Plex Sans KR" pitchFamily="34" charset="-120"/>
              </a:rPr>
              <a:t>볼트 · 알루미늄 커버</a:t>
            </a:r>
            <a:endParaRPr lang="en-US" sz="1800" dirty="0"/>
          </a:p>
        </p:txBody>
      </p:sp>
      <p:sp>
        <p:nvSpPr>
          <p:cNvPr id="7" name="Text 5"/>
          <p:cNvSpPr/>
          <p:nvPr/>
        </p:nvSpPr>
        <p:spPr>
          <a:xfrm>
            <a:off x="1156377" y="2848905"/>
            <a:ext cx="4677241" cy="1081881"/>
          </a:xfrm>
          <a:prstGeom prst="rect">
            <a:avLst/>
          </a:prstGeom>
          <a:noFill/>
          <a:ln/>
        </p:spPr>
        <p:txBody>
          <a:bodyPr wrap="square" lIns="0" tIns="0" rIns="0" bIns="0" rtlCol="0" anchor="t">
            <a:normAutofit/>
          </a:bodyPr>
          <a:lstStyle/>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볼트 예압 ≤ 항복강도의 70%</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알루미늄 커버 소성변형 확인</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VDI 2230과 비교</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목표: 볼트·커버가 변형되지 않는 체결 토크</a:t>
            </a:r>
            <a:endParaRPr lang="en-US" sz="1300" dirty="0"/>
          </a:p>
        </p:txBody>
      </p:sp>
      <p:sp>
        <p:nvSpPr>
          <p:cNvPr id="8" name="Shape 6"/>
          <p:cNvSpPr/>
          <p:nvPr/>
        </p:nvSpPr>
        <p:spPr>
          <a:xfrm>
            <a:off x="6220883" y="1906191"/>
            <a:ext cx="5151967" cy="2251075"/>
          </a:xfrm>
          <a:prstGeom prst="roundRect">
            <a:avLst>
              <a:gd name="adj" fmla="val 4231"/>
            </a:avLst>
          </a:prstGeom>
          <a:solidFill>
            <a:srgbClr val="FFF4EA"/>
          </a:solidFill>
          <a:ln w="12700">
            <a:solidFill>
              <a:srgbClr val="E8833A"/>
            </a:solidFill>
            <a:prstDash val="solid"/>
          </a:ln>
        </p:spPr>
      </p:sp>
      <p:sp>
        <p:nvSpPr>
          <p:cNvPr id="9" name="Text 7"/>
          <p:cNvSpPr/>
          <p:nvPr/>
        </p:nvSpPr>
        <p:spPr>
          <a:xfrm>
            <a:off x="6481233" y="2166541"/>
            <a:ext cx="477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추가 검토 · 확인 필요</a:t>
            </a:r>
            <a:endParaRPr lang="en-US" sz="1200" dirty="0"/>
          </a:p>
        </p:txBody>
      </p:sp>
      <p:sp>
        <p:nvSpPr>
          <p:cNvPr id="10" name="Text 8"/>
          <p:cNvSpPr/>
          <p:nvPr/>
        </p:nvSpPr>
        <p:spPr>
          <a:xfrm>
            <a:off x="6481233" y="2481461"/>
            <a:ext cx="4770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33D"/>
                </a:solidFill>
                <a:latin typeface="IBM Plex Sans KR" pitchFamily="34" charset="0"/>
                <a:ea typeface="IBM Plex Sans KR" pitchFamily="34" charset="-122"/>
                <a:cs typeface="IBM Plex Sans KR" pitchFamily="34" charset="-120"/>
              </a:rPr>
              <a:t>EOAT 들어 올림</a:t>
            </a:r>
            <a:endParaRPr lang="en-US" sz="1800" dirty="0"/>
          </a:p>
        </p:txBody>
      </p:sp>
      <p:sp>
        <p:nvSpPr>
          <p:cNvPr id="11" name="Text 9"/>
          <p:cNvSpPr/>
          <p:nvPr/>
        </p:nvSpPr>
        <p:spPr>
          <a:xfrm>
            <a:off x="6566577" y="2857376"/>
            <a:ext cx="4677241" cy="817761"/>
          </a:xfrm>
          <a:prstGeom prst="rect">
            <a:avLst/>
          </a:prstGeom>
          <a:noFill/>
          <a:ln/>
        </p:spPr>
        <p:txBody>
          <a:bodyPr wrap="square" lIns="0" tIns="0" rIns="0" bIns="0" rtlCol="0" anchor="t">
            <a:normAutofit/>
          </a:bodyPr>
          <a:lstStyle/>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급정지할 때 부품을 놓치지 않는가</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예제 손계산: 파지 저항비 0.79 (기준 2.0 미달)</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 파지력 증가 또는 걸림 턱 추가를 해석으로 결정</a:t>
            </a:r>
            <a:endParaRPr lang="en-US" sz="1300" dirty="0"/>
          </a:p>
        </p:txBody>
      </p:sp>
      <p:sp>
        <p:nvSpPr>
          <p:cNvPr id="12" name="Text 10"/>
          <p:cNvSpPr/>
          <p:nvPr/>
        </p:nvSpPr>
        <p:spPr>
          <a:xfrm>
            <a:off x="812800" y="4468416"/>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해석 일정: 조건 정의 10월 말 → 결과 보고 2차 중간 발표(12/3)</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0.79는 예제값(가정) 손계산 · 해석 결과 아님 · 필수 10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07 · 설계 표현 범위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무엇을 어디까지 모델링하는가</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2315766"/>
        </p:xfrm>
        <a:graphic>
          <a:graphicData uri="http://schemas.openxmlformats.org/drawingml/2006/table">
            <a:tbl>
              <a:tblPr/>
              <a:tblGrid>
                <a:gridCol w="2743962"/>
                <a:gridCol w="4643628"/>
                <a:gridCol w="3166110"/>
              </a:tblGrid>
              <a:tr h="385961">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대상</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표현 수준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c>
                  <a:txBody>
                    <a:bodyPr/>
                    <a:lstStyle/>
                    <a:p>
                      <a:pPr indent="0" marL="0">
                        <a:lnSpc>
                          <a:spcPts val="1960"/>
                        </a:lnSpc>
                        <a:buNone/>
                      </a:pPr>
                      <a:r>
                        <a:rPr lang="en-US" sz="1400" b="1" dirty="0">
                          <a:solidFill>
                            <a:srgbClr val="10233D"/>
                          </a:solidFill>
                          <a:latin typeface="IBM Plex Sans KR" pitchFamily="34" charset="0"/>
                          <a:ea typeface="IBM Plex Sans KR" pitchFamily="34" charset="-122"/>
                          <a:cs typeface="IBM Plex Sans KR" pitchFamily="34" charset="-120"/>
                        </a:rPr>
                        <a:t>상태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6B8B9"/>
                      </a:solidFill>
                      <a:prstDash val="solid"/>
                      <a:round/>
                      <a:headEnd type="none" w="med" len="med"/>
                      <a:tailEnd type="none" w="med" len="med"/>
                    </a:lnL>
                    <a:lnR w="12700" cap="flat" cmpd="sng" algn="ctr">
                      <a:solidFill>
                        <a:srgbClr val="B6B8B9"/>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B6B8B9"/>
                      </a:solidFill>
                      <a:prstDash val="solid"/>
                      <a:round/>
                      <a:headEnd type="none" w="med" len="med"/>
                      <a:tailEnd type="none" w="med" len="med"/>
                    </a:lnB>
                    <a:solidFill>
                      <a:srgbClr val="E4E6E8"/>
                    </a:solidFill>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감속기 BSR080</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부품 50개, 조립 순서가 보이는 수준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R6 모델 있음</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B6B8B9"/>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서브조립 지그 · 반전 유닛</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위치결정 기준면이 보이는 수준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설계 예정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프레스 · 체결 스핀들</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외형·스트로크 수준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[모델 확보 방식 미정]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지그 · EOAT</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해석 대상 형상까지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설계 예정</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컨베이어 · 스테이션 설비 · AMR</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배치·동작이 보이는 수준</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c>
                  <a:txBody>
                    <a:bodyPr/>
                    <a:lstStyle/>
                    <a:p>
                      <a:pPr indent="0" marL="0">
                        <a:lnSpc>
                          <a:spcPts val="1960"/>
                        </a:lnSpc>
                        <a:buNone/>
                      </a:pPr>
                      <a:r>
                        <a:rPr lang="en-US" sz="1400" dirty="0">
                          <a:solidFill>
                            <a:srgbClr val="10233D"/>
                          </a:solidFill>
                          <a:latin typeface="IBM Plex Sans KR" pitchFamily="34" charset="0"/>
                          <a:ea typeface="IBM Plex Sans KR" pitchFamily="34" charset="-122"/>
                          <a:cs typeface="IBM Plex Sans KR" pitchFamily="34" charset="-120"/>
                        </a:rPr>
                        <a:t>레이아웃 진행</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4C6C8"/>
                      </a:solidFill>
                      <a:prstDash val="solid"/>
                      <a:round/>
                      <a:headEnd type="none" w="med" len="med"/>
                      <a:tailEnd type="none" w="med" len="med"/>
                    </a:lnL>
                    <a:lnR w="12700" cap="flat" cmpd="sng" algn="ctr">
                      <a:solidFill>
                        <a:srgbClr val="C4C6C8"/>
                      </a:solidFill>
                      <a:prstDash val="solid"/>
                      <a:round/>
                      <a:headEnd type="none" w="med" len="med"/>
                      <a:tailEnd type="none" w="med" len="med"/>
                    </a:lnR>
                    <a:lnT w="12700" cap="flat" cmpd="sng" algn="ctr">
                      <a:solidFill>
                        <a:srgbClr val="C4C6C8"/>
                      </a:solidFill>
                      <a:prstDash val="solid"/>
                      <a:round/>
                      <a:headEnd type="none" w="med" len="med"/>
                      <a:tailEnd type="none" w="med" len="med"/>
                    </a:lnT>
                    <a:lnB w="12700" cap="flat" cmpd="sng" algn="ctr">
                      <a:solidFill>
                        <a:srgbClr val="C4C6C8"/>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11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07 · 시뮬레이션 표현 범위</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네 단계 중 2단계까지 완료를 선언</a:t>
            </a:r>
            <a:endParaRPr lang="en-US" sz="3200" dirty="0"/>
          </a:p>
        </p:txBody>
      </p:sp>
      <p:sp>
        <p:nvSpPr>
          <p:cNvPr id="4" name="Shape 2"/>
          <p:cNvSpPr/>
          <p:nvPr/>
        </p:nvSpPr>
        <p:spPr>
          <a:xfrm>
            <a:off x="812800" y="3937000"/>
            <a:ext cx="2518833" cy="1905000"/>
          </a:xfrm>
          <a:prstGeom prst="roundRect">
            <a:avLst>
              <a:gd name="adj" fmla="val 5333"/>
            </a:avLst>
          </a:prstGeom>
          <a:solidFill>
            <a:srgbClr val="1565C0"/>
          </a:solidFill>
          <a:ln/>
        </p:spPr>
      </p:sp>
      <p:sp>
        <p:nvSpPr>
          <p:cNvPr id="5" name="Text 3"/>
          <p:cNvSpPr/>
          <p:nvPr/>
        </p:nvSpPr>
        <p:spPr>
          <a:xfrm>
            <a:off x="1016000" y="4597474"/>
            <a:ext cx="21758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7E9FB"/>
                </a:solidFill>
                <a:latin typeface="IBM Plex Sans KR" pitchFamily="34" charset="0"/>
                <a:ea typeface="IBM Plex Sans KR" pitchFamily="34" charset="-122"/>
                <a:cs typeface="IBM Plex Sans KR" pitchFamily="34" charset="-120"/>
              </a:rPr>
              <a:t>1단계 · 필수</a:t>
            </a:r>
            <a:endParaRPr lang="en-US" sz="1200" dirty="0"/>
          </a:p>
        </p:txBody>
      </p:sp>
      <p:sp>
        <p:nvSpPr>
          <p:cNvPr id="6" name="Text 4"/>
          <p:cNvSpPr/>
          <p:nvPr/>
        </p:nvSpPr>
        <p:spPr>
          <a:xfrm>
            <a:off x="1016000" y="4874295"/>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8FB"/>
                </a:solidFill>
                <a:latin typeface="IBM Plex Sans KR" pitchFamily="34" charset="0"/>
                <a:ea typeface="IBM Plex Sans KR" pitchFamily="34" charset="-122"/>
                <a:cs typeface="IBM Plex Sans KR" pitchFamily="34" charset="-120"/>
              </a:rPr>
              <a:t>동작 · 간섭</a:t>
            </a:r>
            <a:endParaRPr lang="en-US" sz="1600" dirty="0"/>
          </a:p>
        </p:txBody>
      </p:sp>
      <p:sp>
        <p:nvSpPr>
          <p:cNvPr id="7" name="Text 5"/>
          <p:cNvSpPr/>
          <p:nvPr/>
        </p:nvSpPr>
        <p:spPr>
          <a:xfrm>
            <a:off x="1016000" y="5181600"/>
            <a:ext cx="21758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3EEFA"/>
                </a:solidFill>
                <a:latin typeface="IBM Plex Sans KR" pitchFamily="34" charset="0"/>
                <a:ea typeface="IBM Plex Sans KR" pitchFamily="34" charset="-122"/>
                <a:cs typeface="IBM Plex Sans KR" pitchFamily="34" charset="-120"/>
              </a:rPr>
              <a:t>로봇·지그·컨베이어·AMR 동작, 도달 범위, 간섭 확인</a:t>
            </a:r>
            <a:endParaRPr lang="en-US" sz="1200" dirty="0"/>
          </a:p>
        </p:txBody>
      </p:sp>
      <p:sp>
        <p:nvSpPr>
          <p:cNvPr id="8" name="Shape 6"/>
          <p:cNvSpPr/>
          <p:nvPr/>
        </p:nvSpPr>
        <p:spPr>
          <a:xfrm>
            <a:off x="3484033" y="3429000"/>
            <a:ext cx="2518833" cy="2413000"/>
          </a:xfrm>
          <a:prstGeom prst="roundRect">
            <a:avLst>
              <a:gd name="adj" fmla="val 4211"/>
            </a:avLst>
          </a:prstGeom>
          <a:solidFill>
            <a:srgbClr val="1565C0"/>
          </a:solidFill>
          <a:ln/>
        </p:spPr>
      </p:sp>
      <p:sp>
        <p:nvSpPr>
          <p:cNvPr id="9" name="Text 7"/>
          <p:cNvSpPr/>
          <p:nvPr/>
        </p:nvSpPr>
        <p:spPr>
          <a:xfrm>
            <a:off x="3687233" y="4597474"/>
            <a:ext cx="21758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7E9FB"/>
                </a:solidFill>
                <a:latin typeface="IBM Plex Sans KR" pitchFamily="34" charset="0"/>
                <a:ea typeface="IBM Plex Sans KR" pitchFamily="34" charset="-122"/>
                <a:cs typeface="IBM Plex Sans KR" pitchFamily="34" charset="-120"/>
              </a:rPr>
              <a:t>2단계 · 필수</a:t>
            </a:r>
            <a:endParaRPr lang="en-US" sz="1200" dirty="0"/>
          </a:p>
        </p:txBody>
      </p:sp>
      <p:sp>
        <p:nvSpPr>
          <p:cNvPr id="10" name="Text 8"/>
          <p:cNvSpPr/>
          <p:nvPr/>
        </p:nvSpPr>
        <p:spPr>
          <a:xfrm>
            <a:off x="3687233" y="4874295"/>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8FB"/>
                </a:solidFill>
                <a:latin typeface="IBM Plex Sans KR" pitchFamily="34" charset="0"/>
                <a:ea typeface="IBM Plex Sans KR" pitchFamily="34" charset="-122"/>
                <a:cs typeface="IBM Plex Sans KR" pitchFamily="34" charset="-120"/>
              </a:rPr>
              <a:t>조건 분기</a:t>
            </a:r>
            <a:endParaRPr lang="en-US" sz="1600" dirty="0"/>
          </a:p>
        </p:txBody>
      </p:sp>
      <p:sp>
        <p:nvSpPr>
          <p:cNvPr id="11" name="Text 9"/>
          <p:cNvSpPr/>
          <p:nvPr/>
        </p:nvSpPr>
        <p:spPr>
          <a:xfrm>
            <a:off x="3687233" y="5181600"/>
            <a:ext cx="21758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3EEFA"/>
                </a:solidFill>
                <a:latin typeface="IBM Plex Sans KR" pitchFamily="34" charset="0"/>
                <a:ea typeface="IBM Plex Sans KR" pitchFamily="34" charset="-122"/>
                <a:cs typeface="IBM Plex Sans KR" pitchFamily="34" charset="-120"/>
              </a:rPr>
              <a:t>검사 OK / NG / 보류 분기, ID 불일치 시 시작 불가</a:t>
            </a:r>
            <a:endParaRPr lang="en-US" sz="1200" dirty="0"/>
          </a:p>
        </p:txBody>
      </p:sp>
      <p:sp>
        <p:nvSpPr>
          <p:cNvPr id="12" name="Shape 10"/>
          <p:cNvSpPr/>
          <p:nvPr/>
        </p:nvSpPr>
        <p:spPr>
          <a:xfrm>
            <a:off x="6164792" y="2930525"/>
            <a:ext cx="2533650" cy="2901950"/>
          </a:xfrm>
          <a:prstGeom prst="roundRect">
            <a:avLst>
              <a:gd name="adj" fmla="val 3634"/>
            </a:avLst>
          </a:prstGeom>
          <a:solidFill>
            <a:srgbClr val="FFF4EA"/>
          </a:solidFill>
          <a:ln w="19050">
            <a:solidFill>
              <a:srgbClr val="E8833A"/>
            </a:solidFill>
            <a:prstDash val="dash"/>
          </a:ln>
        </p:spPr>
      </p:sp>
      <p:sp>
        <p:nvSpPr>
          <p:cNvPr id="13" name="Text 11"/>
          <p:cNvSpPr/>
          <p:nvPr/>
        </p:nvSpPr>
        <p:spPr>
          <a:xfrm>
            <a:off x="6375400" y="4580533"/>
            <a:ext cx="21758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621A"/>
                </a:solidFill>
                <a:latin typeface="IBM Plex Sans KR" pitchFamily="34" charset="0"/>
                <a:ea typeface="IBM Plex Sans KR" pitchFamily="34" charset="-122"/>
                <a:cs typeface="IBM Plex Sans KR" pitchFamily="34" charset="-120"/>
              </a:rPr>
              <a:t>3단계 · 조건부</a:t>
            </a:r>
            <a:endParaRPr lang="en-US" sz="1200" dirty="0"/>
          </a:p>
        </p:txBody>
      </p:sp>
      <p:sp>
        <p:nvSpPr>
          <p:cNvPr id="14" name="Text 12"/>
          <p:cNvSpPr/>
          <p:nvPr/>
        </p:nvSpPr>
        <p:spPr>
          <a:xfrm>
            <a:off x="6375400" y="4857353"/>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생산 흐름</a:t>
            </a:r>
            <a:endParaRPr lang="en-US" sz="1600" dirty="0"/>
          </a:p>
        </p:txBody>
      </p:sp>
      <p:sp>
        <p:nvSpPr>
          <p:cNvPr id="15" name="Text 13"/>
          <p:cNvSpPr/>
          <p:nvPr/>
        </p:nvSpPr>
        <p:spPr>
          <a:xfrm>
            <a:off x="6375400" y="5164671"/>
            <a:ext cx="21758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공정 시간 근거가 확보되면 라인 택트·병목 확인</a:t>
            </a:r>
            <a:endParaRPr lang="en-US" sz="1200" dirty="0"/>
          </a:p>
        </p:txBody>
      </p:sp>
      <p:sp>
        <p:nvSpPr>
          <p:cNvPr id="16" name="Shape 14"/>
          <p:cNvSpPr/>
          <p:nvPr/>
        </p:nvSpPr>
        <p:spPr>
          <a:xfrm>
            <a:off x="8860367" y="2413000"/>
            <a:ext cx="2518833" cy="3429000"/>
          </a:xfrm>
          <a:prstGeom prst="roundRect">
            <a:avLst>
              <a:gd name="adj" fmla="val 4034"/>
            </a:avLst>
          </a:prstGeom>
          <a:solidFill>
            <a:srgbClr val="E6EAEF"/>
          </a:solidFill>
          <a:ln/>
        </p:spPr>
      </p:sp>
      <p:sp>
        <p:nvSpPr>
          <p:cNvPr id="17" name="Text 15"/>
          <p:cNvSpPr/>
          <p:nvPr/>
        </p:nvSpPr>
        <p:spPr>
          <a:xfrm>
            <a:off x="9063567" y="4826074"/>
            <a:ext cx="21758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B7A"/>
                </a:solidFill>
                <a:latin typeface="IBM Plex Sans KR" pitchFamily="34" charset="0"/>
                <a:ea typeface="IBM Plex Sans KR" pitchFamily="34" charset="-122"/>
                <a:cs typeface="IBM Plex Sans KR" pitchFamily="34" charset="-120"/>
              </a:rPr>
              <a:t>4단계 · 범위 밖</a:t>
            </a:r>
            <a:endParaRPr lang="en-US" sz="1200" dirty="0"/>
          </a:p>
        </p:txBody>
      </p:sp>
      <p:sp>
        <p:nvSpPr>
          <p:cNvPr id="18" name="Text 16"/>
          <p:cNvSpPr/>
          <p:nvPr/>
        </p:nvSpPr>
        <p:spPr>
          <a:xfrm>
            <a:off x="9063567" y="5102895"/>
            <a:ext cx="21758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A5568"/>
                </a:solidFill>
                <a:latin typeface="IBM Plex Sans KR" pitchFamily="34" charset="0"/>
                <a:ea typeface="IBM Plex Sans KR" pitchFamily="34" charset="-122"/>
                <a:cs typeface="IBM Plex Sans KR" pitchFamily="34" charset="-120"/>
              </a:rPr>
              <a:t>가상 시운전</a:t>
            </a:r>
            <a:endParaRPr lang="en-US" sz="1600" dirty="0"/>
          </a:p>
        </p:txBody>
      </p:sp>
      <p:sp>
        <p:nvSpPr>
          <p:cNvPr id="19" name="Text 17"/>
          <p:cNvSpPr/>
          <p:nvPr/>
        </p:nvSpPr>
        <p:spPr>
          <a:xfrm>
            <a:off x="9063567" y="5410200"/>
            <a:ext cx="217580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B7A"/>
                </a:solidFill>
                <a:latin typeface="IBM Plex Sans KR" pitchFamily="34" charset="0"/>
                <a:ea typeface="IBM Plex Sans KR" pitchFamily="34" charset="-122"/>
                <a:cs typeface="IBM Plex Sans KR" pitchFamily="34" charset="-120"/>
              </a:rPr>
              <a:t>실제 제어기(PLC) 연동 검증</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DELMIA 강의(10/6~8) 후 보완 · 구조해석은 시뮬레이션과 별도 모델(SIMULIA) · 필수 11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07 · Cloud DATA 관리</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3DEXPERIENCE에서 열고, git lfs에 보관</a:t>
            </a:r>
            <a:endParaRPr lang="en-US" sz="3200" dirty="0"/>
          </a:p>
        </p:txBody>
      </p:sp>
      <p:sp>
        <p:nvSpPr>
          <p:cNvPr id="4" name="Shape 2"/>
          <p:cNvSpPr/>
          <p:nvPr/>
        </p:nvSpPr>
        <p:spPr>
          <a:xfrm>
            <a:off x="815975" y="1903016"/>
            <a:ext cx="5200650" cy="944430"/>
          </a:xfrm>
          <a:prstGeom prst="roundRect">
            <a:avLst>
              <a:gd name="adj" fmla="val 10422"/>
            </a:avLst>
          </a:prstGeom>
          <a:solidFill>
            <a:srgbClr val="FCFDFE"/>
          </a:solidFill>
          <a:ln w="6350">
            <a:solidFill>
              <a:srgbClr val="D5DEE9"/>
            </a:solidFill>
            <a:prstDash val="solid"/>
          </a:ln>
        </p:spPr>
      </p:sp>
      <p:sp>
        <p:nvSpPr>
          <p:cNvPr id="5" name="Text 3"/>
          <p:cNvSpPr/>
          <p:nvPr/>
        </p:nvSpPr>
        <p:spPr>
          <a:xfrm>
            <a:off x="1020233" y="2107282"/>
            <a:ext cx="4935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76D2"/>
                </a:solidFill>
                <a:latin typeface="IBM Plex Sans KR" pitchFamily="34" charset="0"/>
                <a:ea typeface="IBM Plex Sans KR" pitchFamily="34" charset="-122"/>
                <a:cs typeface="IBM Plex Sans KR" pitchFamily="34" charset="-120"/>
              </a:rPr>
              <a:t>String</a:t>
            </a:r>
            <a:endParaRPr lang="en-US" sz="1600" dirty="0"/>
          </a:p>
        </p:txBody>
      </p:sp>
      <p:sp>
        <p:nvSpPr>
          <p:cNvPr id="6" name="Text 4"/>
          <p:cNvSpPr/>
          <p:nvPr/>
        </p:nvSpPr>
        <p:spPr>
          <a:xfrm>
            <a:off x="1020233" y="2414588"/>
            <a:ext cx="493589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파일명 규칙 KAFKA_[구분]_[부품명]_[rev] [규칙 확정 필요]</a:t>
            </a:r>
            <a:endParaRPr lang="en-US" sz="1200" dirty="0"/>
          </a:p>
        </p:txBody>
      </p:sp>
      <p:sp>
        <p:nvSpPr>
          <p:cNvPr id="7" name="Shape 5"/>
          <p:cNvSpPr/>
          <p:nvPr/>
        </p:nvSpPr>
        <p:spPr>
          <a:xfrm>
            <a:off x="6175375" y="1903016"/>
            <a:ext cx="5200650" cy="944430"/>
          </a:xfrm>
          <a:prstGeom prst="roundRect">
            <a:avLst>
              <a:gd name="adj" fmla="val 10422"/>
            </a:avLst>
          </a:prstGeom>
          <a:solidFill>
            <a:srgbClr val="FCFDFE"/>
          </a:solidFill>
          <a:ln w="6350">
            <a:solidFill>
              <a:srgbClr val="D5DEE9"/>
            </a:solidFill>
            <a:prstDash val="solid"/>
          </a:ln>
        </p:spPr>
      </p:sp>
      <p:sp>
        <p:nvSpPr>
          <p:cNvPr id="8" name="Text 6"/>
          <p:cNvSpPr/>
          <p:nvPr/>
        </p:nvSpPr>
        <p:spPr>
          <a:xfrm>
            <a:off x="6379633" y="2107282"/>
            <a:ext cx="4935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76D2"/>
                </a:solidFill>
                <a:latin typeface="IBM Plex Sans KR" pitchFamily="34" charset="0"/>
                <a:ea typeface="IBM Plex Sans KR" pitchFamily="34" charset="-122"/>
                <a:cs typeface="IBM Plex Sans KR" pitchFamily="34" charset="-120"/>
              </a:rPr>
              <a:t>Bookmark</a:t>
            </a:r>
            <a:endParaRPr lang="en-US" sz="1600" dirty="0"/>
          </a:p>
        </p:txBody>
      </p:sp>
      <p:sp>
        <p:nvSpPr>
          <p:cNvPr id="9" name="Text 7"/>
          <p:cNvSpPr/>
          <p:nvPr/>
        </p:nvSpPr>
        <p:spPr>
          <a:xfrm>
            <a:off x="6379633" y="2414588"/>
            <a:ext cx="493589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프로젝트 폴더 구조: 제품 / 설비 / 레이아웃 / 해석 / 시뮬레이션</a:t>
            </a:r>
            <a:endParaRPr lang="en-US" sz="1200" dirty="0"/>
          </a:p>
        </p:txBody>
      </p:sp>
      <p:sp>
        <p:nvSpPr>
          <p:cNvPr id="10" name="Shape 8"/>
          <p:cNvSpPr/>
          <p:nvPr/>
        </p:nvSpPr>
        <p:spPr>
          <a:xfrm>
            <a:off x="815975" y="3006204"/>
            <a:ext cx="5200650" cy="944430"/>
          </a:xfrm>
          <a:prstGeom prst="roundRect">
            <a:avLst>
              <a:gd name="adj" fmla="val 10422"/>
            </a:avLst>
          </a:prstGeom>
          <a:solidFill>
            <a:srgbClr val="FCFDFE"/>
          </a:solidFill>
          <a:ln w="6350">
            <a:solidFill>
              <a:srgbClr val="D5DEE9"/>
            </a:solidFill>
            <a:prstDash val="solid"/>
          </a:ln>
        </p:spPr>
      </p:sp>
      <p:sp>
        <p:nvSpPr>
          <p:cNvPr id="11" name="Text 9"/>
          <p:cNvSpPr/>
          <p:nvPr/>
        </p:nvSpPr>
        <p:spPr>
          <a:xfrm>
            <a:off x="1020233" y="3210458"/>
            <a:ext cx="4935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76D2"/>
                </a:solidFill>
                <a:latin typeface="IBM Plex Sans KR" pitchFamily="34" charset="0"/>
                <a:ea typeface="IBM Plex Sans KR" pitchFamily="34" charset="-122"/>
                <a:cs typeface="IBM Plex Sans KR" pitchFamily="34" charset="-120"/>
              </a:rPr>
              <a:t>Library</a:t>
            </a:r>
            <a:endParaRPr lang="en-US" sz="1600" dirty="0"/>
          </a:p>
        </p:txBody>
      </p:sp>
      <p:sp>
        <p:nvSpPr>
          <p:cNvPr id="12" name="Text 10"/>
          <p:cNvSpPr/>
          <p:nvPr/>
        </p:nvSpPr>
        <p:spPr>
          <a:xfrm>
            <a:off x="1020233" y="3517776"/>
            <a:ext cx="493589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규격 부품 모음: 베어링 · 볼트 · 오일 씰</a:t>
            </a:r>
            <a:endParaRPr lang="en-US" sz="1200" dirty="0"/>
          </a:p>
        </p:txBody>
      </p:sp>
      <p:sp>
        <p:nvSpPr>
          <p:cNvPr id="13" name="Shape 11"/>
          <p:cNvSpPr/>
          <p:nvPr/>
        </p:nvSpPr>
        <p:spPr>
          <a:xfrm>
            <a:off x="6175375" y="3006204"/>
            <a:ext cx="5200650" cy="944430"/>
          </a:xfrm>
          <a:prstGeom prst="roundRect">
            <a:avLst>
              <a:gd name="adj" fmla="val 10422"/>
            </a:avLst>
          </a:prstGeom>
          <a:solidFill>
            <a:srgbClr val="FCFDFE"/>
          </a:solidFill>
          <a:ln w="6350">
            <a:solidFill>
              <a:srgbClr val="D5DEE9"/>
            </a:solidFill>
            <a:prstDash val="solid"/>
          </a:ln>
        </p:spPr>
      </p:sp>
      <p:sp>
        <p:nvSpPr>
          <p:cNvPr id="14" name="Text 12"/>
          <p:cNvSpPr/>
          <p:nvPr/>
        </p:nvSpPr>
        <p:spPr>
          <a:xfrm>
            <a:off x="6379633" y="3210458"/>
            <a:ext cx="493589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76D2"/>
                </a:solidFill>
                <a:latin typeface="IBM Plex Sans KR" pitchFamily="34" charset="0"/>
                <a:ea typeface="IBM Plex Sans KR" pitchFamily="34" charset="-122"/>
                <a:cs typeface="IBM Plex Sans KR" pitchFamily="34" charset="-120"/>
              </a:rPr>
              <a:t>Favorite</a:t>
            </a:r>
            <a:endParaRPr lang="en-US" sz="1600" dirty="0"/>
          </a:p>
        </p:txBody>
      </p:sp>
      <p:sp>
        <p:nvSpPr>
          <p:cNvPr id="15" name="Text 13"/>
          <p:cNvSpPr/>
          <p:nvPr/>
        </p:nvSpPr>
        <p:spPr>
          <a:xfrm>
            <a:off x="6379633" y="3517776"/>
            <a:ext cx="493589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자주 쓰는 템플릿·재질·해석 설정</a:t>
            </a:r>
            <a:endParaRPr lang="en-US" sz="1200" dirty="0"/>
          </a:p>
        </p:txBody>
      </p:sp>
      <p:sp>
        <p:nvSpPr>
          <p:cNvPr id="16" name="Text 14"/>
          <p:cNvSpPr/>
          <p:nvPr/>
        </p:nvSpPr>
        <p:spPr>
          <a:xfrm>
            <a:off x="812800" y="4258605"/>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보관: team-KFKA/KAFKA-PROJECT (git lfs) · 회의록: 팀스트링_날짜_간략한 회의주제</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String·Bookmark·Library·Favorite 세부는 제안안 · 필수 12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07 · 일정</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발표 마일스톤 일곱 번</a:t>
            </a:r>
            <a:endParaRPr lang="en-US" sz="3200" dirty="0"/>
          </a:p>
        </p:txBody>
      </p:sp>
      <p:sp>
        <p:nvSpPr>
          <p:cNvPr id="4" name="Shape 2"/>
          <p:cNvSpPr/>
          <p:nvPr/>
        </p:nvSpPr>
        <p:spPr>
          <a:xfrm>
            <a:off x="812800" y="1912541"/>
            <a:ext cx="10566400" cy="0"/>
          </a:xfrm>
          <a:prstGeom prst="line">
            <a:avLst/>
          </a:prstGeom>
          <a:noFill/>
          <a:ln w="25400">
            <a:solidFill>
              <a:srgbClr val="9FB3C8"/>
            </a:solidFill>
            <a:prstDash val="solid"/>
          </a:ln>
        </p:spPr>
      </p:sp>
      <p:sp>
        <p:nvSpPr>
          <p:cNvPr id="5" name="Text 3"/>
          <p:cNvSpPr/>
          <p:nvPr/>
        </p:nvSpPr>
        <p:spPr>
          <a:xfrm>
            <a:off x="812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76D2"/>
                </a:solidFill>
                <a:latin typeface="IBM Plex Sans KR" pitchFamily="34" charset="0"/>
                <a:ea typeface="IBM Plex Sans KR" pitchFamily="34" charset="-122"/>
                <a:cs typeface="IBM Plex Sans KR" pitchFamily="34" charset="-120"/>
              </a:rPr>
              <a:t>10/16</a:t>
            </a:r>
            <a:endParaRPr lang="en-US" sz="2200" dirty="0"/>
          </a:p>
        </p:txBody>
      </p:sp>
      <p:sp>
        <p:nvSpPr>
          <p:cNvPr id="6" name="Text 4"/>
          <p:cNvSpPr/>
          <p:nvPr/>
        </p:nvSpPr>
        <p:spPr>
          <a:xfrm>
            <a:off x="812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65C0"/>
                </a:solidFill>
                <a:latin typeface="IBM Plex Sans KR" pitchFamily="34" charset="0"/>
                <a:ea typeface="IBM Plex Sans KR" pitchFamily="34" charset="-122"/>
                <a:cs typeface="IBM Plex Sans KR" pitchFamily="34" charset="-120"/>
              </a:rPr>
              <a:t>1차 기획</a:t>
            </a:r>
            <a:endParaRPr lang="en-US" sz="1200" dirty="0"/>
          </a:p>
        </p:txBody>
      </p:sp>
      <p:sp>
        <p:nvSpPr>
          <p:cNvPr id="7" name="Text 5"/>
          <p:cNvSpPr/>
          <p:nvPr/>
        </p:nvSpPr>
        <p:spPr>
          <a:xfrm>
            <a:off x="812800" y="283448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오늘 발표</a:t>
            </a:r>
            <a:endParaRPr lang="en-US" sz="1200" dirty="0"/>
          </a:p>
        </p:txBody>
      </p:sp>
      <p:sp>
        <p:nvSpPr>
          <p:cNvPr id="8" name="Text 6"/>
          <p:cNvSpPr/>
          <p:nvPr/>
        </p:nvSpPr>
        <p:spPr>
          <a:xfrm>
            <a:off x="2336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11/2</a:t>
            </a:r>
            <a:endParaRPr lang="en-US" sz="2200" dirty="0"/>
          </a:p>
        </p:txBody>
      </p:sp>
      <p:sp>
        <p:nvSpPr>
          <p:cNvPr id="9" name="Text 7"/>
          <p:cNvSpPr/>
          <p:nvPr/>
        </p:nvSpPr>
        <p:spPr>
          <a:xfrm>
            <a:off x="2336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1차 중간</a:t>
            </a:r>
            <a:endParaRPr lang="en-US" sz="1200" dirty="0"/>
          </a:p>
        </p:txBody>
      </p:sp>
      <p:sp>
        <p:nvSpPr>
          <p:cNvPr id="10" name="Text 8"/>
          <p:cNvSpPr/>
          <p:nvPr/>
        </p:nvSpPr>
        <p:spPr>
          <a:xfrm>
            <a:off x="3860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11/17</a:t>
            </a:r>
            <a:endParaRPr lang="en-US" sz="2200" dirty="0"/>
          </a:p>
        </p:txBody>
      </p:sp>
      <p:sp>
        <p:nvSpPr>
          <p:cNvPr id="11" name="Text 9"/>
          <p:cNvSpPr/>
          <p:nvPr/>
        </p:nvSpPr>
        <p:spPr>
          <a:xfrm>
            <a:off x="3860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1차 최종</a:t>
            </a:r>
            <a:endParaRPr lang="en-US" sz="1200" dirty="0"/>
          </a:p>
        </p:txBody>
      </p:sp>
      <p:sp>
        <p:nvSpPr>
          <p:cNvPr id="12" name="Text 10"/>
          <p:cNvSpPr/>
          <p:nvPr/>
        </p:nvSpPr>
        <p:spPr>
          <a:xfrm>
            <a:off x="5384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11/23</a:t>
            </a:r>
            <a:endParaRPr lang="en-US" sz="2200" dirty="0"/>
          </a:p>
        </p:txBody>
      </p:sp>
      <p:sp>
        <p:nvSpPr>
          <p:cNvPr id="13" name="Text 11"/>
          <p:cNvSpPr/>
          <p:nvPr/>
        </p:nvSpPr>
        <p:spPr>
          <a:xfrm>
            <a:off x="5384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2차 기획</a:t>
            </a:r>
            <a:endParaRPr lang="en-US" sz="1200" dirty="0"/>
          </a:p>
        </p:txBody>
      </p:sp>
      <p:sp>
        <p:nvSpPr>
          <p:cNvPr id="14" name="Text 12"/>
          <p:cNvSpPr/>
          <p:nvPr/>
        </p:nvSpPr>
        <p:spPr>
          <a:xfrm>
            <a:off x="6908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12/3</a:t>
            </a:r>
            <a:endParaRPr lang="en-US" sz="2200" dirty="0"/>
          </a:p>
        </p:txBody>
      </p:sp>
      <p:sp>
        <p:nvSpPr>
          <p:cNvPr id="15" name="Text 13"/>
          <p:cNvSpPr/>
          <p:nvPr/>
        </p:nvSpPr>
        <p:spPr>
          <a:xfrm>
            <a:off x="6908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2차 중간</a:t>
            </a:r>
            <a:endParaRPr lang="en-US" sz="1200" dirty="0"/>
          </a:p>
        </p:txBody>
      </p:sp>
      <p:sp>
        <p:nvSpPr>
          <p:cNvPr id="16" name="Text 14"/>
          <p:cNvSpPr/>
          <p:nvPr/>
        </p:nvSpPr>
        <p:spPr>
          <a:xfrm>
            <a:off x="8432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12/16</a:t>
            </a:r>
            <a:endParaRPr lang="en-US" sz="2200" dirty="0"/>
          </a:p>
        </p:txBody>
      </p:sp>
      <p:sp>
        <p:nvSpPr>
          <p:cNvPr id="17" name="Text 15"/>
          <p:cNvSpPr/>
          <p:nvPr/>
        </p:nvSpPr>
        <p:spPr>
          <a:xfrm>
            <a:off x="8432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최종 점검</a:t>
            </a:r>
            <a:endParaRPr lang="en-US" sz="1200" dirty="0"/>
          </a:p>
        </p:txBody>
      </p:sp>
      <p:sp>
        <p:nvSpPr>
          <p:cNvPr id="18" name="Text 16"/>
          <p:cNvSpPr/>
          <p:nvPr/>
        </p:nvSpPr>
        <p:spPr>
          <a:xfrm>
            <a:off x="9956800" y="2128441"/>
            <a:ext cx="1473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0233D"/>
                </a:solidFill>
                <a:latin typeface="IBM Plex Sans KR" pitchFamily="34" charset="0"/>
                <a:ea typeface="IBM Plex Sans KR" pitchFamily="34" charset="-122"/>
                <a:cs typeface="IBM Plex Sans KR" pitchFamily="34" charset="-120"/>
              </a:rPr>
              <a:t>12/18</a:t>
            </a:r>
            <a:endParaRPr lang="en-US" sz="2200" dirty="0"/>
          </a:p>
        </p:txBody>
      </p:sp>
      <p:sp>
        <p:nvSpPr>
          <p:cNvPr id="19" name="Text 17"/>
          <p:cNvSpPr/>
          <p:nvPr/>
        </p:nvSpPr>
        <p:spPr>
          <a:xfrm>
            <a:off x="9956800" y="257036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최종 발표</a:t>
            </a:r>
            <a:endParaRPr lang="en-US" sz="1200" dirty="0"/>
          </a:p>
        </p:txBody>
      </p:sp>
      <p:sp>
        <p:nvSpPr>
          <p:cNvPr id="20" name="Text 18"/>
          <p:cNvSpPr/>
          <p:nvPr/>
        </p:nvSpPr>
        <p:spPr>
          <a:xfrm>
            <a:off x="819150" y="3358952"/>
            <a:ext cx="10553700" cy="2476698"/>
          </a:xfrm>
          <a:prstGeom prst="roundRect">
            <a:avLst>
              <a:gd name="adj" fmla="val 3846"/>
            </a:avLst>
          </a:prstGeom>
          <a:solidFill>
            <a:srgbClr val="EAF0F7"/>
          </a:solidFill>
          <a:ln w="12700">
            <a:solidFill>
              <a:srgbClr val="9FB3C8"/>
            </a:solidFill>
            <a:prstDash val="dash"/>
          </a:ln>
        </p:spPr>
        <p:txBody>
          <a:bodyPr wrap="square" lIns="181652" tIns="181652" rIns="181652" bIns="181652" rtlCol="0" anchor="ctr">
            <a:normAutofit/>
          </a:bodyPr>
          <a:lstStyle/>
          <a:p>
            <a:pPr algn="ctr"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[노션 간트 차트 캡처 — 구간 10개로 접은 보기]</a:t>
            </a:r>
            <a:endParaRPr lang="en-US" sz="12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노션 태스크(간트) DB 기준 · 필수 13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07 · 일정 관리 계획</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매주 점검하고, 밀리면 범위를 조정한다</a:t>
            </a:r>
            <a:endParaRPr lang="en-US" sz="3200" dirty="0"/>
          </a:p>
        </p:txBody>
      </p:sp>
      <p:sp>
        <p:nvSpPr>
          <p:cNvPr id="4" name="Shape 2"/>
          <p:cNvSpPr/>
          <p:nvPr/>
        </p:nvSpPr>
        <p:spPr>
          <a:xfrm>
            <a:off x="815975" y="1953816"/>
            <a:ext cx="3380317" cy="1744530"/>
          </a:xfrm>
          <a:prstGeom prst="roundRect">
            <a:avLst>
              <a:gd name="adj" fmla="val 5642"/>
            </a:avLst>
          </a:prstGeom>
          <a:solidFill>
            <a:srgbClr val="FCFDFE"/>
          </a:solidFill>
          <a:ln w="6350">
            <a:solidFill>
              <a:srgbClr val="D5DEE9"/>
            </a:solidFill>
            <a:prstDash val="solid"/>
          </a:ln>
        </p:spPr>
      </p:sp>
      <p:pic>
        <p:nvPicPr>
          <p:cNvPr id="5" name="Image 0" descr="Clock">    </p:cNvPr>
          <p:cNvPicPr>
            <a:picLocks noChangeAspect="1"/>
          </p:cNvPicPr>
          <p:nvPr/>
        </p:nvPicPr>
        <p:blipFill>
          <a:blip r:embed="rId1"/>
          <a:srcRect l="0" r="0" t="0" b="0"/>
          <a:stretch/>
        </p:blipFill>
        <p:spPr>
          <a:xfrm>
            <a:off x="1071033" y="2208882"/>
            <a:ext cx="355600" cy="355600"/>
          </a:xfrm>
          <a:prstGeom prst="rect">
            <a:avLst/>
          </a:prstGeom>
        </p:spPr>
      </p:pic>
      <p:sp>
        <p:nvSpPr>
          <p:cNvPr id="6" name="Text 3"/>
          <p:cNvSpPr/>
          <p:nvPr/>
        </p:nvSpPr>
        <p:spPr>
          <a:xfrm>
            <a:off x="1071033" y="2653382"/>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주간 점검</a:t>
            </a:r>
            <a:endParaRPr lang="en-US" sz="1600" dirty="0"/>
          </a:p>
        </p:txBody>
      </p:sp>
      <p:sp>
        <p:nvSpPr>
          <p:cNvPr id="7" name="Text 4"/>
          <p:cNvSpPr/>
          <p:nvPr/>
        </p:nvSpPr>
        <p:spPr>
          <a:xfrm>
            <a:off x="1071033" y="2986088"/>
            <a:ext cx="29563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매주 간트 갱신, 담당자별 산출물과 진행 상태 확인</a:t>
            </a:r>
            <a:endParaRPr lang="en-US" sz="1200" dirty="0"/>
          </a:p>
        </p:txBody>
      </p:sp>
      <p:sp>
        <p:nvSpPr>
          <p:cNvPr id="8" name="Shape 5"/>
          <p:cNvSpPr/>
          <p:nvPr/>
        </p:nvSpPr>
        <p:spPr>
          <a:xfrm>
            <a:off x="4405842" y="1953816"/>
            <a:ext cx="3380317" cy="1744530"/>
          </a:xfrm>
          <a:prstGeom prst="roundRect">
            <a:avLst>
              <a:gd name="adj" fmla="val 5642"/>
            </a:avLst>
          </a:prstGeom>
          <a:solidFill>
            <a:srgbClr val="FCFDFE"/>
          </a:solidFill>
          <a:ln w="6350">
            <a:solidFill>
              <a:srgbClr val="D5DEE9"/>
            </a:solidFill>
            <a:prstDash val="solid"/>
          </a:ln>
        </p:spPr>
      </p:sp>
      <p:pic>
        <p:nvPicPr>
          <p:cNvPr id="9" name="Image 1" descr="Chat">    </p:cNvPr>
          <p:cNvPicPr>
            <a:picLocks noChangeAspect="1"/>
          </p:cNvPicPr>
          <p:nvPr/>
        </p:nvPicPr>
        <p:blipFill>
          <a:blip r:embed="rId2"/>
          <a:srcRect l="0" r="0" t="0" b="0"/>
          <a:stretch/>
        </p:blipFill>
        <p:spPr>
          <a:xfrm>
            <a:off x="4660900" y="2208882"/>
            <a:ext cx="355600" cy="355600"/>
          </a:xfrm>
          <a:prstGeom prst="rect">
            <a:avLst/>
          </a:prstGeom>
        </p:spPr>
      </p:pic>
      <p:sp>
        <p:nvSpPr>
          <p:cNvPr id="10" name="Text 6"/>
          <p:cNvSpPr/>
          <p:nvPr/>
        </p:nvSpPr>
        <p:spPr>
          <a:xfrm>
            <a:off x="4660900" y="2653382"/>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회의록 → 할 일</a:t>
            </a:r>
            <a:endParaRPr lang="en-US" sz="1600" dirty="0"/>
          </a:p>
        </p:txBody>
      </p:sp>
      <p:sp>
        <p:nvSpPr>
          <p:cNvPr id="11" name="Text 7"/>
          <p:cNvSpPr/>
          <p:nvPr/>
        </p:nvSpPr>
        <p:spPr>
          <a:xfrm>
            <a:off x="4660900" y="2986088"/>
            <a:ext cx="29563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회의를 음성 기록으로 남기고, 결정 사항을 바로 태스크에 반영</a:t>
            </a:r>
            <a:endParaRPr lang="en-US" sz="1200" dirty="0"/>
          </a:p>
        </p:txBody>
      </p:sp>
      <p:sp>
        <p:nvSpPr>
          <p:cNvPr id="12" name="Shape 8"/>
          <p:cNvSpPr/>
          <p:nvPr/>
        </p:nvSpPr>
        <p:spPr>
          <a:xfrm>
            <a:off x="7995709" y="1953816"/>
            <a:ext cx="3380317" cy="1744530"/>
          </a:xfrm>
          <a:prstGeom prst="roundRect">
            <a:avLst>
              <a:gd name="adj" fmla="val 5642"/>
            </a:avLst>
          </a:prstGeom>
          <a:solidFill>
            <a:srgbClr val="FCFDFE"/>
          </a:solidFill>
          <a:ln w="6350">
            <a:solidFill>
              <a:srgbClr val="D5DEE9"/>
            </a:solidFill>
            <a:prstDash val="solid"/>
          </a:ln>
        </p:spPr>
      </p:sp>
      <p:pic>
        <p:nvPicPr>
          <p:cNvPr id="13" name="Image 2" descr="Settings">    </p:cNvPr>
          <p:cNvPicPr>
            <a:picLocks noChangeAspect="1"/>
          </p:cNvPicPr>
          <p:nvPr/>
        </p:nvPicPr>
        <p:blipFill>
          <a:blip r:embed="rId3"/>
          <a:srcRect l="0" r="0" t="0" b="0"/>
          <a:stretch/>
        </p:blipFill>
        <p:spPr>
          <a:xfrm>
            <a:off x="8250767" y="2208882"/>
            <a:ext cx="355600" cy="355600"/>
          </a:xfrm>
          <a:prstGeom prst="rect">
            <a:avLst/>
          </a:prstGeom>
        </p:spPr>
      </p:pic>
      <p:sp>
        <p:nvSpPr>
          <p:cNvPr id="14" name="Text 9"/>
          <p:cNvSpPr/>
          <p:nvPr/>
        </p:nvSpPr>
        <p:spPr>
          <a:xfrm>
            <a:off x="8250767" y="2653382"/>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33D"/>
                </a:solidFill>
                <a:latin typeface="IBM Plex Sans KR" pitchFamily="34" charset="0"/>
                <a:ea typeface="IBM Plex Sans KR" pitchFamily="34" charset="-122"/>
                <a:cs typeface="IBM Plex Sans KR" pitchFamily="34" charset="-120"/>
              </a:rPr>
              <a:t>범위 조정 기준</a:t>
            </a:r>
            <a:endParaRPr lang="en-US" sz="1600" dirty="0"/>
          </a:p>
        </p:txBody>
      </p:sp>
      <p:sp>
        <p:nvSpPr>
          <p:cNvPr id="15" name="Text 10"/>
          <p:cNvSpPr/>
          <p:nvPr/>
        </p:nvSpPr>
        <p:spPr>
          <a:xfrm>
            <a:off x="8250767" y="2986088"/>
            <a:ext cx="295630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지연 시 '필수'는 지키고 '조건부'부터 미룸 (예: 시뮬레이션 3단계)</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14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08 · 출처 ①</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정책 · 기사 · 업계 사례</a:t>
            </a:r>
            <a:endParaRPr lang="en-US" sz="3200" dirty="0"/>
          </a:p>
        </p:txBody>
      </p:sp>
      <p:sp>
        <p:nvSpPr>
          <p:cNvPr id="4" name="Text 2"/>
          <p:cNvSpPr/>
          <p:nvPr/>
        </p:nvSpPr>
        <p:spPr>
          <a:xfrm>
            <a:off x="898144" y="1899841"/>
            <a:ext cx="10790428" cy="2270654"/>
          </a:xfrm>
          <a:prstGeom prst="rect">
            <a:avLst/>
          </a:prstGeom>
          <a:noFill/>
          <a:ln/>
        </p:spPr>
        <p:txBody>
          <a:bodyPr wrap="square" lIns="0" tIns="0" rIns="0" bIns="0" rtlCol="0" anchor="t">
            <a:normAutofit/>
          </a:bodyPr>
          <a:lstStyle/>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뉴스핌 — 제조AI 2030 전략 (2026.6.29)</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로봇신문 — 2026 첨단제조로봇 실증사업</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Korea JoongAng Daily — 액추에이터, 휴머노이드 경쟁의 새 전장</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뉴시스(파이낸셜뉴스) — 현대차그룹 2028 휴머노이드·액추에이터 양산</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디지털데일리 — 삼현, 휴머노이드 액추에이터 양산 (2026.7.8)</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푸둥신구 — Eyou 관절 모듈 자동 라인 (2026.1.29)</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7" invalidUrl="" action="" tgtFrame="" tooltip="" history="1" highlightClick="0" endSnd="0">
                  <a:extLst>
                    <a:ext uri="{A12FA001-AC4F-418D-AE19-62706E023703}">
                      <ahyp:hlinkClr xmlns:ahyp="http://schemas.microsoft.com/office/drawing/2018/hyperlinkcolor" val="tx"/>
                    </a:ext>
                  </a:extLst>
                </a:hlinkClick>
              </a:rPr>
              <a:t>China Daily — 포산 휴머노이드 자동 라인 (2026.4.7)</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8" invalidUrl="" action="" tgtFrame="" tooltip="" history="1" highlightClick="0" endSnd="0">
                  <a:extLst>
                    <a:ext uri="{A12FA001-AC4F-418D-AE19-62706E023703}">
                      <ahyp:hlinkClr xmlns:ahyp="http://schemas.microsoft.com/office/drawing/2018/hyperlinkcolor" val="tx"/>
                    </a:ext>
                  </a:extLst>
                </a:hlinkClick>
              </a:rPr>
              <a:t>현대자동차그룹 — HMGICS 셀 생산 (비교 검토)</a:t>
            </a:r>
            <a:endParaRPr lang="en-US" sz="13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KAFKA · 1차 기획 발표 · 필수 15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976D2"/>
                </a:solidFill>
                <a:latin typeface="IBM Plex Sans KR" pitchFamily="34" charset="0"/>
                <a:ea typeface="IBM Plex Sans KR" pitchFamily="34" charset="-122"/>
                <a:cs typeface="IBM Plex Sans KR" pitchFamily="34" charset="-120"/>
              </a:rPr>
              <a:t>08 · 출처 ②</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233D"/>
                </a:solidFill>
                <a:latin typeface="IBM Plex Sans KR" pitchFamily="34" charset="0"/>
                <a:ea typeface="IBM Plex Sans KR" pitchFamily="34" charset="-122"/>
                <a:cs typeface="IBM Plex Sans KR" pitchFamily="34" charset="-120"/>
              </a:rPr>
              <a:t>기술자료 · 영상</a:t>
            </a:r>
            <a:endParaRPr lang="en-US" sz="3200" dirty="0"/>
          </a:p>
        </p:txBody>
      </p:sp>
      <p:sp>
        <p:nvSpPr>
          <p:cNvPr id="4" name="Text 2"/>
          <p:cNvSpPr/>
          <p:nvPr/>
        </p:nvSpPr>
        <p:spPr>
          <a:xfrm>
            <a:off x="898144" y="1899841"/>
            <a:ext cx="10790428" cy="2551311"/>
          </a:xfrm>
          <a:prstGeom prst="rect">
            <a:avLst/>
          </a:prstGeom>
          <a:noFill/>
          <a:ln/>
        </p:spPr>
        <p:txBody>
          <a:bodyPr wrap="square" lIns="0" tIns="0" rIns="0" bIns="0" rtlCol="0" anchor="t">
            <a:normAutofit/>
          </a:bodyPr>
          <a:lstStyle/>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미스미 — 볼 베어링 조립</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미스미 — 볼트 체결토크·초기 체결력</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Control Engineering — 베어링 압입의 힘–변위 감시</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Nabtesco — RV 감속기 운영 매뉴얼</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Global O-Ring — 오일 씰 설치 가이드</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본시스템즈 — 로봇 감속기 조립 영상</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7" invalidUrl="" action="" tgtFrame="" tooltip="" history="1" highlightClick="0" endSnd="0">
                  <a:extLst>
                    <a:ext uri="{A12FA001-AC4F-418D-AE19-62706E023703}">
                      <ahyp:hlinkClr xmlns:ahyp="http://schemas.microsoft.com/office/drawing/2018/hyperlinkcolor" val="tx"/>
                    </a:ext>
                  </a:extLst>
                </a:hlinkClick>
              </a:rPr>
              <a:t>Bonsystems Global — BSR 080 감속기 조립 과정 (R6 순서 기준)</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8" invalidUrl="" action="" tgtFrame="" tooltip="" history="1" highlightClick="0" endSnd="0">
                  <a:extLst>
                    <a:ext uri="{A12FA001-AC4F-418D-AE19-62706E023703}">
                      <ahyp:hlinkClr xmlns:ahyp="http://schemas.microsoft.com/office/drawing/2018/hyperlinkcolor" val="tx"/>
                    </a:ext>
                  </a:extLst>
                </a:hlinkClick>
              </a:rPr>
              <a:t>본시스템즈 — BSR 시리즈 사양 · 공개 CAD (R6 외형)</a:t>
            </a:r>
            <a:endParaRPr lang="en-US" sz="1300" dirty="0"/>
          </a:p>
          <a:p>
            <a:pPr algn="l" marL="168656" indent="-168656">
              <a:lnSpc>
                <a:spcPts val="2210"/>
              </a:lnSpc>
              <a:buSzPct val="100000"/>
              <a:buChar char="•"/>
            </a:pPr>
            <a:r>
              <a:rPr lang="en-US" sz="1300" u="sng" dirty="0">
                <a:solidFill>
                  <a:srgbClr val="4A5568"/>
                </a:solidFill>
                <a:latin typeface="IBM Plex Sans KR" pitchFamily="34" charset="0"/>
                <a:ea typeface="IBM Plex Sans KR" pitchFamily="34" charset="-122"/>
                <a:cs typeface="IBM Plex Sans KR" pitchFamily="34" charset="-120"/>
                <a:hlinkClick r:id="rId9" invalidUrl="" action="" tgtFrame="" tooltip="" history="1" highlightClick="0" endSnd="0">
                  <a:extLst>
                    <a:ext uri="{A12FA001-AC4F-418D-AE19-62706E023703}">
                      <ahyp:hlinkClr xmlns:ahyp="http://schemas.microsoft.com/office/drawing/2018/hyperlinkcolor" val="tx"/>
                    </a:ext>
                  </a:extLst>
                </a:hlinkClick>
              </a:rPr>
              <a:t>GB/T 43200-2023 — 로봇 관절 시험 방법 (미리보기)</a:t>
            </a:r>
            <a:endParaRPr lang="en-US" sz="13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8E"/>
                </a:solidFill>
                <a:latin typeface="IBM Plex Sans KR" pitchFamily="34" charset="0"/>
                <a:ea typeface="IBM Plex Sans KR" pitchFamily="34" charset="-122"/>
                <a:cs typeface="IBM Plex Sans KR" pitchFamily="34" charset="-120"/>
              </a:rPr>
              <a:t>물성치 출처는 규격·논문으로 보강 예정 · 필수 15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233D"/>
        </a:solidFill>
      </p:bgPr>
    </p:bg>
    <p:spTree>
      <p:nvGrpSpPr>
        <p:cNvPr id="1" name=""/>
        <p:cNvGrpSpPr/>
        <p:nvPr/>
      </p:nvGrpSpPr>
      <p:grpSpPr>
        <a:xfrm>
          <a:off x="0" y="0"/>
          <a:ext cx="0" cy="0"/>
          <a:chOff x="0" y="0"/>
          <a:chExt cx="0" cy="0"/>
        </a:xfrm>
      </p:grpSpPr>
      <p:sp>
        <p:nvSpPr>
          <p:cNvPr id="2" name="Text 0"/>
          <p:cNvSpPr/>
          <p:nvPr>
            <p:ph type="title"/>
          </p:nvPr>
        </p:nvSpPr>
        <p:spPr>
          <a:xfrm>
            <a:off x="812800" y="241811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8FB"/>
                </a:solidFill>
                <a:latin typeface="IBM Plex Sans KR" pitchFamily="34" charset="0"/>
                <a:ea typeface="IBM Plex Sans KR" pitchFamily="34" charset="-122"/>
                <a:cs typeface="IBM Plex Sans KR" pitchFamily="34" charset="-120"/>
              </a:rPr>
              <a:t>Q&amp;A</a:t>
            </a:r>
            <a:endParaRPr lang="en-US" sz="6000" dirty="0"/>
          </a:p>
        </p:txBody>
      </p:sp>
      <p:sp>
        <p:nvSpPr>
          <p:cNvPr id="3" name="Text 1"/>
          <p:cNvSpPr/>
          <p:nvPr/>
        </p:nvSpPr>
        <p:spPr>
          <a:xfrm>
            <a:off x="812800" y="351031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FD0E3"/>
                </a:solidFill>
                <a:latin typeface="IBM Plex Sans KR" pitchFamily="34" charset="0"/>
                <a:ea typeface="IBM Plex Sans KR" pitchFamily="34" charset="-122"/>
                <a:cs typeface="IBM Plex Sans KR" pitchFamily="34" charset="-120"/>
              </a:rPr>
              <a:t>변동을 가상공장에서 먼저 잡는다</a:t>
            </a:r>
            <a:endParaRPr lang="en-US" sz="2200" dirty="0"/>
          </a:p>
        </p:txBody>
      </p:sp>
      <p:sp>
        <p:nvSpPr>
          <p:cNvPr id="4" name="Text 2"/>
          <p:cNvSpPr/>
          <p:nvPr/>
        </p:nvSpPr>
        <p:spPr>
          <a:xfrm>
            <a:off x="812800" y="415543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B5EE"/>
                </a:solidFill>
                <a:latin typeface="IBM Plex Sans KR" pitchFamily="34" charset="0"/>
                <a:ea typeface="IBM Plex Sans KR" pitchFamily="34" charset="-122"/>
                <a:cs typeface="IBM Plex Sans KR" pitchFamily="34" charset="-120"/>
              </a:rPr>
              <a:t>Team KAFKA</a:t>
            </a:r>
            <a:endParaRPr lang="en-US" sz="1600" dirty="0"/>
          </a:p>
        </p:txBody>
      </p:sp>
      <p:sp>
        <p:nvSpPr>
          <p:cNvPr id="5" name="Text 3"/>
          <p:cNvSpPr/>
          <p:nvPr/>
        </p:nvSpPr>
        <p:spPr>
          <a:xfrm>
            <a:off x="7716520" y="4673600"/>
            <a:ext cx="3662680" cy="1447800"/>
          </a:xfrm>
          <a:prstGeom prst="rect">
            <a:avLst/>
          </a:prstGeom>
          <a:noFill/>
          <a:ln/>
        </p:spPr>
        <p:txBody>
          <a:bodyPr wrap="square" lIns="0" tIns="0" rIns="0" bIns="0" rtlCol="0" anchor="t">
            <a:normAutofit/>
          </a:bodyPr>
          <a:lstStyle/>
          <a:p>
            <a:pPr algn="r" indent="0" marL="0">
              <a:lnSpc>
                <a:spcPts val="11200"/>
              </a:lnSpc>
              <a:buNone/>
            </a:pPr>
            <a:r>
              <a:rPr lang="en-US" sz="8000" b="1" i="1" dirty="0">
                <a:solidFill>
                  <a:srgbClr val="24456E"/>
                </a:solidFill>
                <a:latin typeface="IBM Plex Sans KR" pitchFamily="34" charset="0"/>
                <a:ea typeface="IBM Plex Sans KR" pitchFamily="34" charset="-122"/>
                <a:cs typeface="IBM Plex Sans KR" pitchFamily="34" charset="-120"/>
              </a:rPr>
              <a:t>KFKA</a:t>
            </a:r>
            <a:endParaRPr lang="en-US" sz="8000" dirty="0"/>
          </a:p>
        </p:txBody>
      </p:sp>
    </p:spTree>
  </p:cSld>
  <p:clrMapOvr>
    <a:masterClrMapping/>
  </p:clrMapOvr>
</p:sld>
</file>

<file path=ppt/theme/theme1.xml><?xml version="1.0" encoding="utf-8"?>
<a:theme xmlns:a="http://schemas.openxmlformats.org/drawingml/2006/main" name="KAFKA 1차 기획 발표">
  <a:themeElements>
    <a:clrScheme name="KAFKA 1차 기획 발표">
      <a:dk1>
        <a:srgbClr val="10233D"/>
      </a:dk1>
      <a:lt1>
        <a:srgbClr val="F6F8FB"/>
      </a:lt1>
      <a:dk2>
        <a:srgbClr val="4A586D"/>
      </a:dk2>
      <a:lt2>
        <a:srgbClr val="DFE3E8"/>
      </a:lt2>
      <a:accent1>
        <a:srgbClr val="1976D2"/>
      </a:accent1>
      <a:accent2>
        <a:srgbClr val="1565C0"/>
      </a:accent2>
      <a:accent3>
        <a:srgbClr val="C4621A"/>
      </a:accent3>
      <a:accent4>
        <a:srgbClr val="7FB5EE"/>
      </a:accent4>
      <a:accent5>
        <a:srgbClr val="9FB3C8"/>
      </a:accent5>
      <a:accent6>
        <a:srgbClr val="24456E"/>
      </a:accent6>
      <a:hlink>
        <a:srgbClr val="0563C1"/>
      </a:hlink>
      <a:folHlink>
        <a:srgbClr val="954F72"/>
      </a:folHlink>
    </a:clrScheme>
    <a:fontScheme name="KAFKA 1차 기획 발표">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 1차 기획 발표</dc:title>
  <dc:subject/>
  <dc:creator/>
  <cp:lastModifiedBy/>
  <cp:revision>1</cp:revision>
  <dcterms:created xsi:type="dcterms:W3CDTF">2026-10-08T08:33:00Z</dcterms:created>
  <dcterms:modified xsi:type="dcterms:W3CDTF">2026-10-08T08:33:00Z</dcterms:modified>
</cp:coreProperties>
</file>